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8"/>
  </p:notesMasterIdLst>
  <p:handoutMasterIdLst>
    <p:handoutMasterId r:id="rId39"/>
  </p:handoutMasterIdLst>
  <p:sldIdLst>
    <p:sldId id="256" r:id="rId2"/>
    <p:sldId id="257" r:id="rId3"/>
    <p:sldId id="258" r:id="rId4"/>
    <p:sldId id="304" r:id="rId5"/>
    <p:sldId id="303" r:id="rId6"/>
    <p:sldId id="305" r:id="rId7"/>
    <p:sldId id="306" r:id="rId8"/>
    <p:sldId id="307" r:id="rId9"/>
    <p:sldId id="308" r:id="rId10"/>
    <p:sldId id="344" r:id="rId11"/>
    <p:sldId id="309" r:id="rId12"/>
    <p:sldId id="311" r:id="rId13"/>
    <p:sldId id="310" r:id="rId14"/>
    <p:sldId id="312" r:id="rId15"/>
    <p:sldId id="313" r:id="rId16"/>
    <p:sldId id="314" r:id="rId17"/>
    <p:sldId id="335" r:id="rId18"/>
    <p:sldId id="336" r:id="rId19"/>
    <p:sldId id="337" r:id="rId20"/>
    <p:sldId id="286" r:id="rId21"/>
    <p:sldId id="287" r:id="rId22"/>
    <p:sldId id="288" r:id="rId23"/>
    <p:sldId id="339" r:id="rId24"/>
    <p:sldId id="289" r:id="rId25"/>
    <p:sldId id="345" r:id="rId26"/>
    <p:sldId id="290" r:id="rId27"/>
    <p:sldId id="291" r:id="rId28"/>
    <p:sldId id="292" r:id="rId29"/>
    <p:sldId id="293" r:id="rId30"/>
    <p:sldId id="294" r:id="rId31"/>
    <p:sldId id="295" r:id="rId32"/>
    <p:sldId id="296" r:id="rId33"/>
    <p:sldId id="297" r:id="rId34"/>
    <p:sldId id="343" r:id="rId35"/>
    <p:sldId id="334" r:id="rId36"/>
    <p:sldId id="338" r:id="rId37"/>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4" autoAdjust="0"/>
    <p:restoredTop sz="94660"/>
  </p:normalViewPr>
  <p:slideViewPr>
    <p:cSldViewPr snapToGrid="0">
      <p:cViewPr varScale="1">
        <p:scale>
          <a:sx n="83" d="100"/>
          <a:sy n="83" d="100"/>
        </p:scale>
        <p:origin x="547" y="77"/>
      </p:cViewPr>
      <p:guideLst>
        <p:guide orient="horz" pos="2160"/>
        <p:guide pos="3840"/>
      </p:guideLst>
    </p:cSldViewPr>
  </p:slideViewPr>
  <p:notesTextViewPr>
    <p:cViewPr>
      <p:scale>
        <a:sx n="1" d="1"/>
        <a:sy n="1" d="1"/>
      </p:scale>
      <p:origin x="0" y="0"/>
    </p:cViewPr>
  </p:notesTextViewPr>
  <p:notesViewPr>
    <p:cSldViewPr snapToGrid="0">
      <p:cViewPr varScale="1">
        <p:scale>
          <a:sx n="72" d="100"/>
          <a:sy n="72" d="100"/>
        </p:scale>
        <p:origin x="414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C55261-D00D-4531-85F2-7815D4272C20}" type="datetime1">
              <a:rPr lang="ro-RO" smtClean="0"/>
              <a:t>27.10.2025</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02BA2C8-71FC-43D0-BD87-0547616971FA}" type="slidenum">
              <a:rPr lang="ro-RO" smtClean="0"/>
              <a:t>‹#›</a:t>
            </a:fld>
            <a:endParaRPr lang="ro-RO" dirty="0"/>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297A191-F9ED-44AA-AEE4-9E7ED26D0F78}" type="datetime1">
              <a:rPr lang="ro-RO" noProof="0" smtClean="0"/>
              <a:t>27.10.2025</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539446-6953-447E-A4E3-E7CFBF870046}" type="slidenum">
              <a:rPr lang="ro-RO" noProof="0" smtClean="0"/>
              <a:t>‹#›</a:t>
            </a:fld>
            <a:endParaRPr lang="ro-RO" noProof="0" dirty="0"/>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1</a:t>
            </a:fld>
            <a:endParaRPr lang="ro-RO" dirty="0"/>
          </a:p>
        </p:txBody>
      </p:sp>
    </p:spTree>
    <p:extLst>
      <p:ext uri="{BB962C8B-B14F-4D97-AF65-F5344CB8AC3E}">
        <p14:creationId xmlns:p14="http://schemas.microsoft.com/office/powerpoint/2010/main" val="1775014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4" name="apă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5" name="cer"/>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6" name="apă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apă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Dreptunghi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p:cNvSpPr>
            <a:spLocks noGrp="1"/>
          </p:cNvSpPr>
          <p:nvPr>
            <p:ph type="ctrTitle"/>
          </p:nvPr>
        </p:nvSpPr>
        <p:spPr>
          <a:xfrm>
            <a:off x="1305872" y="1309047"/>
            <a:ext cx="9602789" cy="2667000"/>
          </a:xfrm>
        </p:spPr>
        <p:txBody>
          <a:bodyPr rtlCol="0" anchor="b">
            <a:noAutofit/>
          </a:bodyPr>
          <a:lstStyle>
            <a:lvl1pPr algn="ctr">
              <a:defRPr sz="600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1305872" y="4038600"/>
            <a:ext cx="9601200" cy="990600"/>
          </a:xfrm>
        </p:spPr>
        <p:txBody>
          <a:bodyPr rtlCol="0">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ro-RO" noProof="0" dirty="0"/>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lvl5pP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83DB0413-3825-4517-84C4-BC4D0AB13719}" type="datetime1">
              <a:rPr lang="ro-RO" noProof="0" smtClean="0"/>
              <a:t>27.10.2025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2" name="Titlu 1"/>
          <p:cNvSpPr>
            <a:spLocks noGrp="1"/>
          </p:cNvSpPr>
          <p:nvPr>
            <p:ph type="title"/>
          </p:nvPr>
        </p:nvSpPr>
        <p:spPr>
          <a:xfrm>
            <a:off x="1293813" y="1309047"/>
            <a:ext cx="9601252" cy="2667000"/>
          </a:xfrm>
        </p:spPr>
        <p:txBody>
          <a:bodyPr rtlCol="0" anchor="b">
            <a:normAutofit/>
          </a:bodyPr>
          <a:lstStyle>
            <a:lvl1pPr algn="ctr">
              <a:defRPr sz="6000" b="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1293813" y="4038600"/>
            <a:ext cx="9601200" cy="1143000"/>
          </a:xfrm>
        </p:spPr>
        <p:txBody>
          <a:bodyPr rtlCol="0"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74057804-296C-404E-AB5A-AECE13AB895F}" type="datetime1">
              <a:rPr lang="ro-RO" noProof="0" smtClean="0"/>
              <a:t>27.10.2025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4" name="Substituent conținut 3"/>
          <p:cNvSpPr>
            <a:spLocks noGrp="1"/>
          </p:cNvSpPr>
          <p:nvPr>
            <p:ph sz="half" idx="2"/>
          </p:nvPr>
        </p:nvSpPr>
        <p:spPr>
          <a:xfrm>
            <a:off x="627888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3" name="Substituent conținut 2"/>
          <p:cNvSpPr>
            <a:spLocks noGrp="1"/>
          </p:cNvSpPr>
          <p:nvPr>
            <p:ph sz="half" idx="1"/>
          </p:nvPr>
        </p:nvSpPr>
        <p:spPr>
          <a:xfrm>
            <a:off x="134112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F42983A4-6813-4B72-A61A-A17CFCC7D384}" type="datetime1">
              <a:rPr lang="ro-RO" noProof="0" smtClean="0"/>
              <a:t>27.10.2025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34112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34112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627888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Substituent conținut 5"/>
          <p:cNvSpPr>
            <a:spLocks noGrp="1"/>
          </p:cNvSpPr>
          <p:nvPr>
            <p:ph sz="quarter" idx="4"/>
          </p:nvPr>
        </p:nvSpPr>
        <p:spPr>
          <a:xfrm>
            <a:off x="627888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8" name="Substituent subsol 7"/>
          <p:cNvSpPr>
            <a:spLocks noGrp="1"/>
          </p:cNvSpPr>
          <p:nvPr>
            <p:ph type="ftr" sz="quarter" idx="11"/>
          </p:nvPr>
        </p:nvSpPr>
        <p:spPr/>
        <p:txBody>
          <a:bodyPr rtlCol="0"/>
          <a:lstStyle/>
          <a:p>
            <a:pPr rtl="0"/>
            <a:r>
              <a:rPr lang="ro-RO" noProof="0" dirty="0"/>
              <a:t>Adăugați un subsol</a:t>
            </a:r>
          </a:p>
        </p:txBody>
      </p:sp>
      <p:sp>
        <p:nvSpPr>
          <p:cNvPr id="7" name="Substituent dată 6"/>
          <p:cNvSpPr>
            <a:spLocks noGrp="1"/>
          </p:cNvSpPr>
          <p:nvPr>
            <p:ph type="dt" sz="half" idx="10"/>
          </p:nvPr>
        </p:nvSpPr>
        <p:spPr/>
        <p:txBody>
          <a:bodyPr rtlCol="0"/>
          <a:lstStyle/>
          <a:p>
            <a:pPr rtl="0"/>
            <a:fld id="{E10E1F3A-7531-4910-B6EB-58549CF60FD5}" type="datetime1">
              <a:rPr lang="ro-RO" noProof="0" smtClean="0"/>
              <a:t>27.10.2025</a:t>
            </a:fld>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ar titlu">
    <p:spTree>
      <p:nvGrpSpPr>
        <p:cNvPr id="1" name=""/>
        <p:cNvGrpSpPr/>
        <p:nvPr/>
      </p:nvGrpSpPr>
      <p:grpSpPr>
        <a:xfrm>
          <a:off x="0" y="0"/>
          <a:ext cx="0" cy="0"/>
          <a:chOff x="0" y="0"/>
          <a:chExt cx="0" cy="0"/>
        </a:xfrm>
      </p:grpSpPr>
      <p:sp>
        <p:nvSpPr>
          <p:cNvPr id="6" name="Titlu 5"/>
          <p:cNvSpPr>
            <a:spLocks noGrp="1"/>
          </p:cNvSpPr>
          <p:nvPr>
            <p:ph type="title"/>
          </p:nvPr>
        </p:nvSpPr>
        <p:spPr/>
        <p:txBody>
          <a:bodyPr rtlCol="0"/>
          <a:lstStyle/>
          <a:p>
            <a:pPr rtl="0"/>
            <a:r>
              <a:rPr lang="en-US" noProof="0"/>
              <a:t>Click to edit Master title style</a:t>
            </a:r>
            <a:endParaRPr lang="ro-RO" noProof="0" dirty="0"/>
          </a:p>
        </p:txBody>
      </p:sp>
      <p:sp>
        <p:nvSpPr>
          <p:cNvPr id="4" name="Substituent subsol 3"/>
          <p:cNvSpPr>
            <a:spLocks noGrp="1"/>
          </p:cNvSpPr>
          <p:nvPr>
            <p:ph type="ftr" sz="quarter" idx="11"/>
          </p:nvPr>
        </p:nvSpPr>
        <p:spPr/>
        <p:txBody>
          <a:bodyPr rtlCol="0"/>
          <a:lstStyle/>
          <a:p>
            <a:pPr rtl="0"/>
            <a:r>
              <a:rPr lang="ro-RO" noProof="0" dirty="0"/>
              <a:t>Adăugați un subsol</a:t>
            </a:r>
          </a:p>
        </p:txBody>
      </p:sp>
      <p:sp>
        <p:nvSpPr>
          <p:cNvPr id="3" name="Substituent dată 2"/>
          <p:cNvSpPr>
            <a:spLocks noGrp="1"/>
          </p:cNvSpPr>
          <p:nvPr>
            <p:ph type="dt" sz="half" idx="10"/>
          </p:nvPr>
        </p:nvSpPr>
        <p:spPr/>
        <p:txBody>
          <a:bodyPr rtlCol="0"/>
          <a:lstStyle/>
          <a:p>
            <a:pPr rtl="0"/>
            <a:fld id="{995A7078-7B7F-48B7-8822-93D7DA5E9327}" type="datetime1">
              <a:rPr lang="ro-RO" noProof="0" smtClean="0"/>
              <a:t>27.10.2025</a:t>
            </a:fld>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5"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3" name="Substituent subsol 2"/>
          <p:cNvSpPr>
            <a:spLocks noGrp="1"/>
          </p:cNvSpPr>
          <p:nvPr>
            <p:ph type="ftr" sz="quarter" idx="11"/>
          </p:nvPr>
        </p:nvSpPr>
        <p:spPr/>
        <p:txBody>
          <a:bodyPr rtlCol="0"/>
          <a:lstStyle/>
          <a:p>
            <a:pPr rtl="0"/>
            <a:r>
              <a:rPr lang="ro-RO" noProof="0" dirty="0"/>
              <a:t>Adăugați un subsol</a:t>
            </a:r>
          </a:p>
        </p:txBody>
      </p:sp>
      <p:sp>
        <p:nvSpPr>
          <p:cNvPr id="2" name="Substituent dată 1"/>
          <p:cNvSpPr>
            <a:spLocks noGrp="1"/>
          </p:cNvSpPr>
          <p:nvPr>
            <p:ph type="dt" sz="half" idx="10"/>
          </p:nvPr>
        </p:nvSpPr>
        <p:spPr/>
        <p:txBody>
          <a:bodyPr rtlCol="0"/>
          <a:lstStyle/>
          <a:p>
            <a:pPr rtl="0"/>
            <a:fld id="{65D67F5C-FACA-46A7-A8EA-9CDEA26B0827}" type="datetime1">
              <a:rPr lang="ro-RO" noProof="0" smtClean="0"/>
              <a:t>27.10.2025</a:t>
            </a:fld>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200" b="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760413" y="685800"/>
            <a:ext cx="6858000" cy="4572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79DC185D-BB37-4190-AD07-0A9F79920DF0}" type="datetime1">
              <a:rPr lang="ro-RO" noProof="0" smtClean="0"/>
              <a:t>27.10.2025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400" b="0"/>
            </a:lvl1pPr>
          </a:lstStyle>
          <a:p>
            <a:pPr rtl="0"/>
            <a:r>
              <a:rPr lang="en-US" noProof="0"/>
              <a:t>Click to edit Master title style</a:t>
            </a:r>
            <a:endParaRPr lang="ro-RO" noProof="0" dirty="0"/>
          </a:p>
        </p:txBody>
      </p:sp>
      <p:sp>
        <p:nvSpPr>
          <p:cNvPr id="3" name="Substituent imagine 2" descr="Un substituent gol pentru a adăuga o imagine. Faceți clic pe substituent și selectați imaginea pe care doriți s-o adăugați"/>
          <p:cNvSpPr>
            <a:spLocks noGrp="1"/>
          </p:cNvSpPr>
          <p:nvPr>
            <p:ph type="pic" idx="1"/>
          </p:nvPr>
        </p:nvSpPr>
        <p:spPr>
          <a:xfrm>
            <a:off x="760413" y="685800"/>
            <a:ext cx="6858000" cy="4572000"/>
          </a:xfrm>
          <a:solidFill>
            <a:schemeClr val="bg1">
              <a:lumMod val="95000"/>
            </a:schemeClr>
          </a:solidFill>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C82CB56C-2BA1-4215-B6A3-04C489B091CB}" type="datetime1">
              <a:rPr lang="ro-RO" noProof="0" smtClean="0"/>
              <a:t>27.10.2025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E9C0E6F7-DBC8-44CA-A21F-7876F2AEC1C8}" type="datetime1">
              <a:rPr lang="ro-RO" noProof="0" smtClean="0"/>
              <a:t>27.10.2025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274638"/>
            <a:ext cx="2628900" cy="5440362"/>
          </a:xfrm>
        </p:spPr>
        <p:txBody>
          <a:bodyPr vert="eaVert"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838200" y="274638"/>
            <a:ext cx="7734300" cy="5440362"/>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FF8C643B-5485-403E-8EBD-16244D488590}" type="datetime1">
              <a:rPr lang="ro-RO" noProof="0" smtClean="0"/>
              <a:t>27.10.2025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8" name="apă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9" name="apă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apă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Substituent titlu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5" name="Substituent subsol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pPr rtl="0"/>
            <a:r>
              <a:rPr lang="ro-RO" noProof="0" dirty="0"/>
              <a:t>Adăugați un subsol</a:t>
            </a:r>
          </a:p>
        </p:txBody>
      </p:sp>
      <p:sp>
        <p:nvSpPr>
          <p:cNvPr id="4" name="Substituent dată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pPr rtl="0"/>
            <a:fld id="{5EF10CAA-0CF2-43FB-B8EE-A41EE9E83454}" type="datetime1">
              <a:rPr lang="ro-RO" noProof="0" smtClean="0"/>
              <a:t>27.10.2025</a:t>
            </a:fld>
            <a:endParaRPr lang="ro-RO" noProof="0" dirty="0"/>
          </a:p>
        </p:txBody>
      </p:sp>
      <p:sp>
        <p:nvSpPr>
          <p:cNvPr id="6" name="Substituent număr diapozitiv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pPr rtl="0"/>
            <a:fld id="{4FAB73BC-B049-4115-A692-8D63A059BFB8}" type="slidenum">
              <a:rPr lang="ro-RO" noProof="0" smtClean="0"/>
              <a:pPr rtl="0"/>
              <a:t>‹#›</a:t>
            </a:fld>
            <a:endParaRPr lang="ro-RO" noProof="0"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learn.microsoft.com/en-us/sql/t-sql/language-elements/execute-transact-sql?view=sql-server-ver16" TargetMode="External"/><Relationship Id="rId2" Type="http://schemas.openxmlformats.org/officeDocument/2006/relationships/hyperlink" Target="https://learn.microsoft.com/en-us/sql/relational-databases/stored-procedures/stored-procedures-database-engine?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language-elements/variables-transact-sql?view=sql-server-ver16" TargetMode="External"/><Relationship Id="rId5" Type="http://schemas.openxmlformats.org/officeDocument/2006/relationships/hyperlink" Target="https://learn.microsoft.com/en-us/sql/t-sql/statements/set-nocount-transact-sql?view=sql-server-ver16" TargetMode="External"/><Relationship Id="rId4" Type="http://schemas.openxmlformats.org/officeDocument/2006/relationships/hyperlink" Target="https://learn.microsoft.com/en-us/sql/relational-databases/system-stored-procedures/sp-executesql-transact-sql?view=sql-server-ver16"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learn.microsoft.com/en-us/sql/t-sql/functions/system-functions-transact-sql?view=sql-server-ver16" TargetMode="External"/><Relationship Id="rId2" Type="http://schemas.openxmlformats.org/officeDocument/2006/relationships/hyperlink" Target="https://learn.microsoft.com/en-us/sql/t-sql/language-elements/control-of-flow?view=sql-server-ver16" TargetMode="External"/><Relationship Id="rId1" Type="http://schemas.openxmlformats.org/officeDocument/2006/relationships/slideLayout" Target="../slideLayouts/slideLayout2.xml"/><Relationship Id="rId4" Type="http://schemas.openxmlformats.org/officeDocument/2006/relationships/hyperlink" Target="https://learn.microsoft.com/en-us/sql/t-sql/functions/rand-transact-sql?view=sql-server-ver1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a:xfrm>
            <a:off x="947378" y="1371600"/>
            <a:ext cx="10297243" cy="2667000"/>
          </a:xfrm>
        </p:spPr>
        <p:txBody>
          <a:bodyPr rtlCol="0"/>
          <a:lstStyle/>
          <a:p>
            <a:pPr rtl="0"/>
            <a:r>
              <a:rPr lang="it-IT" dirty="0"/>
              <a:t>Proceduri stocate. </a:t>
            </a:r>
            <a:br>
              <a:rPr lang="it-IT" dirty="0"/>
            </a:br>
            <a:r>
              <a:rPr lang="it-IT" dirty="0"/>
              <a:t>Execuție dinamică. </a:t>
            </a:r>
            <a:br>
              <a:rPr lang="it-IT" dirty="0"/>
            </a:br>
            <a:r>
              <a:rPr lang="it-IT" dirty="0"/>
              <a:t>Limbaj de control al fluxului</a:t>
            </a:r>
            <a:endParaRPr lang="ro-RO" dirty="0"/>
          </a:p>
        </p:txBody>
      </p:sp>
      <p:sp>
        <p:nvSpPr>
          <p:cNvPr id="3" name="Subtitlu 2"/>
          <p:cNvSpPr>
            <a:spLocks noGrp="1"/>
          </p:cNvSpPr>
          <p:nvPr>
            <p:ph type="subTitle" idx="1"/>
          </p:nvPr>
        </p:nvSpPr>
        <p:spPr/>
        <p:txBody>
          <a:bodyPr rtlCol="0"/>
          <a:lstStyle/>
          <a:p>
            <a:pPr rtl="0"/>
            <a:r>
              <a:rPr lang="ro-RO" dirty="0"/>
              <a:t>S</a:t>
            </a:r>
            <a:r>
              <a:rPr lang="en-US" dirty="0"/>
              <a:t>EMINAR 3</a:t>
            </a:r>
            <a:endParaRPr lang="ro-RO" dirty="0"/>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66B78-A253-D083-1C14-706D30F00CCF}"/>
              </a:ext>
            </a:extLst>
          </p:cNvPr>
          <p:cNvSpPr>
            <a:spLocks noGrp="1"/>
          </p:cNvSpPr>
          <p:nvPr>
            <p:ph type="title"/>
          </p:nvPr>
        </p:nvSpPr>
        <p:spPr/>
        <p:txBody>
          <a:bodyPr/>
          <a:lstStyle/>
          <a:p>
            <a:r>
              <a:rPr lang="ro-RO" dirty="0"/>
              <a:t>Procedura stocată</a:t>
            </a:r>
          </a:p>
        </p:txBody>
      </p:sp>
      <p:sp>
        <p:nvSpPr>
          <p:cNvPr id="3" name="Content Placeholder 2">
            <a:extLst>
              <a:ext uri="{FF2B5EF4-FFF2-40B4-BE49-F238E27FC236}">
                <a16:creationId xmlns:a16="http://schemas.microsoft.com/office/drawing/2014/main" id="{A3412710-15D6-9D70-0913-F36C040C1D7C}"/>
              </a:ext>
            </a:extLst>
          </p:cNvPr>
          <p:cNvSpPr>
            <a:spLocks noGrp="1"/>
          </p:cNvSpPr>
          <p:nvPr>
            <p:ph idx="1"/>
          </p:nvPr>
        </p:nvSpPr>
        <p:spPr>
          <a:xfrm>
            <a:off x="1341119" y="1572768"/>
            <a:ext cx="10139681" cy="4142232"/>
          </a:xfrm>
        </p:spPr>
        <p:txBody>
          <a:bodyPr/>
          <a:lstStyle/>
          <a:p>
            <a:pPr marL="342900" indent="-342900"/>
            <a:r>
              <a:rPr lang="ro-RO" dirty="0"/>
              <a:t>este </a:t>
            </a:r>
            <a:r>
              <a:rPr lang="en-US" dirty="0"/>
              <a:t>o </a:t>
            </a:r>
            <a:r>
              <a:rPr lang="ro-RO" dirty="0"/>
              <a:t>un </a:t>
            </a:r>
            <a:r>
              <a:rPr lang="ro-RO" b="1" dirty="0"/>
              <a:t>grup de instrucțiuni SQL </a:t>
            </a:r>
            <a:r>
              <a:rPr lang="ro-RO" dirty="0"/>
              <a:t>compilate într-un </a:t>
            </a:r>
            <a:r>
              <a:rPr lang="ro-RO" b="1" dirty="0"/>
              <a:t>singur plan de execuție</a:t>
            </a:r>
          </a:p>
          <a:p>
            <a:pPr marL="342900" indent="-342900"/>
            <a:r>
              <a:rPr lang="ro-RO" b="1" dirty="0"/>
              <a:t>acceptă</a:t>
            </a:r>
            <a:r>
              <a:rPr lang="ro-RO" dirty="0"/>
              <a:t> parametri de intrare și </a:t>
            </a:r>
            <a:r>
              <a:rPr lang="ro-RO" b="1" dirty="0"/>
              <a:t>poate returna </a:t>
            </a:r>
            <a:r>
              <a:rPr lang="ro-RO" dirty="0"/>
              <a:t>multiple valori ca parametri de ieșire</a:t>
            </a:r>
          </a:p>
          <a:p>
            <a:pPr marL="342900" indent="-342900"/>
            <a:r>
              <a:rPr lang="ro-RO" b="1" dirty="0"/>
              <a:t>conține</a:t>
            </a:r>
            <a:r>
              <a:rPr lang="ro-RO" dirty="0"/>
              <a:t> instrucțiuni de programare care efectuează operațiuni în baza de date,</a:t>
            </a:r>
            <a:r>
              <a:rPr lang="en-US" dirty="0"/>
              <a:t> </a:t>
            </a:r>
            <a:r>
              <a:rPr lang="ro-RO" dirty="0"/>
              <a:t>inclusiv </a:t>
            </a:r>
            <a:r>
              <a:rPr lang="ro-RO" b="1" dirty="0"/>
              <a:t>apeluri de proceduri</a:t>
            </a:r>
          </a:p>
          <a:p>
            <a:pPr marL="342900" indent="-342900"/>
            <a:r>
              <a:rPr lang="ro-RO" b="1" dirty="0"/>
              <a:t>returnează</a:t>
            </a:r>
            <a:r>
              <a:rPr lang="ro-RO" dirty="0"/>
              <a:t> o valoare de stare care indică succes sau eroare</a:t>
            </a:r>
            <a:endParaRPr lang="en-US" dirty="0"/>
          </a:p>
          <a:p>
            <a:endParaRPr lang="ro-RO" dirty="0"/>
          </a:p>
        </p:txBody>
      </p:sp>
    </p:spTree>
    <p:extLst>
      <p:ext uri="{BB962C8B-B14F-4D97-AF65-F5344CB8AC3E}">
        <p14:creationId xmlns:p14="http://schemas.microsoft.com/office/powerpoint/2010/main" val="3725761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7068E-1B10-5206-C7CF-0A7BEB60AC96}"/>
              </a:ext>
            </a:extLst>
          </p:cNvPr>
          <p:cNvSpPr>
            <a:spLocks noGrp="1"/>
          </p:cNvSpPr>
          <p:nvPr>
            <p:ph type="title"/>
          </p:nvPr>
        </p:nvSpPr>
        <p:spPr/>
        <p:txBody>
          <a:bodyPr/>
          <a:lstStyle/>
          <a:p>
            <a:r>
              <a:rPr lang="ro-RO" dirty="0">
                <a:latin typeface="+mn-lt"/>
              </a:rPr>
              <a:t>Avantajele procedurilor stocate</a:t>
            </a:r>
            <a:endParaRPr lang="ro-RO" dirty="0"/>
          </a:p>
        </p:txBody>
      </p:sp>
      <p:sp>
        <p:nvSpPr>
          <p:cNvPr id="3" name="Content Placeholder 2">
            <a:extLst>
              <a:ext uri="{FF2B5EF4-FFF2-40B4-BE49-F238E27FC236}">
                <a16:creationId xmlns:a16="http://schemas.microsoft.com/office/drawing/2014/main" id="{B1DC51DE-469B-F9A4-7DA9-1E4CFD8DA43E}"/>
              </a:ext>
            </a:extLst>
          </p:cNvPr>
          <p:cNvSpPr>
            <a:spLocks noGrp="1"/>
          </p:cNvSpPr>
          <p:nvPr>
            <p:ph idx="1"/>
          </p:nvPr>
        </p:nvSpPr>
        <p:spPr/>
        <p:txBody>
          <a:bodyPr/>
          <a:lstStyle/>
          <a:p>
            <a:pPr marL="342900" indent="-342900">
              <a:buFont typeface="+mj-lt"/>
              <a:buAutoNum type="arabicPeriod"/>
            </a:pPr>
            <a:r>
              <a:rPr lang="ro-RO" sz="2000" b="1" dirty="0"/>
              <a:t>Reducerea traficului pe rețea</a:t>
            </a:r>
          </a:p>
          <a:p>
            <a:pPr marL="342900" indent="-342900">
              <a:buFont typeface="+mj-lt"/>
              <a:buAutoNum type="arabicPeriod"/>
            </a:pPr>
            <a:r>
              <a:rPr lang="ro-RO" sz="2000" b="1" dirty="0"/>
              <a:t>Control mai bun al securității</a:t>
            </a:r>
          </a:p>
          <a:p>
            <a:pPr marL="342900" indent="-342900">
              <a:buFont typeface="+mj-lt"/>
              <a:buAutoNum type="arabicPeriod"/>
            </a:pPr>
            <a:r>
              <a:rPr lang="ro-RO" sz="2000" b="1" dirty="0"/>
              <a:t>Reutilizarea codului</a:t>
            </a:r>
          </a:p>
          <a:p>
            <a:pPr marL="342900" indent="-342900">
              <a:buFont typeface="+mj-lt"/>
              <a:buAutoNum type="arabicPeriod"/>
            </a:pPr>
            <a:r>
              <a:rPr lang="ro-RO" sz="2000" b="1" dirty="0"/>
              <a:t>Întreținere simplificată</a:t>
            </a:r>
          </a:p>
          <a:p>
            <a:pPr marL="342900" indent="-342900">
              <a:buFont typeface="+mj-lt"/>
              <a:buAutoNum type="arabicPeriod"/>
            </a:pPr>
            <a:r>
              <a:rPr lang="ro-RO" sz="2000" b="1" dirty="0"/>
              <a:t>Performanță îmbunătățită</a:t>
            </a:r>
          </a:p>
          <a:p>
            <a:pPr marL="342900" indent="-342900">
              <a:buFont typeface="+mj-lt"/>
              <a:buAutoNum type="arabicPeriod"/>
            </a:pPr>
            <a:r>
              <a:rPr lang="ro-RO" sz="2000" b="1" dirty="0"/>
              <a:t>Posibilitatea de a încorpora cod pentru tratarea erorilor direct în interiorul procedurii stocate </a:t>
            </a:r>
          </a:p>
          <a:p>
            <a:endParaRPr lang="ro-RO" dirty="0"/>
          </a:p>
        </p:txBody>
      </p:sp>
    </p:spTree>
    <p:extLst>
      <p:ext uri="{BB962C8B-B14F-4D97-AF65-F5344CB8AC3E}">
        <p14:creationId xmlns:p14="http://schemas.microsoft.com/office/powerpoint/2010/main" val="3714097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en-US" dirty="0"/>
              <a:t>Se d</a:t>
            </a:r>
            <a:r>
              <a:rPr lang="ro-RO" dirty="0"/>
              <a:t>ă o bază de date având următoarea structură:</a:t>
            </a:r>
          </a:p>
        </p:txBody>
      </p:sp>
      <p:pic>
        <p:nvPicPr>
          <p:cNvPr id="6" name="Picture 5">
            <a:extLst>
              <a:ext uri="{FF2B5EF4-FFF2-40B4-BE49-F238E27FC236}">
                <a16:creationId xmlns:a16="http://schemas.microsoft.com/office/drawing/2014/main" id="{AAFC95D0-E6C3-B3E2-F227-91BA6576FAF2}"/>
              </a:ext>
            </a:extLst>
          </p:cNvPr>
          <p:cNvPicPr>
            <a:picLocks noChangeAspect="1"/>
          </p:cNvPicPr>
          <p:nvPr/>
        </p:nvPicPr>
        <p:blipFill>
          <a:blip r:embed="rId2"/>
          <a:stretch>
            <a:fillRect/>
          </a:stretch>
        </p:blipFill>
        <p:spPr>
          <a:xfrm>
            <a:off x="1123580" y="2142430"/>
            <a:ext cx="5648595" cy="3423869"/>
          </a:xfrm>
          <a:prstGeom prst="rect">
            <a:avLst/>
          </a:prstGeom>
        </p:spPr>
      </p:pic>
    </p:spTree>
    <p:extLst>
      <p:ext uri="{BB962C8B-B14F-4D97-AF65-F5344CB8AC3E}">
        <p14:creationId xmlns:p14="http://schemas.microsoft.com/office/powerpoint/2010/main" val="572221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399" y="1685924"/>
            <a:ext cx="10915555" cy="5172075"/>
          </a:xfrm>
        </p:spPr>
        <p:txBody>
          <a:bodyPr>
            <a:normAutofit/>
          </a:bodyPr>
          <a:lstStyle/>
          <a:p>
            <a:r>
              <a:rPr lang="ro-RO" dirty="0"/>
              <a:t>Următoarea procedură stocată va adăuga o co</a:t>
            </a:r>
            <a:r>
              <a:rPr lang="en-US" dirty="0" err="1"/>
              <a:t>nstr</a:t>
            </a:r>
            <a:r>
              <a:rPr lang="ro-RO" dirty="0"/>
              <a:t>ângere de </a:t>
            </a:r>
            <a:r>
              <a:rPr lang="ro-RO" b="1" dirty="0"/>
              <a:t>valoare implicită </a:t>
            </a:r>
            <a:r>
              <a:rPr lang="ro-RO" dirty="0"/>
              <a:t>pentru coloana </a:t>
            </a:r>
            <a:r>
              <a:rPr lang="ro-RO" i="1" dirty="0"/>
              <a:t>varsta_min</a:t>
            </a:r>
            <a:r>
              <a:rPr lang="ro-RO" dirty="0"/>
              <a:t> din tabelul </a:t>
            </a:r>
            <a:r>
              <a:rPr lang="ro-RO" i="1" dirty="0"/>
              <a:t>Atracții</a:t>
            </a:r>
            <a:r>
              <a:rPr lang="ro-RO" dirty="0"/>
              <a:t>:</a:t>
            </a:r>
          </a:p>
          <a:p>
            <a:pPr marL="0" indent="0">
              <a:buNone/>
            </a:pPr>
            <a:r>
              <a:rPr lang="ro-RO" sz="1800" dirty="0">
                <a:solidFill>
                  <a:srgbClr val="0000FF"/>
                </a:solidFill>
                <a:latin typeface="Consolas" panose="020B0609020204030204" pitchFamily="49" charset="0"/>
              </a:rPr>
              <a:t>	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AdaugaConstrangereDefault</a:t>
            </a:r>
          </a:p>
          <a:p>
            <a:pPr marL="0" indent="0">
              <a:buNone/>
            </a:pPr>
            <a:r>
              <a:rPr lang="ro-RO" sz="1800" dirty="0">
                <a:solidFill>
                  <a:srgbClr val="0000FF"/>
                </a:solidFill>
                <a:latin typeface="Consolas" panose="020B0609020204030204" pitchFamily="49" charset="0"/>
              </a:rPr>
              <a:t>	AS</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BEGIN</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TABLE</a:t>
            </a:r>
            <a:r>
              <a:rPr lang="ro-RO" sz="1800" dirty="0">
                <a:solidFill>
                  <a:srgbClr val="000000"/>
                </a:solidFill>
                <a:latin typeface="Consolas" panose="020B0609020204030204" pitchFamily="49" charset="0"/>
              </a:rPr>
              <a:t> Atractii</a:t>
            </a:r>
          </a:p>
          <a:p>
            <a:pPr marL="0" indent="0">
              <a:buNone/>
            </a:pPr>
            <a:r>
              <a:rPr lang="ro-RO" sz="1800" dirty="0">
                <a:solidFill>
                  <a:srgbClr val="0000FF"/>
                </a:solidFill>
                <a:latin typeface="Consolas" panose="020B0609020204030204" pitchFamily="49" charset="0"/>
              </a:rPr>
              <a:t>	ADD</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CONSTRAINT</a:t>
            </a:r>
            <a:r>
              <a:rPr lang="ro-RO" sz="1800" dirty="0">
                <a:solidFill>
                  <a:srgbClr val="000000"/>
                </a:solidFill>
                <a:latin typeface="Consolas" panose="020B0609020204030204" pitchFamily="49" charset="0"/>
              </a:rPr>
              <a:t> df_varsta_min </a:t>
            </a:r>
            <a:r>
              <a:rPr lang="ro-RO" sz="1800" dirty="0">
                <a:solidFill>
                  <a:srgbClr val="0000FF"/>
                </a:solidFill>
                <a:latin typeface="Consolas" panose="020B0609020204030204" pitchFamily="49" charset="0"/>
              </a:rPr>
              <a:t>DEFAULT</a:t>
            </a:r>
            <a:r>
              <a:rPr lang="ro-RO" sz="1800" dirty="0">
                <a:solidFill>
                  <a:srgbClr val="000000"/>
                </a:solidFill>
                <a:latin typeface="Consolas" panose="020B0609020204030204" pitchFamily="49" charset="0"/>
              </a:rPr>
              <a:t> 12 </a:t>
            </a:r>
            <a:r>
              <a:rPr lang="ro-RO" sz="1800" dirty="0">
                <a:solidFill>
                  <a:srgbClr val="0000FF"/>
                </a:solidFill>
                <a:latin typeface="Consolas" panose="020B0609020204030204" pitchFamily="49" charset="0"/>
              </a:rPr>
              <a:t>FOR</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END</a:t>
            </a:r>
            <a:r>
              <a:rPr lang="ro-RO" sz="1800" dirty="0">
                <a:solidFill>
                  <a:srgbClr val="808080"/>
                </a:solidFill>
                <a:latin typeface="Consolas" panose="020B0609020204030204" pitchFamily="49" charset="0"/>
              </a:rPr>
              <a:t>;</a:t>
            </a:r>
            <a:r>
              <a:rPr lang="ro-RO" dirty="0"/>
              <a:t> </a:t>
            </a:r>
          </a:p>
          <a:p>
            <a:r>
              <a:rPr lang="ro-RO" dirty="0"/>
              <a:t>Procedura stocată creată anterior se va apela în modul următor:</a:t>
            </a: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AdaugaConstrangereDefault</a:t>
            </a:r>
            <a:r>
              <a:rPr lang="ro-RO" sz="1800" dirty="0">
                <a:solidFill>
                  <a:srgbClr val="808080"/>
                </a:solidFill>
                <a:latin typeface="Consolas" panose="020B0609020204030204" pitchFamily="49" charset="0"/>
              </a:rPr>
              <a:t>;</a:t>
            </a:r>
          </a:p>
          <a:p>
            <a:pPr marL="0" indent="0">
              <a:buNone/>
            </a:pPr>
            <a:endParaRPr lang="ro-RO" b="1" dirty="0"/>
          </a:p>
          <a:p>
            <a:pPr lvl="1"/>
            <a:endParaRPr lang="ro-RO" i="0" dirty="0"/>
          </a:p>
        </p:txBody>
      </p:sp>
    </p:spTree>
    <p:extLst>
      <p:ext uri="{BB962C8B-B14F-4D97-AF65-F5344CB8AC3E}">
        <p14:creationId xmlns:p14="http://schemas.microsoft.com/office/powerpoint/2010/main" val="17713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399" y="1685924"/>
            <a:ext cx="10675859" cy="5172075"/>
          </a:xfrm>
        </p:spPr>
        <p:txBody>
          <a:bodyPr>
            <a:normAutofit/>
          </a:bodyPr>
          <a:lstStyle/>
          <a:p>
            <a:r>
              <a:rPr lang="ro-RO" dirty="0"/>
              <a:t>Următoarea procedură stocată va returna</a:t>
            </a:r>
            <a:r>
              <a:rPr lang="en-US" dirty="0"/>
              <a:t> </a:t>
            </a:r>
            <a:r>
              <a:rPr lang="en-US" dirty="0" err="1"/>
              <a:t>numele</a:t>
            </a:r>
            <a:r>
              <a:rPr lang="en-US" dirty="0"/>
              <a:t>, </a:t>
            </a:r>
            <a:r>
              <a:rPr lang="en-US" dirty="0" err="1"/>
              <a:t>descrierea</a:t>
            </a:r>
            <a:r>
              <a:rPr lang="en-US" dirty="0"/>
              <a:t> </a:t>
            </a:r>
            <a:r>
              <a:rPr lang="ro-RO" dirty="0"/>
              <a:t>și vârsta minimă recomandată pentru toate înregistrările din tabelul </a:t>
            </a:r>
            <a:r>
              <a:rPr lang="ro-RO" i="1" dirty="0"/>
              <a:t>Atracții</a:t>
            </a:r>
            <a:r>
              <a:rPr lang="ro-RO" dirty="0"/>
              <a:t> care au vârsta minimă recomandată egală cu cea furnizată prin intermediul </a:t>
            </a:r>
            <a:r>
              <a:rPr lang="ro-RO" b="1" dirty="0"/>
              <a:t>parametrului de intrare</a:t>
            </a:r>
            <a:r>
              <a:rPr lang="ro-RO" dirty="0"/>
              <a:t>:</a:t>
            </a: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ReturneazaAtractiiCuVarstaMin </a:t>
            </a:r>
            <a:r>
              <a:rPr lang="ro-RO" sz="1800" dirty="0">
                <a:solidFill>
                  <a:srgbClr val="000000"/>
                </a:solidFill>
                <a:highlight>
                  <a:srgbClr val="FFFF00"/>
                </a:highlight>
                <a:latin typeface="Consolas" panose="020B0609020204030204" pitchFamily="49" charset="0"/>
              </a:rPr>
              <a:t>@varsta_min </a:t>
            </a:r>
            <a:r>
              <a:rPr lang="ro-RO" sz="1800" dirty="0">
                <a:solidFill>
                  <a:srgbClr val="0000FF"/>
                </a:solidFill>
                <a:highlight>
                  <a:srgbClr val="FFFF00"/>
                </a:highlight>
                <a:latin typeface="Consolas" panose="020B0609020204030204" pitchFamily="49" charset="0"/>
              </a:rPr>
              <a:t>INT</a:t>
            </a:r>
            <a:endParaRPr lang="ro-RO" sz="1800" dirty="0">
              <a:solidFill>
                <a:srgbClr val="000000"/>
              </a:solidFill>
              <a:highlight>
                <a:srgbClr val="FFFF00"/>
              </a:highlight>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descriere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p>
          <a:p>
            <a:pPr marL="0" indent="0">
              <a:buNone/>
            </a:pP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9779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71168" cy="4972327"/>
          </a:xfrm>
        </p:spPr>
        <p:txBody>
          <a:bodyPr/>
          <a:lstStyle/>
          <a:p>
            <a:r>
              <a:rPr lang="ro-RO" dirty="0"/>
              <a:t>Procedura stocată creată anterior se va apela în modul următor:</a:t>
            </a: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ReturneazaAtractiiCuVarstaMin</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12</a:t>
            </a:r>
            <a:r>
              <a:rPr lang="ro-RO" sz="1800" dirty="0">
                <a:solidFill>
                  <a:srgbClr val="808080"/>
                </a:solidFill>
                <a:latin typeface="Consolas" panose="020B0609020204030204" pitchFamily="49" charset="0"/>
              </a:rPr>
              <a:t>;</a:t>
            </a:r>
          </a:p>
          <a:p>
            <a:pPr marL="0" indent="0">
              <a:buNone/>
            </a:pPr>
            <a:r>
              <a:rPr lang="ro-RO" sz="1800" dirty="0">
                <a:solidFill>
                  <a:srgbClr val="808080"/>
                </a:solidFill>
                <a:latin typeface="Consolas" panose="020B0609020204030204" pitchFamily="49" charset="0"/>
              </a:rPr>
              <a:t>       SAU</a:t>
            </a: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ReturneazaAtractiiCuVarstaMin</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12</a:t>
            </a:r>
            <a:r>
              <a:rPr lang="ro-RO" sz="1800" dirty="0">
                <a:solidFill>
                  <a:srgbClr val="808080"/>
                </a:solidFill>
                <a:latin typeface="Consolas" panose="020B0609020204030204" pitchFamily="49" charset="0"/>
              </a:rPr>
              <a:t>;</a:t>
            </a:r>
          </a:p>
          <a:p>
            <a:pPr marL="0" indent="0">
              <a:buNone/>
            </a:pPr>
            <a:endParaRPr lang="ro-RO" b="1" dirty="0"/>
          </a:p>
        </p:txBody>
      </p:sp>
    </p:spTree>
    <p:extLst>
      <p:ext uri="{BB962C8B-B14F-4D97-AF65-F5344CB8AC3E}">
        <p14:creationId xmlns:p14="http://schemas.microsoft.com/office/powerpoint/2010/main" val="233653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110865" cy="4954572"/>
          </a:xfrm>
        </p:spPr>
        <p:txBody>
          <a:bodyPr>
            <a:normAutofit/>
          </a:bodyPr>
          <a:lstStyle/>
          <a:p>
            <a:r>
              <a:rPr lang="ro-RO" dirty="0"/>
              <a:t>P</a:t>
            </a:r>
            <a:r>
              <a:rPr lang="en-US" dirty="0" err="1"/>
              <a:t>utem</a:t>
            </a:r>
            <a:r>
              <a:rPr lang="en-US" dirty="0"/>
              <a:t> </a:t>
            </a:r>
            <a:r>
              <a:rPr lang="en-US" b="1" dirty="0" err="1"/>
              <a:t>modifica</a:t>
            </a:r>
            <a:r>
              <a:rPr lang="en-US" dirty="0"/>
              <a:t> </a:t>
            </a:r>
            <a:r>
              <a:rPr lang="en-US" dirty="0" err="1"/>
              <a:t>defini</a:t>
            </a:r>
            <a:r>
              <a:rPr lang="ro-RO" dirty="0"/>
              <a:t>ția procedurii stocate astfel încât să returneze prin intermediul unui </a:t>
            </a:r>
            <a:r>
              <a:rPr lang="ro-RO" b="1" dirty="0"/>
              <a:t>parametru de ieșire </a:t>
            </a:r>
            <a:r>
              <a:rPr lang="ro-RO" dirty="0"/>
              <a:t>numărul de atracții care au vârsta minimă recomandată egală cu cea furnizată prin intermediul </a:t>
            </a:r>
            <a:r>
              <a:rPr lang="ro-RO" b="1" dirty="0"/>
              <a:t>parametrului de intrare</a:t>
            </a:r>
            <a:r>
              <a:rPr lang="ro-RO" dirty="0"/>
              <a:t>:</a:t>
            </a:r>
          </a:p>
          <a:p>
            <a:pPr marL="0" indent="0">
              <a:buNone/>
            </a:pPr>
            <a:r>
              <a:rPr lang="ro-RO" sz="1800" dirty="0">
                <a:solidFill>
                  <a:srgbClr val="0000FF"/>
                </a:solidFill>
                <a:latin typeface="Consolas" panose="020B0609020204030204" pitchFamily="49" charset="0"/>
              </a:rPr>
              <a:t>	</a:t>
            </a:r>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PROCEDURE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ReturneazaAtractiiCuVarstaMin</a:t>
            </a:r>
            <a:r>
              <a:rPr lang="en-US" sz="1800" dirty="0">
                <a:solidFill>
                  <a:srgbClr val="000000"/>
                </a:solidFill>
                <a:latin typeface="Consolas" panose="020B0609020204030204" pitchFamily="49" charset="0"/>
              </a:rPr>
              <a:t> @varsta_min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endParaRPr lang="ro-RO" sz="1800" dirty="0">
              <a:solidFill>
                <a:srgbClr val="000000"/>
              </a:solidFill>
              <a:latin typeface="Consolas" panose="020B0609020204030204" pitchFamily="49" charset="0"/>
            </a:endParaRPr>
          </a:p>
          <a:p>
            <a:pPr marL="0" indent="0">
              <a:buNone/>
            </a:pPr>
            <a:r>
              <a:rPr lang="ro-RO" sz="1800" dirty="0">
                <a:solidFill>
                  <a:srgbClr val="000000"/>
                </a:solidFill>
                <a:latin typeface="Consolas" panose="020B0609020204030204" pitchFamily="49" charset="0"/>
              </a:rPr>
              <a:t>	</a:t>
            </a:r>
            <a:r>
              <a:rPr lang="en-US" sz="1800" dirty="0">
                <a:solidFill>
                  <a:srgbClr val="000000"/>
                </a:solidFill>
                <a:highlight>
                  <a:srgbClr val="FFFF00"/>
                </a:highlight>
                <a:latin typeface="Consolas" panose="020B0609020204030204" pitchFamily="49" charset="0"/>
              </a:rPr>
              <a:t>@nr</a:t>
            </a:r>
            <a:r>
              <a:rPr lang="ro-RO" sz="1800" dirty="0">
                <a:solidFill>
                  <a:srgbClr val="000000"/>
                </a:solidFill>
                <a:highlight>
                  <a:srgbClr val="FFFF00"/>
                </a:highlight>
                <a:latin typeface="Consolas" panose="020B0609020204030204" pitchFamily="49" charset="0"/>
              </a:rPr>
              <a:t>_atractii</a:t>
            </a:r>
            <a:r>
              <a:rPr lang="en-US" sz="1800" dirty="0">
                <a:solidFill>
                  <a:srgbClr val="000000"/>
                </a:solidFill>
                <a:highlight>
                  <a:srgbClr val="FFFF00"/>
                </a:highlight>
                <a:latin typeface="Consolas" panose="020B0609020204030204" pitchFamily="49" charset="0"/>
              </a:rPr>
              <a:t> </a:t>
            </a:r>
            <a:r>
              <a:rPr lang="en-US" sz="1800" dirty="0">
                <a:solidFill>
                  <a:srgbClr val="0000FF"/>
                </a:solidFill>
                <a:highlight>
                  <a:srgbClr val="FFFF00"/>
                </a:highlight>
                <a:latin typeface="Consolas" panose="020B0609020204030204" pitchFamily="49" charset="0"/>
              </a:rPr>
              <a:t>INT</a:t>
            </a:r>
            <a:r>
              <a:rPr lang="en-US" sz="1800" dirty="0">
                <a:solidFill>
                  <a:srgbClr val="000000"/>
                </a:solidFill>
                <a:highlight>
                  <a:srgbClr val="FFFF00"/>
                </a:highlight>
                <a:latin typeface="Consolas" panose="020B0609020204030204" pitchFamily="49" charset="0"/>
              </a:rPr>
              <a:t> </a:t>
            </a:r>
            <a:r>
              <a:rPr lang="en-US" sz="1800" dirty="0">
                <a:solidFill>
                  <a:srgbClr val="0000FF"/>
                </a:solidFill>
                <a:highlight>
                  <a:srgbClr val="FFFF00"/>
                </a:highlight>
                <a:latin typeface="Consolas" panose="020B0609020204030204" pitchFamily="49" charset="0"/>
              </a:rPr>
              <a:t>OUTPUT</a:t>
            </a:r>
            <a:endParaRPr lang="en-US" sz="1800" dirty="0">
              <a:solidFill>
                <a:srgbClr val="000000"/>
              </a:solidFill>
              <a:highlight>
                <a:srgbClr val="FFFF00"/>
              </a:highlight>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AS</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BEGIN</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@nr</a:t>
            </a:r>
            <a:r>
              <a:rPr lang="ro-RO" sz="1800" dirty="0">
                <a:solidFill>
                  <a:srgbClr val="000000"/>
                </a:solidFill>
                <a:latin typeface="Consolas" panose="020B0609020204030204" pitchFamily="49" charset="0"/>
              </a:rPr>
              <a:t>_atractii</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END</a:t>
            </a:r>
            <a:r>
              <a:rPr lang="ro-RO" sz="1800" dirty="0">
                <a:solidFill>
                  <a:srgbClr val="808080"/>
                </a:solidFill>
                <a:latin typeface="Consolas" panose="020B0609020204030204" pitchFamily="49" charset="0"/>
              </a:rPr>
              <a:t>;</a:t>
            </a:r>
            <a:endParaRPr lang="ro-RO" b="1" dirty="0"/>
          </a:p>
        </p:txBody>
      </p:sp>
    </p:spTree>
    <p:extLst>
      <p:ext uri="{BB962C8B-B14F-4D97-AF65-F5344CB8AC3E}">
        <p14:creationId xmlns:p14="http://schemas.microsoft.com/office/powerpoint/2010/main" val="13543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Proceduri</a:t>
            </a:r>
            <a:r>
              <a:rPr lang="en-US" dirty="0">
                <a:latin typeface="+mn-lt"/>
              </a:rPr>
              <a:t> </a:t>
            </a:r>
            <a:r>
              <a:rPr lang="en-US" dirty="0" err="1">
                <a:latin typeface="+mn-lt"/>
              </a:rPr>
              <a:t>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4"/>
            <a:ext cx="10897801" cy="5172075"/>
          </a:xfrm>
        </p:spPr>
        <p:txBody>
          <a:bodyPr>
            <a:normAutofit/>
          </a:bodyPr>
          <a:lstStyle/>
          <a:p>
            <a:r>
              <a:rPr lang="ro-RO" dirty="0"/>
              <a:t>Noua variantă a procedurii stocate (care conține un parametru de ieșire) va fi apelată în modul următor:</a:t>
            </a:r>
          </a:p>
          <a:p>
            <a:pPr marL="320040" lvl="1" indent="0">
              <a:buNone/>
            </a:pPr>
            <a:r>
              <a:rPr lang="ro-RO" dirty="0"/>
              <a:t>	</a:t>
            </a:r>
            <a:r>
              <a:rPr lang="en-US" sz="180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declară o variabilă locală</a:t>
            </a:r>
            <a:endParaRPr lang="ro-RO" i="0" dirty="0"/>
          </a:p>
          <a:p>
            <a:pPr marL="0" indent="0">
              <a:buNone/>
            </a:pPr>
            <a:r>
              <a:rPr lang="ro-RO" sz="1800" dirty="0">
                <a:solidFill>
                  <a:srgbClr val="0000FF"/>
                </a:solidFill>
                <a:latin typeface="Consolas" panose="020B0609020204030204" pitchFamily="49" charset="0"/>
              </a:rPr>
              <a:t>	DECLARE</a:t>
            </a:r>
            <a:r>
              <a:rPr lang="ro-RO" sz="1800" dirty="0">
                <a:solidFill>
                  <a:srgbClr val="000000"/>
                </a:solidFill>
                <a:latin typeface="Consolas" panose="020B0609020204030204" pitchFamily="49" charset="0"/>
              </a:rPr>
              <a:t> @nratractii </a:t>
            </a:r>
            <a:r>
              <a:rPr lang="ro-RO" sz="1800" dirty="0">
                <a:solidFill>
                  <a:srgbClr val="0000FF"/>
                </a:solidFill>
                <a:latin typeface="Consolas" panose="020B0609020204030204" pitchFamily="49" charset="0"/>
              </a:rPr>
              <a:t>AS</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INT</a:t>
            </a:r>
            <a:r>
              <a:rPr lang="ro-RO" sz="1800" dirty="0">
                <a:solidFill>
                  <a:srgbClr val="808080"/>
                </a:solidFill>
                <a:latin typeface="Consolas" panose="020B0609020204030204" pitchFamily="49" charset="0"/>
              </a:rPr>
              <a:t>;</a:t>
            </a:r>
          </a:p>
          <a:p>
            <a:pPr marL="0" indent="0">
              <a:buNone/>
            </a:pPr>
            <a:r>
              <a:rPr lang="ro-RO" sz="1800" i="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inițializează variabila locală</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SET</a:t>
            </a:r>
            <a:r>
              <a:rPr lang="ro-RO" sz="1800" dirty="0">
                <a:solidFill>
                  <a:srgbClr val="000000"/>
                </a:solidFill>
                <a:latin typeface="Consolas" panose="020B0609020204030204" pitchFamily="49" charset="0"/>
              </a:rPr>
              <a:t> @nratractii</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0</a:t>
            </a:r>
            <a:r>
              <a:rPr lang="ro-RO" sz="1800" dirty="0">
                <a:solidFill>
                  <a:srgbClr val="808080"/>
                </a:solidFill>
                <a:latin typeface="Consolas" panose="020B0609020204030204" pitchFamily="49" charset="0"/>
              </a:rPr>
              <a:t>;</a:t>
            </a:r>
          </a:p>
          <a:p>
            <a:pPr marL="0" indent="0">
              <a:buNone/>
            </a:pPr>
            <a:r>
              <a:rPr lang="ro-RO" sz="1800" dirty="0">
                <a:solidFill>
                  <a:srgbClr val="808080"/>
                </a:solidFill>
                <a:latin typeface="Consolas" panose="020B0609020204030204" pitchFamily="49" charset="0"/>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apelează procedura stocată</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ReturneazaAtractiiCuVarstaMin</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12</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@nr_atractii</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@nratractii </a:t>
            </a:r>
            <a:r>
              <a:rPr lang="ro-RO" sz="1800" dirty="0">
                <a:solidFill>
                  <a:srgbClr val="0000FF"/>
                </a:solidFill>
                <a:latin typeface="Consolas" panose="020B0609020204030204" pitchFamily="49" charset="0"/>
              </a:rPr>
              <a:t>OUTPUT</a:t>
            </a:r>
            <a:r>
              <a:rPr lang="ro-RO" sz="1800" dirty="0">
                <a:solidFill>
                  <a:srgbClr val="808080"/>
                </a:solidFill>
                <a:latin typeface="Consolas" panose="020B0609020204030204" pitchFamily="49" charset="0"/>
              </a:rPr>
              <a:t>;</a:t>
            </a:r>
          </a:p>
          <a:p>
            <a:pPr marL="0" indent="0">
              <a:buNone/>
            </a:pPr>
            <a:r>
              <a:rPr lang="ro-RO" sz="1800" i="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afișează pe ecran valoarea parametrului de ieșire, stocată în variabila locală</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PRINT</a:t>
            </a:r>
            <a:r>
              <a:rPr lang="ro-RO" sz="1800" dirty="0">
                <a:solidFill>
                  <a:srgbClr val="000000"/>
                </a:solidFill>
                <a:latin typeface="Consolas" panose="020B0609020204030204" pitchFamily="49" charset="0"/>
              </a:rPr>
              <a:t> @nratractii</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1504961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73C76-24C3-DFA2-1F1A-0B4DEC59B852}"/>
              </a:ext>
            </a:extLst>
          </p:cNvPr>
          <p:cNvSpPr>
            <a:spLocks noGrp="1"/>
          </p:cNvSpPr>
          <p:nvPr>
            <p:ph type="title"/>
          </p:nvPr>
        </p:nvSpPr>
        <p:spPr/>
        <p:txBody>
          <a:bodyPr/>
          <a:lstStyle/>
          <a:p>
            <a:r>
              <a:rPr lang="en-US" dirty="0" err="1"/>
              <a:t>Exerci</a:t>
            </a:r>
            <a:r>
              <a:rPr lang="ro-RO" dirty="0"/>
              <a:t>ții</a:t>
            </a:r>
          </a:p>
        </p:txBody>
      </p:sp>
      <p:sp>
        <p:nvSpPr>
          <p:cNvPr id="3" name="Content Placeholder 2">
            <a:extLst>
              <a:ext uri="{FF2B5EF4-FFF2-40B4-BE49-F238E27FC236}">
                <a16:creationId xmlns:a16="http://schemas.microsoft.com/office/drawing/2014/main" id="{58CBF17E-FBA4-3001-3847-11CEAC25D418}"/>
              </a:ext>
            </a:extLst>
          </p:cNvPr>
          <p:cNvSpPr>
            <a:spLocks noGrp="1"/>
          </p:cNvSpPr>
          <p:nvPr>
            <p:ph idx="1"/>
          </p:nvPr>
        </p:nvSpPr>
        <p:spPr>
          <a:xfrm>
            <a:off x="1341120" y="1572767"/>
            <a:ext cx="10444480" cy="4458577"/>
          </a:xfrm>
        </p:spPr>
        <p:txBody>
          <a:bodyPr/>
          <a:lstStyle/>
          <a:p>
            <a:pPr marL="45720" indent="0">
              <a:buNone/>
            </a:pPr>
            <a:r>
              <a:rPr lang="ro-RO" dirty="0"/>
              <a:t>1) Să se creeze o procedură stocată care inserează o secțiune nouă în tabelul </a:t>
            </a:r>
            <a:r>
              <a:rPr lang="ro-RO" i="1" dirty="0"/>
              <a:t>Sectiuni</a:t>
            </a:r>
            <a:r>
              <a:rPr lang="ro-RO" dirty="0"/>
              <a:t>. Procedura va avea doi parametri de intrare: numele și descrierea secțiunii.  </a:t>
            </a:r>
          </a:p>
          <a:p>
            <a:pPr marL="45720" indent="0">
              <a:buNone/>
            </a:pPr>
            <a:r>
              <a:rPr lang="ro-RO" dirty="0"/>
              <a:t>2) Să se creeze o procedură stocată care actualizează adresa de email a unui vizitator din tabelul </a:t>
            </a:r>
            <a:r>
              <a:rPr lang="ro-RO" i="1" dirty="0"/>
              <a:t>Vizitatori</a:t>
            </a:r>
            <a:r>
              <a:rPr lang="ro-RO" dirty="0"/>
              <a:t>. Procedura stocată primește 2 parametri de intrare: codul vizitatorului și noua adresă de email. </a:t>
            </a:r>
          </a:p>
          <a:p>
            <a:pPr marL="45720" indent="0">
              <a:buNone/>
            </a:pPr>
            <a:r>
              <a:rPr lang="ro-RO" dirty="0"/>
              <a:t>3) Să se creeze o procedură stocată care returnează numele vizitatorului, adresa de email și numărul total de note pentru toți vizitatorii care au dat cel puțin o notă unei atracții. </a:t>
            </a:r>
          </a:p>
          <a:p>
            <a:pPr marL="502920" indent="-457200">
              <a:buAutoNum type="arabicParenR"/>
            </a:pPr>
            <a:endParaRPr lang="ro-RO" dirty="0"/>
          </a:p>
          <a:p>
            <a:endParaRPr lang="ro-RO" dirty="0"/>
          </a:p>
        </p:txBody>
      </p:sp>
    </p:spTree>
    <p:extLst>
      <p:ext uri="{BB962C8B-B14F-4D97-AF65-F5344CB8AC3E}">
        <p14:creationId xmlns:p14="http://schemas.microsoft.com/office/powerpoint/2010/main" val="1915615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a:xfrm>
            <a:off x="989399" y="395289"/>
            <a:ext cx="10809023" cy="1112836"/>
          </a:xfrm>
        </p:spPr>
        <p:txBody>
          <a:bodyPr>
            <a:normAutofit fontScale="90000"/>
          </a:bodyPr>
          <a:lstStyle/>
          <a:p>
            <a:r>
              <a:rPr lang="ro-RO" dirty="0">
                <a:latin typeface="+mn-lt"/>
              </a:rPr>
              <a:t>Generarea mesajelor de eroare cu ajutorul</a:t>
            </a:r>
            <a:r>
              <a:rPr lang="en-US" dirty="0">
                <a:latin typeface="+mn-lt"/>
              </a:rPr>
              <a:t> </a:t>
            </a:r>
            <a:r>
              <a:rPr lang="ro-RO" dirty="0">
                <a:latin typeface="+mn-lt"/>
              </a:rPr>
              <a:t>RAISERROR</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075354" cy="4954572"/>
          </a:xfrm>
        </p:spPr>
        <p:txBody>
          <a:bodyPr/>
          <a:lstStyle/>
          <a:p>
            <a:r>
              <a:rPr lang="ro-RO" dirty="0"/>
              <a:t>Putem folosi </a:t>
            </a:r>
            <a:r>
              <a:rPr lang="ro-RO" b="1" dirty="0">
                <a:solidFill>
                  <a:srgbClr val="FF0000">
                    <a:alpha val="60000"/>
                  </a:srgbClr>
                </a:solidFill>
              </a:rPr>
              <a:t>RAISERROR</a:t>
            </a:r>
            <a:r>
              <a:rPr lang="ro-RO" dirty="0"/>
              <a:t> pentru a genera mesaje de eroare și pentru a iniția procesarea erorilor pentru sesiune</a:t>
            </a:r>
          </a:p>
          <a:p>
            <a:r>
              <a:rPr lang="ro-RO" b="1" dirty="0"/>
              <a:t>Sintaxa</a:t>
            </a:r>
            <a:r>
              <a:rPr lang="ro-RO" dirty="0"/>
              <a:t>:</a:t>
            </a:r>
          </a:p>
          <a:p>
            <a:pPr marL="0" indent="0">
              <a:buNone/>
            </a:pPr>
            <a:r>
              <a:rPr lang="en-US" dirty="0"/>
              <a:t>	</a:t>
            </a:r>
            <a:r>
              <a:rPr lang="ro-RO" sz="1800" dirty="0">
                <a:latin typeface="Consolas" panose="020B0609020204030204" pitchFamily="49" charset="0"/>
              </a:rPr>
              <a:t>RAISERROR ( </a:t>
            </a:r>
            <a:r>
              <a:rPr lang="en-US" sz="1800" dirty="0">
                <a:latin typeface="Consolas" panose="020B0609020204030204" pitchFamily="49" charset="0"/>
              </a:rPr>
              <a:t>{ </a:t>
            </a:r>
            <a:r>
              <a:rPr lang="en-US" sz="1800" dirty="0" err="1">
                <a:latin typeface="Consolas" panose="020B0609020204030204" pitchFamily="49" charset="0"/>
              </a:rPr>
              <a:t>msg_id</a:t>
            </a:r>
            <a:r>
              <a:rPr lang="en-US" sz="1800" dirty="0">
                <a:latin typeface="Consolas" panose="020B0609020204030204" pitchFamily="49" charset="0"/>
              </a:rPr>
              <a:t> | </a:t>
            </a:r>
            <a:r>
              <a:rPr lang="en-US" sz="1800" dirty="0" err="1">
                <a:latin typeface="Consolas" panose="020B0609020204030204" pitchFamily="49" charset="0"/>
              </a:rPr>
              <a:t>msg_str</a:t>
            </a:r>
            <a:r>
              <a:rPr lang="en-US" sz="1800" dirty="0">
                <a:latin typeface="Consolas" panose="020B0609020204030204" pitchFamily="49" charset="0"/>
              </a:rPr>
              <a:t> | @local_variable} {, severity, state} )</a:t>
            </a:r>
          </a:p>
          <a:p>
            <a:r>
              <a:rPr lang="en-US" b="1" dirty="0"/>
              <a:t>RAISERROR</a:t>
            </a:r>
            <a:r>
              <a:rPr lang="en-US" dirty="0"/>
              <a:t> </a:t>
            </a:r>
            <a:r>
              <a:rPr lang="en-US" dirty="0" err="1"/>
              <a:t>poate</a:t>
            </a:r>
            <a:r>
              <a:rPr lang="en-US" dirty="0"/>
              <a:t> </a:t>
            </a:r>
            <a:r>
              <a:rPr lang="en-US" dirty="0" err="1"/>
              <a:t>referi</a:t>
            </a:r>
            <a:r>
              <a:rPr lang="en-US" dirty="0"/>
              <a:t> un </a:t>
            </a:r>
            <a:r>
              <a:rPr lang="en-US" dirty="0" err="1"/>
              <a:t>mesaj</a:t>
            </a:r>
            <a:r>
              <a:rPr lang="en-US" dirty="0"/>
              <a:t> </a:t>
            </a:r>
            <a:r>
              <a:rPr lang="en-US" dirty="0" err="1"/>
              <a:t>definit</a:t>
            </a:r>
            <a:r>
              <a:rPr lang="en-US" dirty="0"/>
              <a:t> de </a:t>
            </a:r>
            <a:r>
              <a:rPr lang="en-US" dirty="0" err="1"/>
              <a:t>utilizator</a:t>
            </a:r>
            <a:r>
              <a:rPr lang="en-US" dirty="0"/>
              <a:t> </a:t>
            </a:r>
            <a:r>
              <a:rPr lang="en-US" dirty="0" err="1"/>
              <a:t>stocat</a:t>
            </a:r>
            <a:r>
              <a:rPr lang="en-US" dirty="0"/>
              <a:t> </a:t>
            </a:r>
            <a:r>
              <a:rPr lang="ro-RO" dirty="0"/>
              <a:t>în </a:t>
            </a:r>
            <a:r>
              <a:rPr lang="ro-RO" b="1" dirty="0"/>
              <a:t>sys.messages catalog view </a:t>
            </a:r>
            <a:r>
              <a:rPr lang="ro-RO" dirty="0"/>
              <a:t>sau poate </a:t>
            </a:r>
            <a:r>
              <a:rPr lang="ro-RO" b="1" dirty="0"/>
              <a:t>construi un mesaj în mod dinamic</a:t>
            </a:r>
          </a:p>
          <a:p>
            <a:r>
              <a:rPr lang="ro-RO" b="1" i="1" dirty="0"/>
              <a:t>Severity</a:t>
            </a:r>
            <a:r>
              <a:rPr lang="ro-RO" dirty="0"/>
              <a:t> reprezintă </a:t>
            </a:r>
            <a:r>
              <a:rPr lang="ro-RO" b="1" dirty="0"/>
              <a:t>nivelul de severitate </a:t>
            </a:r>
            <a:r>
              <a:rPr lang="ro-RO" dirty="0"/>
              <a:t>definit de utilizator asociat mesajului </a:t>
            </a:r>
            <a:r>
              <a:rPr lang="en-US" dirty="0"/>
              <a:t>    </a:t>
            </a:r>
            <a:r>
              <a:rPr lang="ro-RO" dirty="0"/>
              <a:t>(utilizatorii pot specifica un nivel de severitate între 0 și 18)</a:t>
            </a:r>
          </a:p>
          <a:p>
            <a:endParaRPr lang="ro-RO" b="1" dirty="0"/>
          </a:p>
          <a:p>
            <a:endParaRPr lang="ro-RO" dirty="0"/>
          </a:p>
          <a:p>
            <a:endParaRPr lang="ro-RO" dirty="0"/>
          </a:p>
          <a:p>
            <a:endParaRPr lang="ro-RO" dirty="0"/>
          </a:p>
        </p:txBody>
      </p:sp>
    </p:spTree>
    <p:extLst>
      <p:ext uri="{BB962C8B-B14F-4D97-AF65-F5344CB8AC3E}">
        <p14:creationId xmlns:p14="http://schemas.microsoft.com/office/powerpoint/2010/main" val="291649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a:xfrm>
            <a:off x="989399" y="395289"/>
            <a:ext cx="10809024" cy="1112836"/>
          </a:xfrm>
        </p:spPr>
        <p:txBody>
          <a:bodyPr>
            <a:normAutofit fontScale="90000"/>
          </a:bodyPr>
          <a:lstStyle/>
          <a:p>
            <a:r>
              <a:rPr lang="ro-RO" dirty="0">
                <a:latin typeface="+mn-lt"/>
              </a:rPr>
              <a:t>Generarea mesajelor de eroare cu ajutorul RAISERROR</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1004332" cy="5172075"/>
          </a:xfrm>
        </p:spPr>
        <p:txBody>
          <a:bodyPr>
            <a:normAutofit/>
          </a:bodyPr>
          <a:lstStyle/>
          <a:p>
            <a:r>
              <a:rPr lang="ro-RO" dirty="0"/>
              <a:t>Putem modifica definiția procedurii stocate astfel încât să genereze un mesaj de eroare dacă </a:t>
            </a:r>
            <a:r>
              <a:rPr lang="ro-RO" b="1" dirty="0"/>
              <a:t>nu</a:t>
            </a:r>
            <a:r>
              <a:rPr lang="ro-RO" dirty="0"/>
              <a:t> se găsește nicio atracție pentru vârsta minimă recomandată furnizată prin intermediul parametrului de intrare:  </a:t>
            </a:r>
          </a:p>
          <a:p>
            <a:pPr marL="0" indent="0">
              <a:buNone/>
            </a:pPr>
            <a:r>
              <a:rPr lang="en-US" sz="1800" dirty="0">
                <a:solidFill>
                  <a:schemeClr val="accent1">
                    <a:lumMod val="75000"/>
                    <a:alpha val="60000"/>
                  </a:schemeClr>
                </a:solidFill>
                <a:latin typeface="Consolas" panose="020B0609020204030204" pitchFamily="49" charset="0"/>
              </a:rPr>
              <a:t>	</a:t>
            </a:r>
            <a:r>
              <a:rPr lang="ro-RO" sz="1800" dirty="0">
                <a:solidFill>
                  <a:srgbClr val="0000FF"/>
                </a:solidFill>
                <a:latin typeface="Consolas" panose="020B0609020204030204" pitchFamily="49" charset="0"/>
              </a:rPr>
              <a:t>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ReturneazaAtractiiCuVarstaMin @varsta_min </a:t>
            </a:r>
            <a:r>
              <a:rPr lang="ro-RO" sz="1800" dirty="0">
                <a:solidFill>
                  <a:srgbClr val="0000FF"/>
                </a:solidFill>
                <a:latin typeface="Consolas" panose="020B0609020204030204" pitchFamily="49" charset="0"/>
              </a:rPr>
              <a:t>INT</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p>
          <a:p>
            <a:pPr marL="0" indent="0">
              <a:buNone/>
            </a:pPr>
            <a:r>
              <a:rPr lang="en-US" sz="1800" dirty="0">
                <a:solidFill>
                  <a:srgbClr val="000000"/>
                </a:solidFill>
                <a:latin typeface="Consolas" panose="020B0609020204030204" pitchFamily="49" charset="0"/>
              </a:rPr>
              <a:t>	</a:t>
            </a:r>
            <a:r>
              <a:rPr lang="ro-RO" sz="1800" dirty="0">
                <a:solidFill>
                  <a:srgbClr val="000000"/>
                </a:solidFill>
                <a:latin typeface="Consolas" panose="020B0609020204030204" pitchFamily="49" charset="0"/>
              </a:rPr>
              <a:t>@nr_atractii </a:t>
            </a:r>
            <a:r>
              <a:rPr lang="ro-RO" sz="1800" dirty="0">
                <a:solidFill>
                  <a:srgbClr val="0000FF"/>
                </a:solidFill>
                <a:latin typeface="Consolas" panose="020B0609020204030204" pitchFamily="49" charset="0"/>
              </a:rPr>
              <a:t>INT</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OUTPUT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@nr_atractii</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IF</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@nr_atractii</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0</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pt-BR"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	</a:t>
            </a:r>
            <a:r>
              <a:rPr lang="pt-BR" sz="1800" dirty="0">
                <a:solidFill>
                  <a:srgbClr val="0000FF"/>
                </a:solidFill>
                <a:latin typeface="Consolas" panose="020B0609020204030204" pitchFamily="49" charset="0"/>
              </a:rPr>
              <a:t>RAISERROR</a:t>
            </a:r>
            <a:r>
              <a:rPr lang="pt-BR" sz="1800" dirty="0">
                <a:solidFill>
                  <a:srgbClr val="808080"/>
                </a:solidFill>
                <a:latin typeface="Consolas" panose="020B0609020204030204" pitchFamily="49" charset="0"/>
              </a:rPr>
              <a:t>(</a:t>
            </a:r>
            <a:r>
              <a:rPr lang="pt-BR" sz="1800" dirty="0">
                <a:solidFill>
                  <a:srgbClr val="FF0000"/>
                </a:solidFill>
                <a:latin typeface="Consolas" panose="020B0609020204030204" pitchFamily="49" charset="0"/>
              </a:rPr>
              <a:t>'Nu a fost returnata nicio atractie!'</a:t>
            </a:r>
            <a:r>
              <a:rPr lang="pt-BR" sz="1800" dirty="0">
                <a:solidFill>
                  <a:srgbClr val="808080"/>
                </a:solidFill>
                <a:latin typeface="Consolas" panose="020B0609020204030204" pitchFamily="49" charset="0"/>
              </a:rPr>
              <a:t>,</a:t>
            </a:r>
            <a:r>
              <a:rPr lang="pt-BR" sz="1800" dirty="0">
                <a:solidFill>
                  <a:srgbClr val="000000"/>
                </a:solidFill>
                <a:latin typeface="Consolas" panose="020B0609020204030204" pitchFamily="49" charset="0"/>
              </a:rPr>
              <a:t>16</a:t>
            </a:r>
            <a:r>
              <a:rPr lang="pt-BR" sz="1800" dirty="0">
                <a:solidFill>
                  <a:srgbClr val="808080"/>
                </a:solidFill>
                <a:latin typeface="Consolas" panose="020B0609020204030204" pitchFamily="49" charset="0"/>
              </a:rPr>
              <a:t>,</a:t>
            </a:r>
            <a:r>
              <a:rPr lang="pt-BR" sz="1800" dirty="0">
                <a:solidFill>
                  <a:srgbClr val="000000"/>
                </a:solidFill>
                <a:latin typeface="Consolas" panose="020B0609020204030204" pitchFamily="49" charset="0"/>
              </a:rPr>
              <a:t>1</a:t>
            </a:r>
            <a:r>
              <a:rPr lang="pt-BR" sz="1800" dirty="0">
                <a:solidFill>
                  <a:srgbClr val="808080"/>
                </a:solidFill>
                <a:latin typeface="Consolas" panose="020B0609020204030204" pitchFamily="49" charset="0"/>
              </a:rPr>
              <a:t>);</a:t>
            </a:r>
            <a:endParaRPr lang="pt-BR"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62874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Ștergerea procedurilor 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649226" cy="4776786"/>
          </a:xfrm>
        </p:spPr>
        <p:txBody>
          <a:bodyPr/>
          <a:lstStyle/>
          <a:p>
            <a:r>
              <a:rPr lang="ro-RO" dirty="0"/>
              <a:t>Procedurile stocate se pot </a:t>
            </a:r>
            <a:r>
              <a:rPr lang="ro-RO" b="1" dirty="0"/>
              <a:t>șterge</a:t>
            </a:r>
            <a:r>
              <a:rPr lang="ro-RO" dirty="0"/>
              <a:t> cu ajutorul instrucțiunii </a:t>
            </a:r>
            <a:r>
              <a:rPr lang="ro-RO" b="1" dirty="0"/>
              <a:t>DROP PROCEDURE</a:t>
            </a:r>
            <a:r>
              <a:rPr lang="ro-RO" dirty="0"/>
              <a:t>:</a:t>
            </a:r>
          </a:p>
          <a:p>
            <a:pPr marL="0" indent="0">
              <a:buNone/>
            </a:pPr>
            <a:r>
              <a:rPr lang="en-US" sz="1800" dirty="0">
                <a:solidFill>
                  <a:srgbClr val="0000FF"/>
                </a:solidFill>
                <a:latin typeface="Consolas" panose="020B0609020204030204" pitchFamily="49" charset="0"/>
              </a:rPr>
              <a:t>	</a:t>
            </a:r>
            <a:r>
              <a:rPr lang="en-US" sz="1800" i="0" dirty="0">
                <a:solidFill>
                  <a:schemeClr val="accent1">
                    <a:lumMod val="75000"/>
                    <a:alpha val="60000"/>
                  </a:schemeClr>
                </a:solidFill>
              </a:rPr>
              <a:t> --</a:t>
            </a:r>
            <a:r>
              <a:rPr lang="ro-RO" sz="1800" i="0" dirty="0">
                <a:solidFill>
                  <a:schemeClr val="accent1">
                    <a:lumMod val="75000"/>
                    <a:alpha val="60000"/>
                  </a:schemeClr>
                </a:solidFill>
              </a:rPr>
              <a:t>Exemplu de ștergere a unei proce</a:t>
            </a:r>
            <a:r>
              <a:rPr lang="ro-RO" sz="1800" dirty="0">
                <a:solidFill>
                  <a:schemeClr val="accent1">
                    <a:lumMod val="75000"/>
                    <a:alpha val="60000"/>
                  </a:schemeClr>
                </a:solidFill>
              </a:rPr>
              <a:t>duri stocate </a:t>
            </a:r>
            <a:endParaRPr lang="en-US" sz="1800" dirty="0">
              <a:solidFill>
                <a:srgbClr val="0000FF"/>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DROP</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ReturneazaAtractiiCuVarstaMin</a:t>
            </a:r>
            <a:r>
              <a:rPr lang="ro-RO" sz="1800" dirty="0">
                <a:solidFill>
                  <a:srgbClr val="808080"/>
                </a:solidFill>
                <a:latin typeface="Consolas" panose="020B0609020204030204" pitchFamily="49" charset="0"/>
              </a:rPr>
              <a:t>;</a:t>
            </a:r>
          </a:p>
          <a:p>
            <a:pPr marL="0" indent="0">
              <a:buNone/>
            </a:pPr>
            <a:r>
              <a:rPr lang="ro-RO" sz="1800" i="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Exemplu de ștergere a unei proce</a:t>
            </a:r>
            <a:r>
              <a:rPr lang="ro-RO" sz="1800" dirty="0">
                <a:solidFill>
                  <a:schemeClr val="accent1">
                    <a:lumMod val="75000"/>
                    <a:alpha val="60000"/>
                  </a:schemeClr>
                </a:solidFill>
              </a:rPr>
              <a:t>duri stocate în care numele procedurii este prefixat </a:t>
            </a:r>
            <a:r>
              <a:rPr lang="en-US" sz="1800" dirty="0">
                <a:solidFill>
                  <a:schemeClr val="accent1">
                    <a:lumMod val="75000"/>
                    <a:alpha val="60000"/>
                  </a:schemeClr>
                </a:solidFill>
              </a:rPr>
              <a:t>cu</a:t>
            </a:r>
            <a:r>
              <a:rPr lang="ro-RO" sz="1800" dirty="0">
                <a:solidFill>
                  <a:schemeClr val="accent1">
                    <a:lumMod val="75000"/>
                    <a:alpha val="60000"/>
                  </a:schemeClr>
                </a:solidFill>
              </a:rPr>
              <a:t> </a:t>
            </a:r>
            <a:r>
              <a:rPr lang="en-US" sz="1800" dirty="0">
                <a:solidFill>
                  <a:schemeClr val="accent1">
                    <a:lumMod val="75000"/>
                    <a:alpha val="60000"/>
                  </a:schemeClr>
                </a:solidFill>
              </a:rPr>
              <a:t>	</a:t>
            </a:r>
            <a:r>
              <a:rPr lang="ro-RO" sz="1800" dirty="0">
                <a:solidFill>
                  <a:schemeClr val="accent1">
                    <a:lumMod val="75000"/>
                    <a:alpha val="60000"/>
                  </a:schemeClr>
                </a:solidFill>
              </a:rPr>
              <a:t>numele schemei (în acest caz este vorba de schema default, </a:t>
            </a:r>
            <a:r>
              <a:rPr lang="ro-RO" sz="1800" i="1" dirty="0">
                <a:solidFill>
                  <a:schemeClr val="accent1">
                    <a:lumMod val="75000"/>
                    <a:alpha val="60000"/>
                  </a:schemeClr>
                </a:solidFill>
              </a:rPr>
              <a:t>dbo</a:t>
            </a:r>
            <a:r>
              <a:rPr lang="ro-RO" sz="1800" dirty="0">
                <a:solidFill>
                  <a:schemeClr val="accent1">
                    <a:lumMod val="75000"/>
                    <a:alpha val="60000"/>
                  </a:schemeClr>
                </a:solidFill>
              </a:rPr>
              <a:t>)</a:t>
            </a:r>
            <a:endParaRPr lang="en-US" sz="1800" dirty="0">
              <a:solidFill>
                <a:srgbClr val="80808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DROP</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dbo</a:t>
            </a:r>
            <a:r>
              <a:rPr lang="en-US" sz="1800" dirty="0">
                <a:solidFill>
                  <a:srgbClr val="000000"/>
                </a:solidFill>
                <a:latin typeface="Consolas" panose="020B0609020204030204" pitchFamily="49" charset="0"/>
              </a:rPr>
              <a:t>.</a:t>
            </a:r>
            <a:r>
              <a:rPr lang="ro-RO" sz="1800" dirty="0">
                <a:solidFill>
                  <a:srgbClr val="000000"/>
                </a:solidFill>
                <a:latin typeface="Consolas" panose="020B0609020204030204" pitchFamily="49" charset="0"/>
              </a:rPr>
              <a:t>ReturneazaAtractiiCuVarstaMin</a:t>
            </a:r>
            <a:r>
              <a:rPr lang="ro-RO" sz="1800" dirty="0">
                <a:solidFill>
                  <a:srgbClr val="808080"/>
                </a:solidFill>
                <a:latin typeface="Consolas" panose="020B0609020204030204" pitchFamily="49" charset="0"/>
              </a:rPr>
              <a:t>;</a:t>
            </a:r>
            <a:endParaRPr lang="ro-RO" dirty="0"/>
          </a:p>
          <a:p>
            <a:endParaRPr lang="ro-RO" dirty="0"/>
          </a:p>
        </p:txBody>
      </p:sp>
    </p:spTree>
    <p:extLst>
      <p:ext uri="{BB962C8B-B14F-4D97-AF65-F5344CB8AC3E}">
        <p14:creationId xmlns:p14="http://schemas.microsoft.com/office/powerpoint/2010/main" val="358542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Variabile globale </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4"/>
            <a:ext cx="10853412" cy="5043349"/>
          </a:xfrm>
        </p:spPr>
        <p:txBody>
          <a:bodyPr/>
          <a:lstStyle/>
          <a:p>
            <a:r>
              <a:rPr lang="ro-RO" dirty="0"/>
              <a:t>În Microsoft SQL Server se pot utiliza </a:t>
            </a:r>
            <a:r>
              <a:rPr lang="ro-RO" b="1" dirty="0"/>
              <a:t>variabile globale</a:t>
            </a:r>
            <a:r>
              <a:rPr lang="ro-RO" dirty="0"/>
              <a:t>, care </a:t>
            </a:r>
            <a:r>
              <a:rPr lang="ro-RO" b="1" dirty="0"/>
              <a:t>nu</a:t>
            </a:r>
            <a:r>
              <a:rPr lang="ro-RO" dirty="0"/>
              <a:t> trebuie declarate (ele fiind </a:t>
            </a:r>
            <a:r>
              <a:rPr lang="ro-RO" b="1" dirty="0"/>
              <a:t>funcții sistem</a:t>
            </a:r>
            <a:r>
              <a:rPr lang="ro-RO" dirty="0"/>
              <a:t>)</a:t>
            </a:r>
          </a:p>
          <a:p>
            <a:r>
              <a:rPr lang="ro-RO" dirty="0"/>
              <a:t>Numele variabilelor globale din Microsoft SQL Server începe cu </a:t>
            </a:r>
            <a:r>
              <a:rPr lang="ro-RO" b="1" dirty="0"/>
              <a:t>@@</a:t>
            </a:r>
          </a:p>
          <a:p>
            <a:r>
              <a:rPr lang="ro-RO" dirty="0"/>
              <a:t>Server-ul menține în permanență valorile variabilelor globale, care reprezintă informații specifice server-ului sau sesiunii curente</a:t>
            </a:r>
            <a:endParaRPr lang="en-US" dirty="0"/>
          </a:p>
          <a:p>
            <a:endParaRPr lang="ro-RO" dirty="0"/>
          </a:p>
        </p:txBody>
      </p:sp>
    </p:spTree>
    <p:extLst>
      <p:ext uri="{BB962C8B-B14F-4D97-AF65-F5344CB8AC3E}">
        <p14:creationId xmlns:p14="http://schemas.microsoft.com/office/powerpoint/2010/main" val="56087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Exemple de variabile globale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738002" cy="5061104"/>
          </a:xfrm>
        </p:spPr>
        <p:txBody>
          <a:bodyPr>
            <a:normAutofit/>
          </a:bodyPr>
          <a:lstStyle/>
          <a:p>
            <a:r>
              <a:rPr lang="en-US" b="1" dirty="0"/>
              <a:t>@@ERROR </a:t>
            </a:r>
            <a:r>
              <a:rPr lang="en-US" dirty="0"/>
              <a:t>– </a:t>
            </a:r>
            <a:r>
              <a:rPr lang="ro-RO" dirty="0"/>
              <a:t>conține</a:t>
            </a:r>
            <a:r>
              <a:rPr lang="en-US" dirty="0"/>
              <a:t> </a:t>
            </a:r>
            <a:r>
              <a:rPr lang="ro-RO" dirty="0"/>
              <a:t>numărul celei mai recente erori Transact</a:t>
            </a:r>
            <a:r>
              <a:rPr lang="en-US" dirty="0"/>
              <a:t>-</a:t>
            </a:r>
            <a:r>
              <a:rPr lang="ro-RO" dirty="0"/>
              <a:t>SQL (</a:t>
            </a:r>
            <a:r>
              <a:rPr lang="en-US" dirty="0"/>
              <a:t>0 </a:t>
            </a:r>
            <a:r>
              <a:rPr lang="ro-RO" dirty="0"/>
              <a:t>indică faptul că nu s-a produs nicio eroare)</a:t>
            </a:r>
            <a:r>
              <a:rPr lang="en-US" dirty="0"/>
              <a:t> </a:t>
            </a:r>
          </a:p>
          <a:p>
            <a:r>
              <a:rPr lang="en-US" b="1" dirty="0"/>
              <a:t>@@IDENTITY </a:t>
            </a:r>
            <a:r>
              <a:rPr lang="en-US" dirty="0"/>
              <a:t>– </a:t>
            </a:r>
            <a:r>
              <a:rPr lang="ro-RO" dirty="0"/>
              <a:t>conține</a:t>
            </a:r>
            <a:r>
              <a:rPr lang="en-US" dirty="0"/>
              <a:t> </a:t>
            </a:r>
            <a:r>
              <a:rPr lang="ro-RO" dirty="0"/>
              <a:t>valoarea câmpului </a:t>
            </a:r>
            <a:r>
              <a:rPr lang="en-US" dirty="0"/>
              <a:t>IDENTITY </a:t>
            </a:r>
            <a:r>
              <a:rPr lang="ro-RO" dirty="0"/>
              <a:t>al ultimei înregistrări inserate</a:t>
            </a:r>
            <a:r>
              <a:rPr lang="en-US" dirty="0"/>
              <a:t> </a:t>
            </a:r>
          </a:p>
          <a:p>
            <a:r>
              <a:rPr lang="en-US" b="1" dirty="0"/>
              <a:t>@@ROWCOUN</a:t>
            </a:r>
            <a:r>
              <a:rPr lang="ro-RO" b="1" dirty="0"/>
              <a:t>T </a:t>
            </a:r>
            <a:r>
              <a:rPr lang="ro-RO" dirty="0"/>
              <a:t>– conține numărul de înregistrări afectate de cea mai recentă instrucțiune </a:t>
            </a:r>
            <a:r>
              <a:rPr lang="en-US" dirty="0" err="1"/>
              <a:t>executat</a:t>
            </a:r>
            <a:r>
              <a:rPr lang="ro-RO" dirty="0"/>
              <a:t>ă</a:t>
            </a:r>
            <a:endParaRPr lang="en-US" dirty="0"/>
          </a:p>
          <a:p>
            <a:r>
              <a:rPr lang="en-US" b="1" dirty="0"/>
              <a:t>@@SERVERNAME </a:t>
            </a:r>
            <a:r>
              <a:rPr lang="en-US" dirty="0"/>
              <a:t>– </a:t>
            </a:r>
            <a:r>
              <a:rPr lang="ro-RO" dirty="0"/>
              <a:t>conține numele instanței</a:t>
            </a:r>
            <a:endParaRPr lang="en-US" dirty="0"/>
          </a:p>
          <a:p>
            <a:r>
              <a:rPr lang="en-US" b="1" dirty="0"/>
              <a:t>@@SPID </a:t>
            </a:r>
            <a:r>
              <a:rPr lang="en-US" dirty="0"/>
              <a:t>– </a:t>
            </a:r>
            <a:r>
              <a:rPr lang="ro-RO" dirty="0"/>
              <a:t>conține ID-ul de sesiune al procesului de utilizator curent </a:t>
            </a:r>
            <a:endParaRPr lang="en-US" dirty="0"/>
          </a:p>
          <a:p>
            <a:r>
              <a:rPr lang="en-US" b="1" dirty="0"/>
              <a:t>@@VERSION </a:t>
            </a:r>
            <a:r>
              <a:rPr lang="en-US" dirty="0"/>
              <a:t>– </a:t>
            </a:r>
            <a:r>
              <a:rPr lang="ro-RO" dirty="0"/>
              <a:t>conține informații</a:t>
            </a:r>
            <a:r>
              <a:rPr lang="it-IT" dirty="0"/>
              <a:t> </a:t>
            </a:r>
            <a:r>
              <a:rPr lang="ro-RO" dirty="0"/>
              <a:t>î</a:t>
            </a:r>
            <a:r>
              <a:rPr lang="it-IT" dirty="0"/>
              <a:t>n leg</a:t>
            </a:r>
            <a:r>
              <a:rPr lang="ro-RO" dirty="0"/>
              <a:t>ă</a:t>
            </a:r>
            <a:r>
              <a:rPr lang="it-IT" dirty="0"/>
              <a:t>tur</a:t>
            </a:r>
            <a:r>
              <a:rPr lang="ro-RO" dirty="0"/>
              <a:t>ă</a:t>
            </a:r>
            <a:r>
              <a:rPr lang="it-IT" dirty="0"/>
              <a:t> cu sistemul </a:t>
            </a:r>
            <a:r>
              <a:rPr lang="ro-RO" dirty="0"/>
              <a:t>ș</a:t>
            </a:r>
            <a:r>
              <a:rPr lang="it-IT" dirty="0"/>
              <a:t>i compilarea curent</a:t>
            </a:r>
            <a:r>
              <a:rPr lang="ro-RO" dirty="0"/>
              <a:t>ă</a:t>
            </a:r>
            <a:r>
              <a:rPr lang="it-IT" dirty="0"/>
              <a:t> a server-ului instalat</a:t>
            </a:r>
            <a:r>
              <a:rPr lang="ro-RO" dirty="0"/>
              <a:t>  </a:t>
            </a:r>
            <a:r>
              <a:rPr lang="en-US" dirty="0"/>
              <a:t> </a:t>
            </a:r>
          </a:p>
          <a:p>
            <a:pPr marL="0" indent="0">
              <a:buNone/>
            </a:pPr>
            <a:endParaRPr lang="en-US" dirty="0">
              <a:latin typeface="Consolas" panose="020B0609020204030204" pitchFamily="49" charset="0"/>
            </a:endParaRPr>
          </a:p>
          <a:p>
            <a:pPr marL="0" indent="0">
              <a:buNone/>
            </a:pPr>
            <a:endParaRPr lang="ro-RO" dirty="0"/>
          </a:p>
        </p:txBody>
      </p:sp>
    </p:spTree>
    <p:extLst>
      <p:ext uri="{BB962C8B-B14F-4D97-AF65-F5344CB8AC3E}">
        <p14:creationId xmlns:p14="http://schemas.microsoft.com/office/powerpoint/2010/main" val="2340509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a:latin typeface="+mn-lt"/>
              </a:rPr>
              <a:t>SET NOCOUNT</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658103" cy="4776786"/>
          </a:xfrm>
        </p:spPr>
        <p:txBody>
          <a:bodyPr/>
          <a:lstStyle/>
          <a:p>
            <a:r>
              <a:rPr lang="ro-RO" b="1" dirty="0"/>
              <a:t>SET NOCOUNT ON </a:t>
            </a:r>
            <a:r>
              <a:rPr lang="ro-RO" dirty="0"/>
              <a:t>– oprește returnarea mesajului cu numărul de înregistrări afectate de către ultima instrucțiune Transact-SQL sau procedură stocată </a:t>
            </a:r>
          </a:p>
          <a:p>
            <a:r>
              <a:rPr lang="ro-RO" b="1" dirty="0"/>
              <a:t>SET NOCOUNT OFF </a:t>
            </a:r>
            <a:r>
              <a:rPr lang="ro-RO" dirty="0"/>
              <a:t>– mesajul cu numărul de înregistrări afectate de către ultima instrucțiune Transact-SQL sau procedură stocată va fi returnat ca parte din </a:t>
            </a:r>
            <a:r>
              <a:rPr lang="ro-RO" i="1" dirty="0"/>
              <a:t>result set</a:t>
            </a:r>
          </a:p>
          <a:p>
            <a:r>
              <a:rPr lang="ro-RO" dirty="0"/>
              <a:t>Variabila globală </a:t>
            </a:r>
            <a:r>
              <a:rPr lang="ro-RO" b="1" dirty="0"/>
              <a:t>@@ROWCOUNT </a:t>
            </a:r>
            <a:r>
              <a:rPr lang="ro-RO" dirty="0"/>
              <a:t>va fi modificată întotdeauna</a:t>
            </a:r>
          </a:p>
          <a:p>
            <a:r>
              <a:rPr lang="ro-RO" dirty="0"/>
              <a:t>Dacă </a:t>
            </a:r>
            <a:r>
              <a:rPr lang="ro-RO" b="1" dirty="0"/>
              <a:t>NOCOUNT</a:t>
            </a:r>
            <a:r>
              <a:rPr lang="ro-RO" dirty="0"/>
              <a:t> este setat pe </a:t>
            </a:r>
            <a:r>
              <a:rPr lang="ro-RO" b="1" dirty="0"/>
              <a:t>ON</a:t>
            </a:r>
            <a:r>
              <a:rPr lang="ro-RO" dirty="0"/>
              <a:t>, performanța procedurilor stocate care conțin bucle Transact-SQL sau instrucțiuni care nu returnează multe date se va îmbunătăți (traficul pe rețea este redus)</a:t>
            </a:r>
            <a:endParaRPr lang="en-US" dirty="0"/>
          </a:p>
          <a:p>
            <a:pPr marL="0" indent="0">
              <a:buNone/>
            </a:pPr>
            <a:endParaRPr lang="ro-RO" dirty="0"/>
          </a:p>
        </p:txBody>
      </p:sp>
    </p:spTree>
    <p:extLst>
      <p:ext uri="{BB962C8B-B14F-4D97-AF65-F5344CB8AC3E}">
        <p14:creationId xmlns:p14="http://schemas.microsoft.com/office/powerpoint/2010/main" val="53066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3FBF9-67B6-2642-8C35-AE105B531182}"/>
              </a:ext>
            </a:extLst>
          </p:cNvPr>
          <p:cNvSpPr>
            <a:spLocks noGrp="1"/>
          </p:cNvSpPr>
          <p:nvPr>
            <p:ph type="title"/>
          </p:nvPr>
        </p:nvSpPr>
        <p:spPr/>
        <p:txBody>
          <a:bodyPr/>
          <a:lstStyle/>
          <a:p>
            <a:r>
              <a:rPr lang="en-US" dirty="0" err="1">
                <a:latin typeface="+mn-lt"/>
              </a:rPr>
              <a:t>Execu</a:t>
            </a:r>
            <a:r>
              <a:rPr lang="ro-RO" dirty="0">
                <a:latin typeface="+mn-lt"/>
              </a:rPr>
              <a:t>ție dinamică</a:t>
            </a:r>
            <a:endParaRPr lang="ro-RO" dirty="0"/>
          </a:p>
        </p:txBody>
      </p:sp>
      <p:sp>
        <p:nvSpPr>
          <p:cNvPr id="3" name="Content Placeholder 2">
            <a:extLst>
              <a:ext uri="{FF2B5EF4-FFF2-40B4-BE49-F238E27FC236}">
                <a16:creationId xmlns:a16="http://schemas.microsoft.com/office/drawing/2014/main" id="{3D7906E6-24D6-3AC6-0A49-9B194122FBE7}"/>
              </a:ext>
            </a:extLst>
          </p:cNvPr>
          <p:cNvSpPr>
            <a:spLocks noGrp="1"/>
          </p:cNvSpPr>
          <p:nvPr>
            <p:ph idx="1"/>
          </p:nvPr>
        </p:nvSpPr>
        <p:spPr>
          <a:xfrm>
            <a:off x="989399" y="1685924"/>
            <a:ext cx="10702491" cy="5172075"/>
          </a:xfrm>
        </p:spPr>
        <p:txBody>
          <a:bodyPr/>
          <a:lstStyle/>
          <a:p>
            <a:r>
              <a:rPr lang="ro-RO" b="1" dirty="0"/>
              <a:t>EXEC</a:t>
            </a:r>
            <a:r>
              <a:rPr lang="ro-RO" dirty="0"/>
              <a:t> </a:t>
            </a:r>
            <a:r>
              <a:rPr lang="en-US" dirty="0" err="1"/>
              <a:t>poate</a:t>
            </a:r>
            <a:r>
              <a:rPr lang="en-US" dirty="0"/>
              <a:t> fi</a:t>
            </a:r>
            <a:r>
              <a:rPr lang="ro-RO" dirty="0"/>
              <a:t> folosi</a:t>
            </a:r>
            <a:r>
              <a:rPr lang="en-US" dirty="0"/>
              <a:t>t</a:t>
            </a:r>
            <a:r>
              <a:rPr lang="ro-RO" dirty="0"/>
              <a:t> pentru a executa</a:t>
            </a:r>
            <a:r>
              <a:rPr lang="en-US" dirty="0"/>
              <a:t> cod</a:t>
            </a:r>
            <a:r>
              <a:rPr lang="ro-RO" dirty="0"/>
              <a:t> SQL în mod dinamic</a:t>
            </a:r>
          </a:p>
          <a:p>
            <a:r>
              <a:rPr lang="ro-RO" b="1" dirty="0"/>
              <a:t>EXEC</a:t>
            </a:r>
            <a:r>
              <a:rPr lang="ro-RO" dirty="0"/>
              <a:t> acceptă ca parametru un șir de caractere și execută codul SQL din interiorul acestuia</a:t>
            </a:r>
            <a:endParaRPr lang="en-US" dirty="0"/>
          </a:p>
          <a:p>
            <a:pPr marL="0" indent="0">
              <a:buNone/>
            </a:pPr>
            <a:r>
              <a:rPr lang="en-US" dirty="0">
                <a:solidFill>
                  <a:schemeClr val="accent1">
                    <a:lumMod val="75000"/>
                    <a:alpha val="60000"/>
                  </a:schemeClr>
                </a:solidFill>
              </a:rPr>
              <a:t>	</a:t>
            </a:r>
            <a:r>
              <a:rPr lang="en-US" sz="2000" i="0" dirty="0">
                <a:solidFill>
                  <a:schemeClr val="accent1">
                    <a:lumMod val="75000"/>
                    <a:alpha val="60000"/>
                  </a:schemeClr>
                </a:solidFill>
              </a:rPr>
              <a:t>--</a:t>
            </a:r>
            <a:r>
              <a:rPr lang="ro-RO" sz="2000" i="0" dirty="0">
                <a:solidFill>
                  <a:schemeClr val="accent1">
                    <a:lumMod val="75000"/>
                    <a:alpha val="60000"/>
                  </a:schemeClr>
                </a:solidFill>
              </a:rPr>
              <a:t>Exemplu </a:t>
            </a:r>
            <a:r>
              <a:rPr lang="ro-RO" dirty="0">
                <a:solidFill>
                  <a:schemeClr val="accent1">
                    <a:lumMod val="75000"/>
                    <a:alpha val="60000"/>
                  </a:schemeClr>
                </a:solidFill>
              </a:rPr>
              <a:t>de</a:t>
            </a:r>
            <a:r>
              <a:rPr lang="en-US" dirty="0">
                <a:solidFill>
                  <a:schemeClr val="accent1">
                    <a:lumMod val="75000"/>
                    <a:alpha val="60000"/>
                  </a:schemeClr>
                </a:solidFill>
              </a:rPr>
              <a:t> </a:t>
            </a:r>
            <a:r>
              <a:rPr lang="en-US" dirty="0" err="1">
                <a:solidFill>
                  <a:schemeClr val="accent1">
                    <a:lumMod val="75000"/>
                    <a:alpha val="60000"/>
                  </a:schemeClr>
                </a:solidFill>
              </a:rPr>
              <a:t>procedur</a:t>
            </a:r>
            <a:r>
              <a:rPr lang="ro-RO" dirty="0">
                <a:solidFill>
                  <a:schemeClr val="accent1">
                    <a:lumMod val="75000"/>
                    <a:alpha val="60000"/>
                  </a:schemeClr>
                </a:solidFill>
              </a:rPr>
              <a:t>ă stocată care execută cod SQL în mod dinamic</a:t>
            </a:r>
            <a:endParaRPr lang="ro-RO" dirty="0"/>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ReturneazaDateDinTabel @nume_tabel </a:t>
            </a:r>
            <a:r>
              <a:rPr lang="ro-RO" sz="1800" dirty="0">
                <a:solidFill>
                  <a:srgbClr val="0000FF"/>
                </a:solidFill>
                <a:latin typeface="Consolas" panose="020B0609020204030204" pitchFamily="49" charset="0"/>
              </a:rPr>
              <a:t>VARCHAR</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100</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EXEC</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'SELECT * FROM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nume_tabel</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380388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FE516-4812-9F6C-0A88-BAE9A2D88F57}"/>
              </a:ext>
            </a:extLst>
          </p:cNvPr>
          <p:cNvSpPr>
            <a:spLocks noGrp="1"/>
          </p:cNvSpPr>
          <p:nvPr>
            <p:ph type="title"/>
          </p:nvPr>
        </p:nvSpPr>
        <p:spPr/>
        <p:txBody>
          <a:bodyPr/>
          <a:lstStyle/>
          <a:p>
            <a:r>
              <a:rPr lang="en-US" dirty="0" err="1">
                <a:latin typeface="+mn-lt"/>
              </a:rPr>
              <a:t>Execu</a:t>
            </a:r>
            <a:r>
              <a:rPr lang="ro-RO" dirty="0">
                <a:latin typeface="+mn-lt"/>
              </a:rPr>
              <a:t>ție dinamică</a:t>
            </a:r>
            <a:endParaRPr lang="ro-RO" dirty="0"/>
          </a:p>
        </p:txBody>
      </p:sp>
      <p:sp>
        <p:nvSpPr>
          <p:cNvPr id="3" name="Content Placeholder 2">
            <a:extLst>
              <a:ext uri="{FF2B5EF4-FFF2-40B4-BE49-F238E27FC236}">
                <a16:creationId xmlns:a16="http://schemas.microsoft.com/office/drawing/2014/main" id="{7B042DC9-EA1E-6B95-505F-36E98F5D1873}"/>
              </a:ext>
            </a:extLst>
          </p:cNvPr>
          <p:cNvSpPr>
            <a:spLocks noGrp="1"/>
          </p:cNvSpPr>
          <p:nvPr>
            <p:ph idx="1"/>
          </p:nvPr>
        </p:nvSpPr>
        <p:spPr>
          <a:xfrm>
            <a:off x="989400" y="1685925"/>
            <a:ext cx="10213200" cy="4910184"/>
          </a:xfrm>
        </p:spPr>
        <p:txBody>
          <a:bodyPr/>
          <a:lstStyle/>
          <a:p>
            <a:r>
              <a:rPr lang="en-US" dirty="0" err="1"/>
              <a:t>Dezavantajele</a:t>
            </a:r>
            <a:r>
              <a:rPr lang="en-US" dirty="0"/>
              <a:t> </a:t>
            </a:r>
            <a:r>
              <a:rPr lang="en-US" dirty="0" err="1"/>
              <a:t>principale</a:t>
            </a:r>
            <a:r>
              <a:rPr lang="en-US" dirty="0"/>
              <a:t> ale </a:t>
            </a:r>
            <a:r>
              <a:rPr lang="en-US" dirty="0" err="1"/>
              <a:t>execu</a:t>
            </a:r>
            <a:r>
              <a:rPr lang="ro-RO" dirty="0"/>
              <a:t>ției dinamice sunt problemele de performanță și posibilele probleme de securitate</a:t>
            </a:r>
          </a:p>
          <a:p>
            <a:r>
              <a:rPr lang="ro-RO" dirty="0"/>
              <a:t>În locul instrucțiunii </a:t>
            </a:r>
            <a:r>
              <a:rPr lang="ro-RO" b="1" dirty="0"/>
              <a:t>EXEC</a:t>
            </a:r>
            <a:r>
              <a:rPr lang="ro-RO" dirty="0"/>
              <a:t> putem folosi procedura stocată </a:t>
            </a:r>
            <a:r>
              <a:rPr lang="ro-RO" b="1" dirty="0"/>
              <a:t>sp_executesql </a:t>
            </a:r>
          </a:p>
          <a:p>
            <a:r>
              <a:rPr lang="ro-RO" dirty="0"/>
              <a:t>Procedura stocată </a:t>
            </a:r>
            <a:r>
              <a:rPr lang="ro-RO" b="1" dirty="0"/>
              <a:t>sp_executesql </a:t>
            </a:r>
            <a:r>
              <a:rPr lang="ro-RO" dirty="0"/>
              <a:t>evită o mare parte din problemele generate de </a:t>
            </a:r>
            <a:r>
              <a:rPr lang="ro-RO" b="1" dirty="0"/>
              <a:t>SQL injection </a:t>
            </a:r>
            <a:r>
              <a:rPr lang="ro-RO" dirty="0"/>
              <a:t>și este uneori mult mai rapidă decât </a:t>
            </a:r>
            <a:r>
              <a:rPr lang="ro-RO" b="1" dirty="0"/>
              <a:t>EXEC</a:t>
            </a:r>
          </a:p>
          <a:p>
            <a:r>
              <a:rPr lang="ro-RO" dirty="0"/>
              <a:t>Spre deosebire de </a:t>
            </a:r>
            <a:r>
              <a:rPr lang="ro-RO" b="1" dirty="0"/>
              <a:t>EXEC</a:t>
            </a:r>
            <a:r>
              <a:rPr lang="ro-RO" dirty="0"/>
              <a:t>, </a:t>
            </a:r>
            <a:r>
              <a:rPr lang="ro-RO" b="1" dirty="0"/>
              <a:t>sp_executesql </a:t>
            </a:r>
            <a:r>
              <a:rPr lang="ro-RO" dirty="0"/>
              <a:t>suportă doar șiruri de caractere </a:t>
            </a:r>
            <a:r>
              <a:rPr lang="ro-RO" b="1" dirty="0"/>
              <a:t>Unicode</a:t>
            </a:r>
            <a:r>
              <a:rPr lang="ro-RO" dirty="0"/>
              <a:t> și </a:t>
            </a:r>
            <a:r>
              <a:rPr lang="ro-RO" b="1" dirty="0"/>
              <a:t>permite parametri de intrare și de ieșire</a:t>
            </a:r>
            <a:endParaRPr lang="en-US" b="1" dirty="0"/>
          </a:p>
          <a:p>
            <a:endParaRPr lang="ro-RO" dirty="0"/>
          </a:p>
        </p:txBody>
      </p:sp>
    </p:spTree>
    <p:extLst>
      <p:ext uri="{BB962C8B-B14F-4D97-AF65-F5344CB8AC3E}">
        <p14:creationId xmlns:p14="http://schemas.microsoft.com/office/powerpoint/2010/main" val="2495353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EACC-E18E-15BF-8984-3F25F135F148}"/>
              </a:ext>
            </a:extLst>
          </p:cNvPr>
          <p:cNvSpPr>
            <a:spLocks noGrp="1"/>
          </p:cNvSpPr>
          <p:nvPr>
            <p:ph type="title"/>
          </p:nvPr>
        </p:nvSpPr>
        <p:spPr/>
        <p:txBody>
          <a:bodyPr/>
          <a:lstStyle/>
          <a:p>
            <a:r>
              <a:rPr lang="en-US" dirty="0" err="1">
                <a:latin typeface="+mn-lt"/>
              </a:rPr>
              <a:t>Execu</a:t>
            </a:r>
            <a:r>
              <a:rPr lang="ro-RO" dirty="0">
                <a:latin typeface="+mn-lt"/>
              </a:rPr>
              <a:t>ție dinamică</a:t>
            </a:r>
            <a:endParaRPr lang="ro-RO" dirty="0"/>
          </a:p>
        </p:txBody>
      </p:sp>
      <p:sp>
        <p:nvSpPr>
          <p:cNvPr id="3" name="Content Placeholder 2">
            <a:extLst>
              <a:ext uri="{FF2B5EF4-FFF2-40B4-BE49-F238E27FC236}">
                <a16:creationId xmlns:a16="http://schemas.microsoft.com/office/drawing/2014/main" id="{AE704B89-94DC-3564-BD0B-88CF669A02BB}"/>
              </a:ext>
            </a:extLst>
          </p:cNvPr>
          <p:cNvSpPr>
            <a:spLocks noGrp="1"/>
          </p:cNvSpPr>
          <p:nvPr>
            <p:ph idx="1"/>
          </p:nvPr>
        </p:nvSpPr>
        <p:spPr>
          <a:xfrm>
            <a:off x="989400" y="1685925"/>
            <a:ext cx="10684736" cy="4998960"/>
          </a:xfrm>
        </p:spPr>
        <p:txBody>
          <a:bodyPr/>
          <a:lstStyle/>
          <a:p>
            <a:r>
              <a:rPr lang="en-US" dirty="0" err="1"/>
              <a:t>Exemplu</a:t>
            </a:r>
            <a:r>
              <a:rPr lang="en-US" dirty="0"/>
              <a:t> de </a:t>
            </a:r>
            <a:r>
              <a:rPr lang="en-US" dirty="0" err="1"/>
              <a:t>utilizare</a:t>
            </a:r>
            <a:r>
              <a:rPr lang="en-US" dirty="0"/>
              <a:t> a </a:t>
            </a:r>
            <a:r>
              <a:rPr lang="en-US" dirty="0" err="1"/>
              <a:t>procedurii</a:t>
            </a:r>
            <a:r>
              <a:rPr lang="en-US" dirty="0"/>
              <a:t> </a:t>
            </a:r>
            <a:r>
              <a:rPr lang="en-US" dirty="0" err="1"/>
              <a:t>stocate</a:t>
            </a:r>
            <a:r>
              <a:rPr lang="en-US" dirty="0"/>
              <a:t> </a:t>
            </a:r>
            <a:r>
              <a:rPr lang="en-US" b="1" dirty="0" err="1"/>
              <a:t>sp_executesql</a:t>
            </a:r>
            <a:r>
              <a:rPr lang="en-US" dirty="0"/>
              <a:t>:</a:t>
            </a: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DECLARE</a:t>
            </a:r>
            <a:r>
              <a:rPr lang="ro-RO" sz="1800" dirty="0">
                <a:solidFill>
                  <a:srgbClr val="000000"/>
                </a:solidFill>
                <a:latin typeface="Consolas" panose="020B0609020204030204" pitchFamily="49" charset="0"/>
              </a:rPr>
              <a:t> @sql </a:t>
            </a:r>
            <a:r>
              <a:rPr lang="ro-RO" sz="1800" dirty="0">
                <a:solidFill>
                  <a:srgbClr val="0000FF"/>
                </a:solidFill>
                <a:latin typeface="Consolas" panose="020B0609020204030204" pitchFamily="49" charset="0"/>
              </a:rPr>
              <a:t>NVARCHAR</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100</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SET</a:t>
            </a:r>
            <a:r>
              <a:rPr lang="en-US" sz="1800" dirty="0">
                <a:solidFill>
                  <a:srgbClr val="000000"/>
                </a:solidFill>
                <a:latin typeface="Consolas" panose="020B0609020204030204" pitchFamily="49" charset="0"/>
              </a:rPr>
              <a:t> @sql</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N'SELECT </a:t>
            </a:r>
            <a:r>
              <a:rPr lang="en-US" sz="1800" dirty="0" err="1">
                <a:solidFill>
                  <a:srgbClr val="FF0000"/>
                </a:solidFill>
                <a:latin typeface="Consolas" panose="020B0609020204030204" pitchFamily="49" charset="0"/>
              </a:rPr>
              <a:t>nume</a:t>
            </a: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descriere</a:t>
            </a:r>
            <a:r>
              <a:rPr lang="en-US" sz="1800" dirty="0">
                <a:solidFill>
                  <a:srgbClr val="FF0000"/>
                </a:solidFill>
                <a:latin typeface="Consolas" panose="020B0609020204030204" pitchFamily="49" charset="0"/>
              </a:rPr>
              <a:t> FROM </a:t>
            </a:r>
            <a:r>
              <a:rPr lang="en-US" sz="1800" dirty="0" err="1">
                <a:solidFill>
                  <a:srgbClr val="FF0000"/>
                </a:solidFill>
                <a:latin typeface="Consolas" panose="020B0609020204030204" pitchFamily="49" charset="0"/>
              </a:rPr>
              <a:t>Sectiuni</a:t>
            </a:r>
            <a:r>
              <a:rPr lang="en-US" sz="1800" dirty="0">
                <a:solidFill>
                  <a:srgbClr val="FF0000"/>
                </a:solidFill>
                <a:latin typeface="Consolas" panose="020B0609020204030204" pitchFamily="49" charset="0"/>
              </a:rPr>
              <a:t> WHERE </a:t>
            </a:r>
            <a:r>
              <a:rPr lang="en-US" sz="1800" dirty="0" err="1">
                <a:solidFill>
                  <a:srgbClr val="FF0000"/>
                </a:solidFill>
                <a:latin typeface="Consolas" panose="020B0609020204030204" pitchFamily="49" charset="0"/>
              </a:rPr>
              <a:t>nume</a:t>
            </a:r>
            <a:r>
              <a:rPr lang="en-US" sz="1800" dirty="0">
                <a:solidFill>
                  <a:srgbClr val="FF0000"/>
                </a:solidFill>
                <a:latin typeface="Consolas" panose="020B0609020204030204" pitchFamily="49" charset="0"/>
              </a:rPr>
              <a:t>&lt;&gt;@nume;'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EXEC</a:t>
            </a:r>
            <a:r>
              <a:rPr lang="ro-RO" sz="1800" dirty="0">
                <a:solidFill>
                  <a:srgbClr val="000000"/>
                </a:solidFill>
                <a:latin typeface="Consolas" panose="020B0609020204030204" pitchFamily="49" charset="0"/>
              </a:rPr>
              <a:t> </a:t>
            </a:r>
            <a:r>
              <a:rPr lang="ro-RO" sz="1800" dirty="0">
                <a:solidFill>
                  <a:srgbClr val="800000"/>
                </a:solidFill>
                <a:latin typeface="Consolas" panose="020B0609020204030204" pitchFamily="49" charset="0"/>
              </a:rPr>
              <a:t>sp_executesql</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@sql</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r>
              <a:rPr lang="ro-RO" sz="1800" dirty="0">
                <a:solidFill>
                  <a:srgbClr val="FF0000"/>
                </a:solidFill>
                <a:latin typeface="Consolas" panose="020B0609020204030204" pitchFamily="49" charset="0"/>
              </a:rPr>
              <a:t>N'@nume AS VARCHAR(100)'</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a:t>
            </a:r>
            <a:r>
              <a:rPr lang="ro-RO" sz="1800" dirty="0">
                <a:solidFill>
                  <a:srgbClr val="808080"/>
                </a:solidFill>
                <a:latin typeface="Consolas" panose="020B0609020204030204" pitchFamily="49" charset="0"/>
              </a:rPr>
              <a:t>=</a:t>
            </a:r>
            <a:r>
              <a:rPr lang="ro-RO" sz="1800" dirty="0">
                <a:solidFill>
                  <a:srgbClr val="FF0000"/>
                </a:solidFill>
                <a:latin typeface="Consolas" panose="020B0609020204030204" pitchFamily="49" charset="0"/>
              </a:rPr>
              <a:t>N'sectiunea 1'</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669043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890945"/>
            <a:ext cx="10871167" cy="4967056"/>
          </a:xfrm>
        </p:spPr>
        <p:txBody>
          <a:bodyPr>
            <a:normAutofit/>
          </a:bodyPr>
          <a:lstStyle/>
          <a:p>
            <a:r>
              <a:rPr lang="ro-RO" dirty="0"/>
              <a:t>Transact-SQL oferă un set de cuvinte speciale, numit </a:t>
            </a:r>
            <a:r>
              <a:rPr lang="ro-RO" b="1" dirty="0"/>
              <a:t>limbaj de control al fluxului </a:t>
            </a:r>
            <a:r>
              <a:rPr lang="ro-RO" dirty="0"/>
              <a:t>care pot fi folosite pentru a controla </a:t>
            </a:r>
            <a:r>
              <a:rPr lang="ro-RO" b="1" dirty="0"/>
              <a:t>fluxul execuției</a:t>
            </a:r>
            <a:r>
              <a:rPr lang="ro-RO" dirty="0"/>
              <a:t>:</a:t>
            </a:r>
          </a:p>
          <a:p>
            <a:pPr lvl="1"/>
            <a:r>
              <a:rPr lang="ro-RO" sz="2000" dirty="0"/>
              <a:t>instrucțiunilor Transact-SQL</a:t>
            </a:r>
          </a:p>
          <a:p>
            <a:pPr lvl="1"/>
            <a:r>
              <a:rPr lang="ro-RO" sz="2000" dirty="0"/>
              <a:t>blocurilor de instrucțiuni</a:t>
            </a:r>
          </a:p>
          <a:p>
            <a:pPr lvl="1"/>
            <a:r>
              <a:rPr lang="ro-RO" sz="2000" dirty="0"/>
              <a:t>funcțiilor definite de utilizator</a:t>
            </a:r>
          </a:p>
          <a:p>
            <a:pPr lvl="1"/>
            <a:r>
              <a:rPr lang="ro-RO" sz="2000" dirty="0"/>
              <a:t>procedurilor stocate</a:t>
            </a:r>
          </a:p>
          <a:p>
            <a:r>
              <a:rPr lang="ro-RO" dirty="0"/>
              <a:t>În lipsa limbajului de control al fluxului, instrucțiunile </a:t>
            </a:r>
            <a:r>
              <a:rPr lang="ro-RO" dirty="0" err="1"/>
              <a:t>Transact</a:t>
            </a:r>
            <a:r>
              <a:rPr lang="ro-RO" dirty="0"/>
              <a:t>-SQL se execută în ordine </a:t>
            </a:r>
            <a:r>
              <a:rPr lang="ro-RO" b="1" dirty="0"/>
              <a:t>secvențială</a:t>
            </a:r>
          </a:p>
          <a:p>
            <a:r>
              <a:rPr lang="en-US" dirty="0">
                <a:solidFill>
                  <a:schemeClr val="tx2">
                    <a:lumMod val="75000"/>
                  </a:schemeClr>
                </a:solidFill>
              </a:rPr>
              <a:t>BEGIN … END </a:t>
            </a:r>
            <a:r>
              <a:rPr lang="en-US" dirty="0"/>
              <a:t>– </a:t>
            </a:r>
            <a:r>
              <a:rPr lang="en-US" dirty="0" err="1"/>
              <a:t>delimiteaz</a:t>
            </a:r>
            <a:r>
              <a:rPr lang="ro-RO" dirty="0"/>
              <a:t>ă un grup de instrucțiuni SQL care se execută împreună</a:t>
            </a:r>
            <a:endParaRPr lang="en-US" dirty="0"/>
          </a:p>
          <a:p>
            <a:r>
              <a:rPr lang="ro-RO" dirty="0"/>
              <a:t>Blocurile BEGIN … END pot fi </a:t>
            </a:r>
            <a:r>
              <a:rPr lang="ro-RO" b="1" dirty="0"/>
              <a:t>încorporate</a:t>
            </a:r>
          </a:p>
          <a:p>
            <a:pPr marL="0" indent="0">
              <a:buNone/>
            </a:pPr>
            <a:endParaRPr lang="en-US" dirty="0"/>
          </a:p>
        </p:txBody>
      </p:sp>
    </p:spTree>
    <p:extLst>
      <p:ext uri="{BB962C8B-B14F-4D97-AF65-F5344CB8AC3E}">
        <p14:creationId xmlns:p14="http://schemas.microsoft.com/office/powerpoint/2010/main" val="11271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087144" y="1657165"/>
            <a:ext cx="11104855" cy="5080986"/>
          </a:xfrm>
        </p:spPr>
        <p:txBody>
          <a:bodyPr>
            <a:normAutofit/>
          </a:bodyPr>
          <a:lstStyle/>
          <a:p>
            <a:r>
              <a:rPr lang="ro-RO" b="1" dirty="0"/>
              <a:t>Sintaxa</a:t>
            </a:r>
            <a:r>
              <a:rPr lang="ro-RO" dirty="0"/>
              <a:t>:</a:t>
            </a:r>
          </a:p>
          <a:p>
            <a:pPr marL="0" indent="0">
              <a:buNone/>
            </a:pPr>
            <a:r>
              <a:rPr lang="ro-RO" dirty="0"/>
              <a:t>	</a:t>
            </a:r>
            <a:r>
              <a:rPr lang="ro-RO" dirty="0">
                <a:latin typeface="Consolas" panose="020B0609020204030204" pitchFamily="49" charset="0"/>
              </a:rPr>
              <a:t>BEGIN </a:t>
            </a:r>
            <a:endParaRPr lang="en-US" dirty="0">
              <a:latin typeface="Consolas" panose="020B0609020204030204" pitchFamily="49" charset="0"/>
            </a:endParaRPr>
          </a:p>
          <a:p>
            <a:pPr marL="0" indent="0">
              <a:buNone/>
            </a:pPr>
            <a:r>
              <a:rPr lang="en-US" dirty="0">
                <a:latin typeface="Consolas" panose="020B0609020204030204" pitchFamily="49" charset="0"/>
              </a:rPr>
              <a:t>       </a:t>
            </a:r>
            <a:r>
              <a:rPr lang="ro-RO" dirty="0">
                <a:latin typeface="Consolas" panose="020B0609020204030204" pitchFamily="49" charset="0"/>
              </a:rPr>
              <a:t>	</a:t>
            </a: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sql_block</a:t>
            </a:r>
            <a:r>
              <a:rPr lang="en-US"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	</a:t>
            </a:r>
            <a:r>
              <a:rPr lang="en-US" dirty="0">
                <a:latin typeface="Consolas" panose="020B0609020204030204" pitchFamily="49" charset="0"/>
              </a:rPr>
              <a:t>END</a:t>
            </a:r>
            <a:endParaRPr lang="ro-RO" dirty="0">
              <a:solidFill>
                <a:schemeClr val="tx2">
                  <a:lumMod val="75000"/>
                </a:schemeClr>
              </a:solidFill>
              <a:latin typeface="Consolas" panose="020B0609020204030204" pitchFamily="49" charset="0"/>
            </a:endParaRPr>
          </a:p>
          <a:p>
            <a:r>
              <a:rPr lang="ro-RO" dirty="0">
                <a:solidFill>
                  <a:schemeClr val="tx2">
                    <a:lumMod val="75000"/>
                  </a:schemeClr>
                </a:solidFill>
              </a:rPr>
              <a:t>RETURN</a:t>
            </a:r>
            <a:r>
              <a:rPr lang="ro-RO" dirty="0"/>
              <a:t> – iese necondiționat dintr-o interogare sau dintr-o procedură stocată</a:t>
            </a:r>
          </a:p>
          <a:p>
            <a:r>
              <a:rPr lang="ro-RO" dirty="0"/>
              <a:t>Poate fi folosit în orice punct pentru a ieși dintr-o procedură, </a:t>
            </a:r>
            <a:r>
              <a:rPr lang="ro-RO" i="1" dirty="0" err="1"/>
              <a:t>batch</a:t>
            </a:r>
            <a:r>
              <a:rPr lang="ro-RO" dirty="0"/>
              <a:t> sau bloc de instrucțiuni</a:t>
            </a:r>
          </a:p>
          <a:p>
            <a:r>
              <a:rPr lang="ro-RO" b="1" dirty="0"/>
              <a:t>Sintaxa</a:t>
            </a:r>
            <a:r>
              <a:rPr lang="ro-RO" dirty="0"/>
              <a:t>:</a:t>
            </a:r>
          </a:p>
          <a:p>
            <a:pPr marL="0" indent="0">
              <a:buNone/>
            </a:pPr>
            <a:r>
              <a:rPr lang="ro-RO" dirty="0"/>
              <a:t>	</a:t>
            </a:r>
            <a:r>
              <a:rPr lang="ro-RO" dirty="0">
                <a:latin typeface="Consolas" panose="020B0609020204030204" pitchFamily="49" charset="0"/>
              </a:rPr>
              <a:t>RETURN </a:t>
            </a:r>
            <a:r>
              <a:rPr lang="en-US" dirty="0">
                <a:latin typeface="Consolas" panose="020B0609020204030204" pitchFamily="49" charset="0"/>
              </a:rPr>
              <a:t>[</a:t>
            </a:r>
            <a:r>
              <a:rPr lang="en-US" dirty="0" err="1">
                <a:latin typeface="Consolas" panose="020B0609020204030204" pitchFamily="49" charset="0"/>
              </a:rPr>
              <a:t>integer_expression</a:t>
            </a:r>
            <a:r>
              <a:rPr lang="en-US" dirty="0">
                <a:latin typeface="Consolas" panose="020B0609020204030204" pitchFamily="49" charset="0"/>
              </a:rPr>
              <a:t>]</a:t>
            </a:r>
          </a:p>
          <a:p>
            <a:r>
              <a:rPr lang="en-US" dirty="0"/>
              <a:t>Se </a:t>
            </a:r>
            <a:r>
              <a:rPr lang="en-US" dirty="0" err="1"/>
              <a:t>poate</a:t>
            </a:r>
            <a:r>
              <a:rPr lang="en-US" dirty="0"/>
              <a:t> </a:t>
            </a:r>
            <a:r>
              <a:rPr lang="en-US" dirty="0" err="1"/>
              <a:t>folosi</a:t>
            </a:r>
            <a:r>
              <a:rPr lang="en-US" dirty="0"/>
              <a:t> </a:t>
            </a:r>
            <a:r>
              <a:rPr lang="en-US" dirty="0" err="1"/>
              <a:t>pentru</a:t>
            </a:r>
            <a:r>
              <a:rPr lang="en-US" dirty="0"/>
              <a:t> a </a:t>
            </a:r>
            <a:r>
              <a:rPr lang="en-US" dirty="0" err="1"/>
              <a:t>returna</a:t>
            </a:r>
            <a:r>
              <a:rPr lang="en-US" dirty="0"/>
              <a:t> </a:t>
            </a:r>
            <a:r>
              <a:rPr lang="en-US" b="1" dirty="0"/>
              <a:t>status codes </a:t>
            </a:r>
            <a:r>
              <a:rPr lang="ro-RO" dirty="0"/>
              <a:t>- </a:t>
            </a:r>
            <a:r>
              <a:rPr lang="en-US" dirty="0" err="1"/>
              <a:t>procedurile</a:t>
            </a:r>
            <a:r>
              <a:rPr lang="en-US" dirty="0"/>
              <a:t> </a:t>
            </a:r>
            <a:r>
              <a:rPr lang="en-US" dirty="0" err="1"/>
              <a:t>stocate</a:t>
            </a:r>
            <a:r>
              <a:rPr lang="en-US" dirty="0"/>
              <a:t> </a:t>
            </a:r>
            <a:r>
              <a:rPr lang="en-US" dirty="0" err="1"/>
              <a:t>returneaz</a:t>
            </a:r>
            <a:r>
              <a:rPr lang="ro-RO" dirty="0"/>
              <a:t>ă zero (</a:t>
            </a:r>
            <a:r>
              <a:rPr lang="ro-RO" b="1" dirty="0" err="1"/>
              <a:t>success</a:t>
            </a:r>
            <a:r>
              <a:rPr lang="ro-RO" dirty="0"/>
              <a:t>) sau o valoare întreagă diferită de zero (</a:t>
            </a:r>
            <a:r>
              <a:rPr lang="ro-RO" b="1" dirty="0" err="1"/>
              <a:t>failure</a:t>
            </a:r>
            <a:r>
              <a:rPr lang="ro-RO" dirty="0"/>
              <a:t>)</a:t>
            </a:r>
            <a:endParaRPr lang="en-US" dirty="0"/>
          </a:p>
          <a:p>
            <a:endParaRPr lang="en-US" dirty="0"/>
          </a:p>
        </p:txBody>
      </p:sp>
    </p:spTree>
    <p:extLst>
      <p:ext uri="{BB962C8B-B14F-4D97-AF65-F5344CB8AC3E}">
        <p14:creationId xmlns:p14="http://schemas.microsoft.com/office/powerpoint/2010/main" val="1527786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89634"/>
            <a:ext cx="10524938" cy="5168366"/>
          </a:xfrm>
        </p:spPr>
        <p:txBody>
          <a:bodyPr>
            <a:normAutofit/>
          </a:bodyPr>
          <a:lstStyle/>
          <a:p>
            <a:r>
              <a:rPr lang="en-US" dirty="0" err="1"/>
              <a:t>Exemplu</a:t>
            </a:r>
            <a:r>
              <a:rPr lang="en-US" dirty="0"/>
              <a:t> de </a:t>
            </a:r>
            <a:r>
              <a:rPr lang="en-US" dirty="0" err="1"/>
              <a:t>procedur</a:t>
            </a:r>
            <a:r>
              <a:rPr lang="ro-RO" dirty="0"/>
              <a:t>ă stocată care </a:t>
            </a:r>
            <a:r>
              <a:rPr lang="ro-RO" dirty="0" err="1"/>
              <a:t>returneză</a:t>
            </a:r>
            <a:r>
              <a:rPr lang="ro-RO" dirty="0"/>
              <a:t> </a:t>
            </a:r>
            <a:r>
              <a:rPr lang="ro-RO" b="1" dirty="0"/>
              <a:t>status </a:t>
            </a:r>
            <a:r>
              <a:rPr lang="ro-RO" b="1" dirty="0" err="1"/>
              <a:t>codes</a:t>
            </a:r>
            <a:r>
              <a:rPr lang="ro-RO" dirty="0"/>
              <a:t>:</a:t>
            </a:r>
          </a:p>
          <a:p>
            <a:pPr marL="0" indent="0">
              <a:buNone/>
            </a:pPr>
            <a:r>
              <a:rPr lang="it-IT" sz="1800" dirty="0">
                <a:solidFill>
                  <a:srgbClr val="0000FF"/>
                </a:solidFill>
                <a:latin typeface="Consolas" panose="020B0609020204030204" pitchFamily="49" charset="0"/>
              </a:rPr>
              <a:t>	CREATE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PROCEDURE</a:t>
            </a:r>
            <a:r>
              <a:rPr lang="it-IT" sz="1800" dirty="0">
                <a:solidFill>
                  <a:srgbClr val="000000"/>
                </a:solidFill>
                <a:latin typeface="Consolas" panose="020B0609020204030204" pitchFamily="49" charset="0"/>
              </a:rPr>
              <a:t> VerificaVarstaMin @cod_a </a:t>
            </a:r>
            <a:r>
              <a:rPr lang="it-IT" sz="1800" dirty="0">
                <a:solidFill>
                  <a:srgbClr val="0000FF"/>
                </a:solidFill>
                <a:latin typeface="Consolas" panose="020B0609020204030204" pitchFamily="49" charset="0"/>
              </a:rPr>
              <a:t>INT</a:t>
            </a:r>
            <a:endParaRPr lang="it-IT"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IF</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cod_a</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@cod_a</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12</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RETURN</a:t>
            </a:r>
            <a:r>
              <a:rPr lang="ro-RO" sz="1800" dirty="0">
                <a:solidFill>
                  <a:srgbClr val="000000"/>
                </a:solidFill>
                <a:latin typeface="Consolas" panose="020B0609020204030204" pitchFamily="49" charset="0"/>
              </a:rPr>
              <a:t> 1</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ELSE</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RETURN</a:t>
            </a:r>
            <a:r>
              <a:rPr lang="ro-RO" sz="1800" dirty="0">
                <a:solidFill>
                  <a:srgbClr val="000000"/>
                </a:solidFill>
                <a:latin typeface="Consolas" panose="020B0609020204030204" pitchFamily="49" charset="0"/>
              </a:rPr>
              <a:t> 2</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en-US" dirty="0"/>
          </a:p>
          <a:p>
            <a:endParaRPr lang="en-US" dirty="0"/>
          </a:p>
        </p:txBody>
      </p:sp>
    </p:spTree>
    <p:extLst>
      <p:ext uri="{BB962C8B-B14F-4D97-AF65-F5344CB8AC3E}">
        <p14:creationId xmlns:p14="http://schemas.microsoft.com/office/powerpoint/2010/main" val="3003071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23CBC-EBA3-B298-1493-BAE90BF0FCF1}"/>
              </a:ext>
            </a:extLst>
          </p:cNvPr>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ro-RO" dirty="0"/>
          </a:p>
        </p:txBody>
      </p:sp>
      <p:sp>
        <p:nvSpPr>
          <p:cNvPr id="3" name="Content Placeholder 2">
            <a:extLst>
              <a:ext uri="{FF2B5EF4-FFF2-40B4-BE49-F238E27FC236}">
                <a16:creationId xmlns:a16="http://schemas.microsoft.com/office/drawing/2014/main" id="{BB9E293B-C639-FF2C-82AA-BC6D0151A40B}"/>
              </a:ext>
            </a:extLst>
          </p:cNvPr>
          <p:cNvSpPr>
            <a:spLocks noGrp="1"/>
          </p:cNvSpPr>
          <p:nvPr>
            <p:ph idx="1"/>
          </p:nvPr>
        </p:nvSpPr>
        <p:spPr>
          <a:xfrm>
            <a:off x="989400" y="1685925"/>
            <a:ext cx="10213200" cy="4919061"/>
          </a:xfrm>
        </p:spPr>
        <p:txBody>
          <a:bodyPr/>
          <a:lstStyle/>
          <a:p>
            <a:r>
              <a:rPr lang="en-US" dirty="0" err="1"/>
              <a:t>Procedura</a:t>
            </a:r>
            <a:r>
              <a:rPr lang="en-US" dirty="0"/>
              <a:t> </a:t>
            </a:r>
            <a:r>
              <a:rPr lang="en-US" dirty="0" err="1"/>
              <a:t>stocat</a:t>
            </a:r>
            <a:r>
              <a:rPr lang="ro-RO" dirty="0"/>
              <a:t>ă creată anterior se va apela în modul următor: </a:t>
            </a:r>
          </a:p>
          <a:p>
            <a:pPr marL="0" indent="0">
              <a:buNone/>
            </a:pPr>
            <a:r>
              <a:rPr lang="ro-RO" sz="1800" dirty="0">
                <a:solidFill>
                  <a:srgbClr val="0000FF"/>
                </a:solidFill>
                <a:latin typeface="Consolas" panose="020B0609020204030204" pitchFamily="49" charset="0"/>
              </a:rPr>
              <a:t>	DECLARE</a:t>
            </a:r>
            <a:r>
              <a:rPr lang="ro-RO" sz="1800" dirty="0">
                <a:solidFill>
                  <a:srgbClr val="000000"/>
                </a:solidFill>
                <a:latin typeface="Consolas" panose="020B0609020204030204" pitchFamily="49" charset="0"/>
              </a:rPr>
              <a:t> @status </a:t>
            </a:r>
            <a:r>
              <a:rPr lang="ro-RO" sz="1800" dirty="0">
                <a:solidFill>
                  <a:srgbClr val="0000FF"/>
                </a:solidFill>
                <a:latin typeface="Consolas" panose="020B0609020204030204" pitchFamily="49" charset="0"/>
              </a:rPr>
              <a:t>INT</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t>
            </a:r>
            <a:r>
              <a:rPr lang="pt-BR" sz="1800" dirty="0">
                <a:solidFill>
                  <a:srgbClr val="0000FF"/>
                </a:solidFill>
                <a:latin typeface="Consolas" panose="020B0609020204030204" pitchFamily="49" charset="0"/>
              </a:rPr>
              <a:t>EXEC</a:t>
            </a:r>
            <a:r>
              <a:rPr lang="pt-BR" sz="1800" dirty="0">
                <a:solidFill>
                  <a:srgbClr val="000000"/>
                </a:solidFill>
                <a:latin typeface="Consolas" panose="020B0609020204030204" pitchFamily="49" charset="0"/>
              </a:rPr>
              <a:t> @status</a:t>
            </a:r>
            <a:r>
              <a:rPr lang="pt-BR" sz="1800" dirty="0">
                <a:solidFill>
                  <a:srgbClr val="808080"/>
                </a:solidFill>
                <a:latin typeface="Consolas" panose="020B0609020204030204" pitchFamily="49" charset="0"/>
              </a:rPr>
              <a:t>=</a:t>
            </a:r>
            <a:r>
              <a:rPr lang="it-IT" sz="1800" dirty="0">
                <a:solidFill>
                  <a:srgbClr val="000000"/>
                </a:solidFill>
                <a:latin typeface="Consolas" panose="020B0609020204030204" pitchFamily="49" charset="0"/>
              </a:rPr>
              <a:t>VerificaVarstaMin</a:t>
            </a:r>
            <a:r>
              <a:rPr lang="pt-BR" sz="1800" dirty="0">
                <a:solidFill>
                  <a:srgbClr val="0000FF"/>
                </a:solidFill>
                <a:latin typeface="Consolas" panose="020B0609020204030204" pitchFamily="49" charset="0"/>
              </a:rPr>
              <a:t> </a:t>
            </a:r>
            <a:r>
              <a:rPr lang="pt-BR" sz="1800" dirty="0">
                <a:solidFill>
                  <a:srgbClr val="000000"/>
                </a:solidFill>
                <a:latin typeface="Consolas" panose="020B0609020204030204" pitchFamily="49" charset="0"/>
              </a:rPr>
              <a:t>1</a:t>
            </a:r>
            <a:r>
              <a:rPr lang="pt-BR" sz="1800" dirty="0">
                <a:solidFill>
                  <a:srgbClr val="808080"/>
                </a:solidFill>
                <a:latin typeface="Consolas" panose="020B0609020204030204" pitchFamily="49" charset="0"/>
              </a:rPr>
              <a:t>;</a:t>
            </a:r>
            <a:endParaRPr lang="pt-BR"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SELECT</a:t>
            </a:r>
            <a:r>
              <a:rPr lang="ro-RO" sz="1800" dirty="0">
                <a:solidFill>
                  <a:srgbClr val="000000"/>
                </a:solidFill>
                <a:latin typeface="Consolas" panose="020B0609020204030204" pitchFamily="49" charset="0"/>
              </a:rPr>
              <a:t> </a:t>
            </a:r>
            <a:r>
              <a:rPr lang="ro-RO" sz="1800" dirty="0">
                <a:solidFill>
                  <a:srgbClr val="FF0000"/>
                </a:solidFill>
                <a:latin typeface="Consolas" panose="020B0609020204030204" pitchFamily="49" charset="0"/>
              </a:rPr>
              <a:t>'Status'</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@status</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364097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087145" y="1719892"/>
            <a:ext cx="10533725" cy="4436772"/>
          </a:xfrm>
        </p:spPr>
        <p:txBody>
          <a:bodyPr>
            <a:normAutofit/>
          </a:bodyPr>
          <a:lstStyle/>
          <a:p>
            <a:r>
              <a:rPr lang="ro-RO" dirty="0">
                <a:solidFill>
                  <a:schemeClr val="tx2">
                    <a:lumMod val="75000"/>
                  </a:schemeClr>
                </a:solidFill>
              </a:rPr>
              <a:t>IF … ELSE </a:t>
            </a:r>
            <a:r>
              <a:rPr lang="ro-RO" dirty="0"/>
              <a:t>– condiționează execuția unei instrucțiuni SQL sau a unui bloc de instrucțiuni SQL</a:t>
            </a:r>
          </a:p>
          <a:p>
            <a:r>
              <a:rPr lang="ro-RO" b="1" dirty="0"/>
              <a:t>Sintaxa</a:t>
            </a:r>
            <a:r>
              <a:rPr lang="ro-RO" dirty="0"/>
              <a:t>:</a:t>
            </a:r>
          </a:p>
          <a:p>
            <a:pPr marL="0" indent="0">
              <a:buNone/>
            </a:pPr>
            <a:r>
              <a:rPr lang="ro-RO" dirty="0"/>
              <a:t>	</a:t>
            </a:r>
            <a:r>
              <a:rPr lang="en-US" dirty="0">
                <a:latin typeface="Consolas" panose="020B0609020204030204" pitchFamily="49" charset="0"/>
              </a:rPr>
              <a:t>IF </a:t>
            </a:r>
            <a:r>
              <a:rPr lang="en-US" dirty="0" err="1">
                <a:latin typeface="Consolas" panose="020B0609020204030204" pitchFamily="49" charset="0"/>
              </a:rPr>
              <a:t>Boolean_expression</a:t>
            </a:r>
            <a:r>
              <a:rPr lang="en-US" dirty="0">
                <a:latin typeface="Consolas" panose="020B0609020204030204" pitchFamily="49" charset="0"/>
              </a:rPr>
              <a:t> </a:t>
            </a:r>
            <a:endParaRPr lang="ro-RO" dirty="0">
              <a:latin typeface="Consolas" panose="020B0609020204030204" pitchFamily="49" charset="0"/>
            </a:endParaRPr>
          </a:p>
          <a:p>
            <a:pPr marL="0" indent="0">
              <a:buNone/>
            </a:pPr>
            <a:r>
              <a:rPr lang="ro-RO" dirty="0">
                <a:latin typeface="Consolas" panose="020B0609020204030204" pitchFamily="49" charset="0"/>
              </a:rPr>
              <a:t>	</a:t>
            </a: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 </a:t>
            </a:r>
          </a:p>
          <a:p>
            <a:pPr marL="0" indent="0">
              <a:buNone/>
            </a:pPr>
            <a:r>
              <a:rPr lang="ro-RO" dirty="0">
                <a:latin typeface="Consolas" panose="020B0609020204030204" pitchFamily="49" charset="0"/>
              </a:rPr>
              <a:t>	</a:t>
            </a:r>
            <a:r>
              <a:rPr lang="en-US" dirty="0">
                <a:latin typeface="Consolas" panose="020B0609020204030204" pitchFamily="49" charset="0"/>
              </a:rPr>
              <a:t>[ ELSE </a:t>
            </a:r>
          </a:p>
          <a:p>
            <a:pPr marL="0" indent="0">
              <a:buNone/>
            </a:pPr>
            <a:r>
              <a:rPr lang="ro-RO" dirty="0">
                <a:latin typeface="Consolas" panose="020B0609020204030204" pitchFamily="49" charset="0"/>
              </a:rPr>
              <a:t>	</a:t>
            </a: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 ] </a:t>
            </a:r>
          </a:p>
          <a:p>
            <a:endParaRPr lang="en-US" dirty="0"/>
          </a:p>
        </p:txBody>
      </p:sp>
    </p:spTree>
    <p:extLst>
      <p:ext uri="{BB962C8B-B14F-4D97-AF65-F5344CB8AC3E}">
        <p14:creationId xmlns:p14="http://schemas.microsoft.com/office/powerpoint/2010/main" val="182953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78F35-2550-5364-0F35-A6A8B8135F33}"/>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64652A85-6A3F-FE4A-1B36-5A84D3686686}"/>
              </a:ext>
            </a:extLst>
          </p:cNvPr>
          <p:cNvSpPr>
            <a:spLocks noGrp="1"/>
          </p:cNvSpPr>
          <p:nvPr>
            <p:ph idx="1"/>
          </p:nvPr>
        </p:nvSpPr>
        <p:spPr>
          <a:xfrm>
            <a:off x="1341119" y="1572767"/>
            <a:ext cx="10638445" cy="5020057"/>
          </a:xfrm>
        </p:spPr>
        <p:txBody>
          <a:bodyPr>
            <a:normAutofit/>
          </a:bodyPr>
          <a:lstStyle/>
          <a:p>
            <a:pPr marL="45720" indent="0">
              <a:buNone/>
            </a:pPr>
            <a:r>
              <a:rPr lang="ro-RO" dirty="0"/>
              <a:t>1) Să se creeze o procedură stocată care inserează o categorie nouă în tabelul </a:t>
            </a:r>
            <a:r>
              <a:rPr lang="ro-RO" i="1" dirty="0"/>
              <a:t>Categorii</a:t>
            </a:r>
            <a:r>
              <a:rPr lang="ro-RO" dirty="0"/>
              <a:t>. Procedura va avea un parametru de intrare: numele categoriei. Dacă există deja categoria dată ca parametru, se va afișa un mesaj pe ecran și categoria nu va fi adăugată încă o dată.</a:t>
            </a:r>
          </a:p>
          <a:p>
            <a:pPr marL="45720" indent="0">
              <a:buNone/>
            </a:pPr>
            <a:r>
              <a:rPr lang="ro-RO" dirty="0"/>
              <a:t>2) Să se creeze o procedură stocată care inserează o atracție nouă în tabelul </a:t>
            </a:r>
            <a:r>
              <a:rPr lang="ro-RO" i="1" dirty="0"/>
              <a:t>Atractii</a:t>
            </a:r>
            <a:r>
              <a:rPr lang="ro-RO" dirty="0"/>
              <a:t>. Procedura va avea 4 parametri de intrare: numele, descrierea, vârsta minimă recomandată și numele secțiunii în care se găsește atracția. Dacă nu există secțiunea dată ca parametru, aceasta va fi adăugată în tabelul </a:t>
            </a:r>
            <a:r>
              <a:rPr lang="ro-RO" i="1" dirty="0"/>
              <a:t>Sectiuni</a:t>
            </a:r>
            <a:r>
              <a:rPr lang="ro-RO" dirty="0"/>
              <a:t>. </a:t>
            </a:r>
          </a:p>
          <a:p>
            <a:pPr marL="45720" indent="0">
              <a:buNone/>
            </a:pPr>
            <a:r>
              <a:rPr lang="ro-RO" dirty="0"/>
              <a:t>3) Să se creeze o procedură stocată care verifică dacă există un vizitator căruia îi corespunde adresa de email dată ca parametru de intrare. Dacă vizitatorul există, se va returna codul acestuia, dacă nu există se va genera un mesaj de eroare.</a:t>
            </a:r>
          </a:p>
          <a:p>
            <a:pPr marL="45720" indent="0">
              <a:buNone/>
            </a:pPr>
            <a:endParaRPr lang="ro-RO" dirty="0"/>
          </a:p>
        </p:txBody>
      </p:sp>
    </p:spTree>
    <p:extLst>
      <p:ext uri="{BB962C8B-B14F-4D97-AF65-F5344CB8AC3E}">
        <p14:creationId xmlns:p14="http://schemas.microsoft.com/office/powerpoint/2010/main" val="746533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710431"/>
            <a:ext cx="10951066" cy="5045476"/>
          </a:xfrm>
        </p:spPr>
        <p:txBody>
          <a:bodyPr/>
          <a:lstStyle/>
          <a:p>
            <a:r>
              <a:rPr lang="en-US" dirty="0">
                <a:solidFill>
                  <a:schemeClr val="tx2">
                    <a:lumMod val="75000"/>
                  </a:schemeClr>
                </a:solidFill>
              </a:rPr>
              <a:t>WHILE</a:t>
            </a:r>
            <a:r>
              <a:rPr lang="en-US" dirty="0"/>
              <a:t> – </a:t>
            </a:r>
            <a:r>
              <a:rPr lang="en-US" dirty="0" err="1"/>
              <a:t>seteaz</a:t>
            </a:r>
            <a:r>
              <a:rPr lang="ro-RO" dirty="0"/>
              <a:t>ă o condiție pentru execuția repetată a unei instrucțiuni SQL sau a unui bloc de instrucțiuni SQL</a:t>
            </a:r>
          </a:p>
          <a:p>
            <a:r>
              <a:rPr lang="ro-RO" b="1" dirty="0"/>
              <a:t>Sintaxa</a:t>
            </a:r>
            <a:r>
              <a:rPr lang="ro-RO" dirty="0"/>
              <a:t>:</a:t>
            </a:r>
          </a:p>
          <a:p>
            <a:pPr marL="0" indent="0">
              <a:buNone/>
            </a:pPr>
            <a:r>
              <a:rPr lang="ro-RO" dirty="0"/>
              <a:t>    </a:t>
            </a:r>
            <a:r>
              <a:rPr lang="en-US" dirty="0"/>
              <a:t>	</a:t>
            </a:r>
            <a:r>
              <a:rPr lang="ro-RO" dirty="0">
                <a:latin typeface="Consolas" panose="020B0609020204030204" pitchFamily="49" charset="0"/>
              </a:rPr>
              <a:t>WHILE </a:t>
            </a:r>
            <a:r>
              <a:rPr lang="ro-RO" dirty="0" err="1">
                <a:latin typeface="Consolas" panose="020B0609020204030204" pitchFamily="49" charset="0"/>
              </a:rPr>
              <a:t>Boolean_expression</a:t>
            </a:r>
            <a:endParaRPr lang="ro-RO" dirty="0">
              <a:latin typeface="Consolas" panose="020B0609020204030204" pitchFamily="49" charset="0"/>
            </a:endParaRPr>
          </a:p>
          <a:p>
            <a:pPr marL="365760" lvl="1" indent="0">
              <a:buNone/>
            </a:pPr>
            <a:r>
              <a:rPr lang="ro-RO" dirty="0">
                <a:latin typeface="Consolas" panose="020B0609020204030204" pitchFamily="49" charset="0"/>
              </a:rPr>
              <a:t>    </a:t>
            </a:r>
            <a:r>
              <a:rPr lang="en-US" dirty="0">
                <a:latin typeface="Consolas" panose="020B0609020204030204" pitchFamily="49" charset="0"/>
              </a:rPr>
              <a:t>	</a:t>
            </a:r>
            <a:r>
              <a:rPr lang="en-US" i="0" dirty="0">
                <a:latin typeface="Consolas" panose="020B0609020204030204" pitchFamily="49" charset="0"/>
              </a:rPr>
              <a:t>{ </a:t>
            </a:r>
            <a:r>
              <a:rPr lang="en-US" i="0" dirty="0" err="1">
                <a:latin typeface="Consolas" panose="020B0609020204030204" pitchFamily="49" charset="0"/>
              </a:rPr>
              <a:t>sql_statement</a:t>
            </a:r>
            <a:r>
              <a:rPr lang="en-US" i="0" dirty="0">
                <a:latin typeface="Consolas" panose="020B0609020204030204" pitchFamily="49" charset="0"/>
              </a:rPr>
              <a:t> | </a:t>
            </a:r>
            <a:r>
              <a:rPr lang="en-US" i="0" dirty="0" err="1">
                <a:latin typeface="Consolas" panose="020B0609020204030204" pitchFamily="49" charset="0"/>
              </a:rPr>
              <a:t>statement_block</a:t>
            </a:r>
            <a:r>
              <a:rPr lang="en-US" i="0" dirty="0">
                <a:latin typeface="Consolas" panose="020B0609020204030204" pitchFamily="49" charset="0"/>
              </a:rPr>
              <a:t> | BREAK | CONTINUE } </a:t>
            </a:r>
            <a:endParaRPr lang="ro-RO" i="0" dirty="0">
              <a:latin typeface="Consolas" panose="020B0609020204030204" pitchFamily="49" charset="0"/>
            </a:endParaRPr>
          </a:p>
          <a:p>
            <a:endParaRPr lang="en-US" dirty="0"/>
          </a:p>
        </p:txBody>
      </p:sp>
    </p:spTree>
    <p:extLst>
      <p:ext uri="{BB962C8B-B14F-4D97-AF65-F5344CB8AC3E}">
        <p14:creationId xmlns:p14="http://schemas.microsoft.com/office/powerpoint/2010/main" val="883262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latin typeface="+mn-lt"/>
              </a:rPr>
              <a:t>Limbaj de control al fluxului</a:t>
            </a:r>
            <a:endParaRPr lang="en-US" dirty="0">
              <a:latin typeface="+mn-lt"/>
            </a:endParaRPr>
          </a:p>
        </p:txBody>
      </p:sp>
      <p:sp>
        <p:nvSpPr>
          <p:cNvPr id="3" name="Content Placeholder 2"/>
          <p:cNvSpPr>
            <a:spLocks noGrp="1"/>
          </p:cNvSpPr>
          <p:nvPr>
            <p:ph idx="1"/>
          </p:nvPr>
        </p:nvSpPr>
        <p:spPr>
          <a:xfrm>
            <a:off x="989400" y="1685925"/>
            <a:ext cx="10418406" cy="4910184"/>
          </a:xfrm>
        </p:spPr>
        <p:txBody>
          <a:bodyPr>
            <a:normAutofit/>
          </a:bodyPr>
          <a:lstStyle/>
          <a:p>
            <a:r>
              <a:rPr lang="ro-RO" dirty="0">
                <a:solidFill>
                  <a:schemeClr val="tx2">
                    <a:lumMod val="75000"/>
                  </a:schemeClr>
                </a:solidFill>
              </a:rPr>
              <a:t>BREAK</a:t>
            </a:r>
            <a:r>
              <a:rPr lang="ro-RO" dirty="0"/>
              <a:t> – iese din cea mai interioară buclă WHILE sau dintr-o instrucțiune IF… ELSE din interiorul unei bucle WHILE</a:t>
            </a:r>
          </a:p>
          <a:p>
            <a:r>
              <a:rPr lang="ro-RO" dirty="0">
                <a:solidFill>
                  <a:schemeClr val="tx2">
                    <a:lumMod val="75000"/>
                  </a:schemeClr>
                </a:solidFill>
              </a:rPr>
              <a:t>CONTINUE</a:t>
            </a:r>
            <a:r>
              <a:rPr lang="ro-RO" dirty="0"/>
              <a:t> – cauzează reînceperea buclei WHILE, ignorând toate instrucțiunile care apar după CONTINUE</a:t>
            </a:r>
          </a:p>
          <a:p>
            <a:r>
              <a:rPr lang="ro-RO" dirty="0">
                <a:solidFill>
                  <a:schemeClr val="tx2">
                    <a:lumMod val="75000"/>
                  </a:schemeClr>
                </a:solidFill>
              </a:rPr>
              <a:t>GOTO </a:t>
            </a:r>
            <a:r>
              <a:rPr lang="ro-RO" dirty="0"/>
              <a:t>– execută un salt în execuție la o porțiune din cod marcată printr-un </a:t>
            </a:r>
            <a:r>
              <a:rPr lang="ro-RO" i="1" dirty="0" err="1"/>
              <a:t>label</a:t>
            </a:r>
            <a:endParaRPr lang="ro-RO" i="1" dirty="0"/>
          </a:p>
          <a:p>
            <a:pPr marL="0" indent="0">
              <a:buNone/>
            </a:pPr>
            <a:r>
              <a:rPr lang="ro-RO" dirty="0"/>
              <a:t>	</a:t>
            </a:r>
            <a:r>
              <a:rPr lang="ro-RO" dirty="0" err="1">
                <a:latin typeface="Consolas" panose="020B0609020204030204" pitchFamily="49" charset="0"/>
              </a:rPr>
              <a:t>Label</a:t>
            </a:r>
            <a:r>
              <a:rPr lang="ro-RO" dirty="0">
                <a:latin typeface="Consolas" panose="020B0609020204030204" pitchFamily="49" charset="0"/>
              </a:rPr>
              <a:t>: </a:t>
            </a:r>
            <a:r>
              <a:rPr lang="ro-RO" dirty="0">
                <a:solidFill>
                  <a:schemeClr val="accent1">
                    <a:lumMod val="75000"/>
                    <a:alpha val="60000"/>
                  </a:schemeClr>
                </a:solidFill>
              </a:rPr>
              <a:t>-- </a:t>
            </a:r>
            <a:r>
              <a:rPr lang="ro-RO" dirty="0" err="1">
                <a:solidFill>
                  <a:schemeClr val="accent1">
                    <a:lumMod val="75000"/>
                    <a:alpha val="60000"/>
                  </a:schemeClr>
                </a:solidFill>
              </a:rPr>
              <a:t>some</a:t>
            </a:r>
            <a:r>
              <a:rPr lang="ro-RO" dirty="0">
                <a:solidFill>
                  <a:schemeClr val="accent1">
                    <a:lumMod val="75000"/>
                    <a:alpha val="60000"/>
                  </a:schemeClr>
                </a:solidFill>
              </a:rPr>
              <a:t> SQL </a:t>
            </a:r>
            <a:r>
              <a:rPr lang="ro-RO" dirty="0" err="1">
                <a:solidFill>
                  <a:schemeClr val="accent1">
                    <a:lumMod val="75000"/>
                    <a:alpha val="60000"/>
                  </a:schemeClr>
                </a:solidFill>
              </a:rPr>
              <a:t>statements</a:t>
            </a:r>
            <a:endParaRPr lang="ro-RO" dirty="0">
              <a:solidFill>
                <a:schemeClr val="accent1">
                  <a:lumMod val="75000"/>
                  <a:alpha val="60000"/>
                </a:schemeClr>
              </a:solidFill>
            </a:endParaRPr>
          </a:p>
          <a:p>
            <a:pPr marL="0" indent="0">
              <a:buNone/>
            </a:pPr>
            <a:r>
              <a:rPr lang="ro-RO" dirty="0">
                <a:latin typeface="Consolas" panose="020B0609020204030204" pitchFamily="49" charset="0"/>
              </a:rPr>
              <a:t>	GOTO Label</a:t>
            </a:r>
            <a:r>
              <a:rPr lang="en-US" dirty="0">
                <a:latin typeface="Consolas" panose="020B0609020204030204" pitchFamily="49" charset="0"/>
              </a:rPr>
              <a:t>;</a:t>
            </a:r>
            <a:endParaRPr lang="ro-RO" dirty="0">
              <a:latin typeface="Consolas" panose="020B0609020204030204" pitchFamily="49" charset="0"/>
            </a:endParaRPr>
          </a:p>
          <a:p>
            <a:endParaRPr lang="en-US" dirty="0"/>
          </a:p>
        </p:txBody>
      </p:sp>
    </p:spTree>
    <p:extLst>
      <p:ext uri="{BB962C8B-B14F-4D97-AF65-F5344CB8AC3E}">
        <p14:creationId xmlns:p14="http://schemas.microsoft.com/office/powerpoint/2010/main" val="498244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149288" y="1674920"/>
            <a:ext cx="10791178" cy="5183079"/>
          </a:xfrm>
        </p:spPr>
        <p:txBody>
          <a:bodyPr>
            <a:normAutofit/>
          </a:bodyPr>
          <a:lstStyle/>
          <a:p>
            <a:r>
              <a:rPr lang="ro-RO" dirty="0">
                <a:solidFill>
                  <a:schemeClr val="tx2">
                    <a:lumMod val="75000"/>
                  </a:schemeClr>
                </a:solidFill>
              </a:rPr>
              <a:t>WAITFOR</a:t>
            </a:r>
            <a:r>
              <a:rPr lang="ro-RO" dirty="0"/>
              <a:t> – blochează execuția unui </a:t>
            </a:r>
            <a:r>
              <a:rPr lang="ro-RO" i="1" dirty="0" err="1"/>
              <a:t>batch</a:t>
            </a:r>
            <a:r>
              <a:rPr lang="ro-RO" dirty="0"/>
              <a:t>, tranzacție sau procedură stocată până când un interval de timp sau timp specificat este atins sau o instrucțiune specificată modifică sau returnează cel puțin o înregistrare</a:t>
            </a:r>
          </a:p>
          <a:p>
            <a:r>
              <a:rPr lang="ro-RO" b="1" dirty="0"/>
              <a:t>Sintaxa</a:t>
            </a:r>
            <a:r>
              <a:rPr lang="ro-RO" dirty="0"/>
              <a:t>:</a:t>
            </a:r>
          </a:p>
          <a:p>
            <a:pPr marL="0" indent="0">
              <a:buNone/>
            </a:pPr>
            <a:r>
              <a:rPr lang="ro-RO" dirty="0"/>
              <a:t>    </a:t>
            </a:r>
            <a:r>
              <a:rPr lang="en-US" dirty="0"/>
              <a:t>	</a:t>
            </a:r>
            <a:r>
              <a:rPr lang="en-US" dirty="0">
                <a:latin typeface="Consolas" panose="020B0609020204030204" pitchFamily="49" charset="0"/>
              </a:rPr>
              <a:t>WAITFOR </a:t>
            </a:r>
          </a:p>
          <a:p>
            <a:pPr marL="0" indent="0">
              <a:buNone/>
            </a:pPr>
            <a:r>
              <a:rPr lang="ro-RO" dirty="0">
                <a:latin typeface="Consolas" panose="020B0609020204030204" pitchFamily="49" charset="0"/>
              </a:rPr>
              <a:t>   </a:t>
            </a:r>
            <a:r>
              <a:rPr lang="en-US" dirty="0">
                <a:latin typeface="Consolas" panose="020B0609020204030204" pitchFamily="49" charset="0"/>
              </a:rPr>
              <a:t>	{DELAY '</a:t>
            </a:r>
            <a:r>
              <a:rPr lang="en-US" dirty="0" err="1">
                <a:latin typeface="Consolas" panose="020B0609020204030204" pitchFamily="49" charset="0"/>
              </a:rPr>
              <a:t>time_to_pass</a:t>
            </a:r>
            <a:r>
              <a:rPr lang="en-US" dirty="0">
                <a:latin typeface="Consolas" panose="020B0609020204030204" pitchFamily="49" charset="0"/>
              </a:rPr>
              <a:t>' | TIME '</a:t>
            </a:r>
            <a:r>
              <a:rPr lang="en-US" dirty="0" err="1">
                <a:latin typeface="Consolas" panose="020B0609020204030204" pitchFamily="49" charset="0"/>
              </a:rPr>
              <a:t>time_to_execute</a:t>
            </a:r>
            <a:r>
              <a:rPr lang="en-US" dirty="0">
                <a:latin typeface="Consolas" panose="020B0609020204030204" pitchFamily="49" charset="0"/>
              </a:rPr>
              <a:t>' | </a:t>
            </a:r>
          </a:p>
          <a:p>
            <a:pPr marL="0" indent="0">
              <a:buNone/>
            </a:pPr>
            <a:r>
              <a:rPr lang="en-US" dirty="0">
                <a:latin typeface="Consolas" panose="020B0609020204030204" pitchFamily="49" charset="0"/>
              </a:rPr>
              <a:t>	[ ( </a:t>
            </a:r>
            <a:r>
              <a:rPr lang="en-US" dirty="0" err="1">
                <a:latin typeface="Consolas" panose="020B0609020204030204" pitchFamily="49" charset="0"/>
              </a:rPr>
              <a:t>receive_statement</a:t>
            </a:r>
            <a:r>
              <a:rPr lang="en-US" dirty="0">
                <a:latin typeface="Consolas" panose="020B0609020204030204" pitchFamily="49" charset="0"/>
              </a:rPr>
              <a:t> ) | ( </a:t>
            </a:r>
            <a:r>
              <a:rPr lang="en-US" dirty="0" err="1">
                <a:latin typeface="Consolas" panose="020B0609020204030204" pitchFamily="49" charset="0"/>
              </a:rPr>
              <a:t>get_conversation_group_statement</a:t>
            </a:r>
            <a:r>
              <a:rPr lang="en-US" dirty="0">
                <a:latin typeface="Consolas" panose="020B0609020204030204" pitchFamily="49" charset="0"/>
              </a:rPr>
              <a:t> ) ] </a:t>
            </a:r>
          </a:p>
          <a:p>
            <a:pPr marL="0" indent="0">
              <a:buNone/>
            </a:pPr>
            <a:r>
              <a:rPr lang="ro-RO" dirty="0">
                <a:latin typeface="Consolas" panose="020B0609020204030204" pitchFamily="49" charset="0"/>
              </a:rPr>
              <a:t>    </a:t>
            </a:r>
            <a:r>
              <a:rPr lang="en-US" dirty="0">
                <a:latin typeface="Consolas" panose="020B0609020204030204" pitchFamily="49" charset="0"/>
              </a:rPr>
              <a:t>	[ , TIMEOUT </a:t>
            </a:r>
            <a:r>
              <a:rPr lang="en-US" dirty="0" err="1">
                <a:latin typeface="Consolas" panose="020B0609020204030204" pitchFamily="49" charset="0"/>
              </a:rPr>
              <a:t>timeout</a:t>
            </a:r>
            <a:r>
              <a:rPr lang="en-US" dirty="0">
                <a:latin typeface="Consolas" panose="020B0609020204030204" pitchFamily="49" charset="0"/>
              </a:rPr>
              <a:t> ]}</a:t>
            </a:r>
          </a:p>
          <a:p>
            <a:endParaRPr lang="en-US" dirty="0"/>
          </a:p>
        </p:txBody>
      </p:sp>
    </p:spTree>
    <p:extLst>
      <p:ext uri="{BB962C8B-B14F-4D97-AF65-F5344CB8AC3E}">
        <p14:creationId xmlns:p14="http://schemas.microsoft.com/office/powerpoint/2010/main" val="1785288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85925"/>
            <a:ext cx="10462794" cy="4954572"/>
          </a:xfrm>
        </p:spPr>
        <p:txBody>
          <a:bodyPr/>
          <a:lstStyle/>
          <a:p>
            <a:r>
              <a:rPr lang="ro-RO" dirty="0"/>
              <a:t>În funcție de nivelul activității pe server, </a:t>
            </a:r>
            <a:r>
              <a:rPr lang="ro-RO" b="1" dirty="0"/>
              <a:t>timpul de așteptare </a:t>
            </a:r>
            <a:r>
              <a:rPr lang="ro-RO" dirty="0"/>
              <a:t>poate </a:t>
            </a:r>
            <a:r>
              <a:rPr lang="ro-RO" b="1" dirty="0"/>
              <a:t>varia</a:t>
            </a:r>
            <a:r>
              <a:rPr lang="ro-RO" dirty="0"/>
              <a:t>, deci poate fi mai mare decât timpul specificat în </a:t>
            </a:r>
            <a:r>
              <a:rPr lang="ro-RO" b="1" dirty="0"/>
              <a:t>WAITFOR</a:t>
            </a:r>
          </a:p>
          <a:p>
            <a:r>
              <a:rPr lang="ro-RO" dirty="0"/>
              <a:t>Exemple:</a:t>
            </a:r>
          </a:p>
          <a:p>
            <a:pPr marL="0" indent="0">
              <a:buNone/>
            </a:pPr>
            <a:r>
              <a:rPr lang="ro-RO" dirty="0"/>
              <a:t>	</a:t>
            </a:r>
            <a:r>
              <a:rPr lang="ro-RO" dirty="0">
                <a:solidFill>
                  <a:schemeClr val="accent1">
                    <a:lumMod val="75000"/>
                    <a:alpha val="60000"/>
                  </a:schemeClr>
                </a:solidFill>
              </a:rPr>
              <a:t>-- </a:t>
            </a:r>
            <a:r>
              <a:rPr lang="en-US" dirty="0">
                <a:solidFill>
                  <a:schemeClr val="accent1">
                    <a:lumMod val="75000"/>
                    <a:alpha val="60000"/>
                  </a:schemeClr>
                </a:solidFill>
              </a:rPr>
              <a:t>E</a:t>
            </a:r>
            <a:r>
              <a:rPr lang="ro-RO" dirty="0">
                <a:solidFill>
                  <a:schemeClr val="accent1">
                    <a:lumMod val="75000"/>
                    <a:alpha val="60000"/>
                  </a:schemeClr>
                </a:solidFill>
              </a:rPr>
              <a:t>xecuția continuă la 22:00</a:t>
            </a:r>
          </a:p>
          <a:p>
            <a:pPr marL="0" indent="0">
              <a:buNone/>
            </a:pPr>
            <a:r>
              <a:rPr lang="ro-RO" dirty="0">
                <a:latin typeface="Consolas" panose="020B0609020204030204" pitchFamily="49" charset="0"/>
              </a:rPr>
              <a:t>	WAITFOR TIME </a:t>
            </a:r>
            <a:r>
              <a:rPr lang="en-US" dirty="0">
                <a:latin typeface="Consolas" panose="020B0609020204030204" pitchFamily="49" charset="0"/>
              </a:rPr>
              <a:t>'22:00';</a:t>
            </a:r>
          </a:p>
          <a:p>
            <a:pPr marL="0" indent="0">
              <a:buNone/>
            </a:pPr>
            <a:r>
              <a:rPr lang="ro-RO" dirty="0">
                <a:latin typeface="Consolas" panose="020B0609020204030204" pitchFamily="49" charset="0"/>
              </a:rPr>
              <a:t>	</a:t>
            </a:r>
            <a:r>
              <a:rPr lang="ro-RO" dirty="0">
                <a:solidFill>
                  <a:schemeClr val="accent1">
                    <a:lumMod val="75000"/>
                    <a:alpha val="60000"/>
                  </a:schemeClr>
                </a:solidFill>
              </a:rPr>
              <a:t>-</a:t>
            </a:r>
            <a:r>
              <a:rPr lang="en-US" dirty="0">
                <a:solidFill>
                  <a:schemeClr val="accent1">
                    <a:lumMod val="75000"/>
                    <a:alpha val="60000"/>
                  </a:schemeClr>
                </a:solidFill>
              </a:rPr>
              <a:t>- </a:t>
            </a:r>
            <a:r>
              <a:rPr lang="en-US" dirty="0" err="1">
                <a:solidFill>
                  <a:schemeClr val="accent1">
                    <a:lumMod val="75000"/>
                    <a:alpha val="60000"/>
                  </a:schemeClr>
                </a:solidFill>
              </a:rPr>
              <a:t>Execu</a:t>
            </a:r>
            <a:r>
              <a:rPr lang="ro-RO" dirty="0">
                <a:solidFill>
                  <a:schemeClr val="accent1">
                    <a:lumMod val="75000"/>
                    <a:alpha val="60000"/>
                  </a:schemeClr>
                </a:solidFill>
              </a:rPr>
              <a:t>ția continuă peste </a:t>
            </a:r>
            <a:r>
              <a:rPr lang="en-US" dirty="0">
                <a:solidFill>
                  <a:schemeClr val="accent1">
                    <a:lumMod val="75000"/>
                    <a:alpha val="60000"/>
                  </a:schemeClr>
                </a:solidFill>
              </a:rPr>
              <a:t>3</a:t>
            </a:r>
            <a:r>
              <a:rPr lang="ro-RO" dirty="0">
                <a:solidFill>
                  <a:schemeClr val="accent1">
                    <a:lumMod val="75000"/>
                    <a:alpha val="60000"/>
                  </a:schemeClr>
                </a:solidFill>
              </a:rPr>
              <a:t> ore</a:t>
            </a:r>
          </a:p>
          <a:p>
            <a:pPr marL="0" indent="0">
              <a:buNone/>
            </a:pPr>
            <a:r>
              <a:rPr lang="ro-RO" dirty="0">
                <a:latin typeface="Consolas" panose="020B0609020204030204" pitchFamily="49" charset="0"/>
              </a:rPr>
              <a:t>	WAITFOR DELAY </a:t>
            </a:r>
            <a:r>
              <a:rPr lang="en-US" dirty="0">
                <a:latin typeface="Consolas" panose="020B0609020204030204" pitchFamily="49" charset="0"/>
              </a:rPr>
              <a:t>'03:00:00';</a:t>
            </a:r>
          </a:p>
          <a:p>
            <a:endParaRPr lang="en-US" dirty="0"/>
          </a:p>
        </p:txBody>
      </p:sp>
    </p:spTree>
    <p:extLst>
      <p:ext uri="{BB962C8B-B14F-4D97-AF65-F5344CB8AC3E}">
        <p14:creationId xmlns:p14="http://schemas.microsoft.com/office/powerpoint/2010/main" val="1343557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57165"/>
            <a:ext cx="11202600" cy="5267418"/>
          </a:xfrm>
        </p:spPr>
        <p:txBody>
          <a:bodyPr>
            <a:normAutofit/>
          </a:bodyPr>
          <a:lstStyle/>
          <a:p>
            <a:r>
              <a:rPr lang="en-US" dirty="0">
                <a:solidFill>
                  <a:schemeClr val="tx2">
                    <a:lumMod val="75000"/>
                  </a:schemeClr>
                </a:solidFill>
              </a:rPr>
              <a:t>THROW</a:t>
            </a:r>
            <a:r>
              <a:rPr lang="en-US" dirty="0"/>
              <a:t> – </a:t>
            </a:r>
            <a:r>
              <a:rPr lang="ro-RO" dirty="0"/>
              <a:t>aruncă o excepție și transferă execuția unui bloc CATCH dintr-o construcție TRY … CATCH </a:t>
            </a:r>
            <a:endParaRPr lang="en-US" dirty="0"/>
          </a:p>
          <a:p>
            <a:r>
              <a:rPr lang="ro-RO" b="1" dirty="0"/>
              <a:t>Severitatea excepției </a:t>
            </a:r>
            <a:r>
              <a:rPr lang="ro-RO" dirty="0"/>
              <a:t>este mereu setată pe valoarea </a:t>
            </a:r>
            <a:r>
              <a:rPr lang="ro-RO" b="1" dirty="0"/>
              <a:t>16</a:t>
            </a:r>
          </a:p>
          <a:p>
            <a:r>
              <a:rPr lang="ro-RO" b="1" dirty="0"/>
              <a:t>Sintaxa</a:t>
            </a:r>
            <a:r>
              <a:rPr lang="ro-RO" dirty="0"/>
              <a:t>:</a:t>
            </a:r>
          </a:p>
          <a:p>
            <a:pPr marL="0" indent="0">
              <a:buNone/>
            </a:pPr>
            <a:r>
              <a:rPr lang="ro-RO" dirty="0"/>
              <a:t>    </a:t>
            </a:r>
            <a:r>
              <a:rPr lang="en-US" dirty="0"/>
              <a:t>	</a:t>
            </a:r>
            <a:r>
              <a:rPr lang="en-US" dirty="0">
                <a:latin typeface="Consolas" panose="020B0609020204030204" pitchFamily="49" charset="0"/>
              </a:rPr>
              <a:t>THROW [ { </a:t>
            </a:r>
            <a:r>
              <a:rPr lang="en-US" dirty="0" err="1">
                <a:latin typeface="Consolas" panose="020B0609020204030204" pitchFamily="49" charset="0"/>
              </a:rPr>
              <a:t>error_number</a:t>
            </a:r>
            <a:r>
              <a:rPr lang="en-US" dirty="0">
                <a:latin typeface="Consolas" panose="020B0609020204030204" pitchFamily="49" charset="0"/>
              </a:rPr>
              <a:t> | @</a:t>
            </a:r>
            <a:r>
              <a:rPr lang="en-US" dirty="0" err="1">
                <a:latin typeface="Consolas" panose="020B0609020204030204" pitchFamily="49" charset="0"/>
              </a:rPr>
              <a:t>local_variable</a:t>
            </a:r>
            <a:r>
              <a:rPr lang="en-US" dirty="0">
                <a:latin typeface="Consolas" panose="020B0609020204030204" pitchFamily="49" charset="0"/>
              </a:rPr>
              <a:t> },</a:t>
            </a:r>
          </a:p>
          <a:p>
            <a:pPr marL="0" indent="0">
              <a:buNone/>
            </a:pPr>
            <a:r>
              <a:rPr lang="en-US" dirty="0">
                <a:latin typeface="Consolas" panose="020B0609020204030204" pitchFamily="49" charset="0"/>
              </a:rPr>
              <a:t>        	{ message | @</a:t>
            </a:r>
            <a:r>
              <a:rPr lang="en-US" dirty="0" err="1">
                <a:latin typeface="Consolas" panose="020B0609020204030204" pitchFamily="49" charset="0"/>
              </a:rPr>
              <a:t>local_variable</a:t>
            </a:r>
            <a:r>
              <a:rPr lang="en-US" dirty="0">
                <a:latin typeface="Consolas" panose="020B0609020204030204" pitchFamily="49" charset="0"/>
              </a:rPr>
              <a:t> },</a:t>
            </a:r>
          </a:p>
          <a:p>
            <a:pPr marL="0" indent="0">
              <a:buNone/>
            </a:pPr>
            <a:r>
              <a:rPr lang="en-US" dirty="0">
                <a:latin typeface="Consolas" panose="020B0609020204030204" pitchFamily="49" charset="0"/>
              </a:rPr>
              <a:t>        	{ state | @</a:t>
            </a:r>
            <a:r>
              <a:rPr lang="en-US" dirty="0" err="1">
                <a:latin typeface="Consolas" panose="020B0609020204030204" pitchFamily="49" charset="0"/>
              </a:rPr>
              <a:t>local_variable</a:t>
            </a:r>
            <a:r>
              <a:rPr lang="en-US" dirty="0">
                <a:latin typeface="Consolas" panose="020B0609020204030204" pitchFamily="49" charset="0"/>
              </a:rPr>
              <a:t> } ] [ ; ]</a:t>
            </a:r>
            <a:endParaRPr lang="ro-RO" dirty="0">
              <a:latin typeface="Consolas" panose="020B0609020204030204" pitchFamily="49" charset="0"/>
            </a:endParaRPr>
          </a:p>
          <a:p>
            <a:r>
              <a:rPr lang="ro-RO" dirty="0"/>
              <a:t>Exemplu:</a:t>
            </a:r>
          </a:p>
          <a:p>
            <a:pPr marL="0" indent="0">
              <a:buNone/>
            </a:pPr>
            <a:r>
              <a:rPr lang="en-US" dirty="0"/>
              <a:t>	</a:t>
            </a:r>
            <a:r>
              <a:rPr lang="ro-RO" dirty="0">
                <a:latin typeface="Consolas" panose="020B0609020204030204" pitchFamily="49" charset="0"/>
              </a:rPr>
              <a:t>THROW </a:t>
            </a:r>
            <a:r>
              <a:rPr lang="en-US" dirty="0">
                <a:latin typeface="Consolas" panose="020B0609020204030204" pitchFamily="49" charset="0"/>
              </a:rPr>
              <a:t>50002, </a:t>
            </a:r>
            <a:r>
              <a:rPr lang="ro-RO" dirty="0">
                <a:latin typeface="Consolas" panose="020B0609020204030204" pitchFamily="49" charset="0"/>
              </a:rPr>
              <a:t>N</a:t>
            </a:r>
            <a:r>
              <a:rPr lang="en-US" dirty="0">
                <a:latin typeface="Consolas" panose="020B0609020204030204" pitchFamily="49" charset="0"/>
              </a:rPr>
              <a:t>'</a:t>
            </a:r>
            <a:r>
              <a:rPr lang="ro-RO" dirty="0">
                <a:latin typeface="Consolas" panose="020B0609020204030204" pitchFamily="49" charset="0"/>
              </a:rPr>
              <a:t>Înregistrarea nu există!</a:t>
            </a:r>
            <a:r>
              <a:rPr lang="en-US" dirty="0">
                <a:latin typeface="Consolas" panose="020B0609020204030204" pitchFamily="49" charset="0"/>
              </a:rPr>
              <a:t> ', 1;</a:t>
            </a:r>
          </a:p>
          <a:p>
            <a:endParaRPr lang="en-US" dirty="0"/>
          </a:p>
        </p:txBody>
      </p:sp>
    </p:spTree>
    <p:extLst>
      <p:ext uri="{BB962C8B-B14F-4D97-AF65-F5344CB8AC3E}">
        <p14:creationId xmlns:p14="http://schemas.microsoft.com/office/powerpoint/2010/main" val="94082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48286"/>
            <a:ext cx="10986577" cy="5209713"/>
          </a:xfrm>
        </p:spPr>
        <p:txBody>
          <a:bodyPr>
            <a:normAutofit/>
          </a:bodyPr>
          <a:lstStyle/>
          <a:p>
            <a:r>
              <a:rPr lang="en-US" dirty="0">
                <a:solidFill>
                  <a:schemeClr val="tx2">
                    <a:lumMod val="75000"/>
                  </a:schemeClr>
                </a:solidFill>
              </a:rPr>
              <a:t>TRY … CATCH</a:t>
            </a:r>
            <a:r>
              <a:rPr lang="en-US" dirty="0"/>
              <a:t> </a:t>
            </a:r>
            <a:r>
              <a:rPr lang="en-US" dirty="0" err="1"/>
              <a:t>implementeaz</a:t>
            </a:r>
            <a:r>
              <a:rPr lang="ro-RO" dirty="0"/>
              <a:t>ă tratarea erorilor pentru Transact-SQL</a:t>
            </a:r>
            <a:r>
              <a:rPr lang="en-US" dirty="0"/>
              <a:t> </a:t>
            </a:r>
            <a:r>
              <a:rPr lang="ro-RO" dirty="0"/>
              <a:t>și captează toate erorile de execuție care au o severitate mai mare decât 10 și care nu închid conexiunea la baza de date</a:t>
            </a:r>
          </a:p>
          <a:p>
            <a:r>
              <a:rPr lang="ro-RO" b="1" dirty="0"/>
              <a:t>Sintaxa</a:t>
            </a:r>
            <a:r>
              <a:rPr lang="ro-RO" dirty="0"/>
              <a:t>:</a:t>
            </a:r>
          </a:p>
          <a:p>
            <a:pPr marL="0" indent="0">
              <a:buNone/>
            </a:pPr>
            <a:r>
              <a:rPr lang="ro-RO" dirty="0"/>
              <a:t>   </a:t>
            </a:r>
            <a:r>
              <a:rPr lang="en-US" dirty="0"/>
              <a:t>	</a:t>
            </a:r>
            <a:r>
              <a:rPr lang="en-US" dirty="0">
                <a:latin typeface="Consolas" panose="020B0609020204030204" pitchFamily="49" charset="0"/>
              </a:rPr>
              <a:t>BEGIN TRY</a:t>
            </a:r>
          </a:p>
          <a:p>
            <a:pPr marL="0" indent="0">
              <a:buNone/>
            </a:pP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a:t>
            </a:r>
          </a:p>
          <a:p>
            <a:pPr marL="0" indent="0">
              <a:buNone/>
            </a:pPr>
            <a:r>
              <a:rPr lang="ro-RO" dirty="0">
                <a:latin typeface="Consolas" panose="020B0609020204030204" pitchFamily="49" charset="0"/>
              </a:rPr>
              <a:t>   </a:t>
            </a:r>
            <a:r>
              <a:rPr lang="en-US" dirty="0">
                <a:latin typeface="Consolas" panose="020B0609020204030204" pitchFamily="49" charset="0"/>
              </a:rPr>
              <a:t>	END TRY</a:t>
            </a:r>
          </a:p>
          <a:p>
            <a:pPr marL="0" indent="0">
              <a:buNone/>
            </a:pPr>
            <a:r>
              <a:rPr lang="ro-RO" dirty="0">
                <a:latin typeface="Consolas" panose="020B0609020204030204" pitchFamily="49" charset="0"/>
              </a:rPr>
              <a:t>   </a:t>
            </a:r>
            <a:r>
              <a:rPr lang="en-US" dirty="0">
                <a:latin typeface="Consolas" panose="020B0609020204030204" pitchFamily="49" charset="0"/>
              </a:rPr>
              <a:t>	BEGIN CATCH</a:t>
            </a:r>
          </a:p>
          <a:p>
            <a:pPr marL="0" indent="0">
              <a:buNone/>
            </a:pPr>
            <a:r>
              <a:rPr lang="en-US" dirty="0">
                <a:latin typeface="Consolas" panose="020B0609020204030204" pitchFamily="49" charset="0"/>
              </a:rPr>
              <a:t>     	[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 ]</a:t>
            </a:r>
          </a:p>
          <a:p>
            <a:pPr marL="0" indent="0">
              <a:buNone/>
            </a:pPr>
            <a:r>
              <a:rPr lang="ro-RO" dirty="0">
                <a:latin typeface="Consolas" panose="020B0609020204030204" pitchFamily="49" charset="0"/>
              </a:rPr>
              <a:t>   </a:t>
            </a:r>
            <a:r>
              <a:rPr lang="en-US" dirty="0">
                <a:latin typeface="Consolas" panose="020B0609020204030204" pitchFamily="49" charset="0"/>
              </a:rPr>
              <a:t>	END CATCH</a:t>
            </a:r>
          </a:p>
          <a:p>
            <a:pPr marL="0" indent="0">
              <a:buNone/>
            </a:pPr>
            <a:r>
              <a:rPr lang="ro-RO" dirty="0">
                <a:latin typeface="Consolas" panose="020B0609020204030204" pitchFamily="49" charset="0"/>
              </a:rPr>
              <a:t>   </a:t>
            </a:r>
            <a:r>
              <a:rPr lang="en-US" dirty="0">
                <a:latin typeface="Consolas" panose="020B0609020204030204" pitchFamily="49" charset="0"/>
              </a:rPr>
              <a:t>	[ ; ]</a:t>
            </a:r>
          </a:p>
        </p:txBody>
      </p:sp>
    </p:spTree>
    <p:extLst>
      <p:ext uri="{BB962C8B-B14F-4D97-AF65-F5344CB8AC3E}">
        <p14:creationId xmlns:p14="http://schemas.microsoft.com/office/powerpoint/2010/main" val="3858567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113777" y="1674919"/>
            <a:ext cx="10782301" cy="5063231"/>
          </a:xfrm>
        </p:spPr>
        <p:txBody>
          <a:bodyPr>
            <a:normAutofit/>
          </a:bodyPr>
          <a:lstStyle/>
          <a:p>
            <a:r>
              <a:rPr lang="ro-RO" dirty="0"/>
              <a:t>În interiorul unui bloc </a:t>
            </a:r>
            <a:r>
              <a:rPr lang="ro-RO" b="1" dirty="0"/>
              <a:t>CATCH</a:t>
            </a:r>
            <a:r>
              <a:rPr lang="ro-RO" dirty="0"/>
              <a:t> pot fi folosite următoarele funcții sistem pentru a obține informații despre eroarea care a cauzat execuția blocului </a:t>
            </a:r>
            <a:r>
              <a:rPr lang="ro-RO" b="1" dirty="0"/>
              <a:t>CATCH</a:t>
            </a:r>
            <a:r>
              <a:rPr lang="ro-RO" dirty="0"/>
              <a:t>:</a:t>
            </a:r>
          </a:p>
          <a:p>
            <a:r>
              <a:rPr lang="ro-RO" b="1" dirty="0"/>
              <a:t>ERROR_NUMBER() </a:t>
            </a:r>
            <a:r>
              <a:rPr lang="ro-RO" dirty="0"/>
              <a:t>– returnează numărul erorii</a:t>
            </a:r>
          </a:p>
          <a:p>
            <a:r>
              <a:rPr lang="ro-RO" b="1" dirty="0"/>
              <a:t>ERROR_SEVERITY() </a:t>
            </a:r>
            <a:r>
              <a:rPr lang="ro-RO" dirty="0"/>
              <a:t>– returnează severitatea erorii</a:t>
            </a:r>
          </a:p>
          <a:p>
            <a:r>
              <a:rPr lang="ro-RO" b="1" dirty="0"/>
              <a:t>ERROR_STATE()</a:t>
            </a:r>
            <a:r>
              <a:rPr lang="ro-RO" dirty="0"/>
              <a:t> – returnează </a:t>
            </a:r>
            <a:r>
              <a:rPr lang="ro-RO" i="1" dirty="0" err="1"/>
              <a:t>error</a:t>
            </a:r>
            <a:r>
              <a:rPr lang="ro-RO" i="1" dirty="0"/>
              <a:t> state </a:t>
            </a:r>
            <a:r>
              <a:rPr lang="ro-RO" i="1" dirty="0" err="1"/>
              <a:t>number</a:t>
            </a:r>
            <a:endParaRPr lang="ro-RO" i="1" dirty="0"/>
          </a:p>
          <a:p>
            <a:r>
              <a:rPr lang="ro-RO" b="1" dirty="0"/>
              <a:t>ERROR_PROCEDURE() </a:t>
            </a:r>
            <a:r>
              <a:rPr lang="ro-RO" dirty="0"/>
              <a:t>– returnează numele procedurii stocate sau al trigger-ului în care a avut loc eroarea</a:t>
            </a:r>
          </a:p>
          <a:p>
            <a:r>
              <a:rPr lang="ro-RO" b="1" dirty="0"/>
              <a:t>ERROR_LINE() </a:t>
            </a:r>
            <a:r>
              <a:rPr lang="ro-RO" dirty="0"/>
              <a:t>– returnează numărul liniei care a cauzat eroarea</a:t>
            </a:r>
          </a:p>
          <a:p>
            <a:r>
              <a:rPr lang="ro-RO" b="1" dirty="0"/>
              <a:t>ERROR_MESSAGE() </a:t>
            </a:r>
            <a:r>
              <a:rPr lang="ro-RO" dirty="0"/>
              <a:t>– returnează mesajul erorii</a:t>
            </a:r>
            <a:endParaRPr lang="en-US" dirty="0"/>
          </a:p>
          <a:p>
            <a:endParaRPr lang="en-US" dirty="0"/>
          </a:p>
        </p:txBody>
      </p:sp>
    </p:spTree>
    <p:extLst>
      <p:ext uri="{BB962C8B-B14F-4D97-AF65-F5344CB8AC3E}">
        <p14:creationId xmlns:p14="http://schemas.microsoft.com/office/powerpoint/2010/main" val="1743916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051634" y="1692676"/>
            <a:ext cx="10826688" cy="5165324"/>
          </a:xfrm>
        </p:spPr>
        <p:txBody>
          <a:bodyPr>
            <a:normAutofit/>
          </a:bodyPr>
          <a:lstStyle/>
          <a:p>
            <a:pPr marL="0" indent="0">
              <a:buNone/>
            </a:pPr>
            <a:r>
              <a:rPr lang="en-US" sz="2400" b="1" dirty="0" err="1"/>
              <a:t>Mesaje</a:t>
            </a:r>
            <a:r>
              <a:rPr lang="en-US" sz="2400" b="1" dirty="0"/>
              <a:t> de </a:t>
            </a:r>
            <a:r>
              <a:rPr lang="en-US" sz="2400" b="1" dirty="0" err="1"/>
              <a:t>eroare</a:t>
            </a:r>
            <a:endParaRPr lang="en-US" sz="2400" b="1" dirty="0"/>
          </a:p>
          <a:p>
            <a:r>
              <a:rPr lang="en-US" b="1" dirty="0"/>
              <a:t>Error number </a:t>
            </a:r>
            <a:r>
              <a:rPr lang="en-US" dirty="0"/>
              <a:t>(</a:t>
            </a:r>
            <a:r>
              <a:rPr lang="en-US" dirty="0" err="1"/>
              <a:t>num</a:t>
            </a:r>
            <a:r>
              <a:rPr lang="ro-RO" dirty="0"/>
              <a:t>ărul erorii)</a:t>
            </a:r>
            <a:r>
              <a:rPr lang="en-US" dirty="0"/>
              <a:t> </a:t>
            </a:r>
            <a:r>
              <a:rPr lang="en-US" dirty="0" err="1"/>
              <a:t>este</a:t>
            </a:r>
            <a:r>
              <a:rPr lang="en-US" dirty="0"/>
              <a:t> </a:t>
            </a:r>
            <a:r>
              <a:rPr lang="ro-RO" i="0" dirty="0"/>
              <a:t>o valoare întreagă cuprinsă între 1 și </a:t>
            </a:r>
            <a:r>
              <a:rPr lang="en-US" i="0" dirty="0"/>
              <a:t>49999</a:t>
            </a:r>
            <a:endParaRPr lang="ro-RO" i="0" dirty="0"/>
          </a:p>
          <a:p>
            <a:pPr lvl="1"/>
            <a:r>
              <a:rPr lang="ro-RO" i="0" dirty="0"/>
              <a:t>Pentru erorile </a:t>
            </a:r>
            <a:r>
              <a:rPr lang="ro-RO" b="1" i="0" dirty="0" err="1"/>
              <a:t>custom</a:t>
            </a:r>
            <a:r>
              <a:rPr lang="ro-RO" i="0" dirty="0"/>
              <a:t> (definite de către utilizator) valoarea este cuprinsă între 50000 și </a:t>
            </a:r>
            <a:r>
              <a:rPr lang="en-US" i="0" dirty="0"/>
              <a:t>2147483647</a:t>
            </a:r>
            <a:endParaRPr lang="ro-RO" i="0" dirty="0"/>
          </a:p>
          <a:p>
            <a:r>
              <a:rPr lang="en-US" b="1" dirty="0"/>
              <a:t>Error severity </a:t>
            </a:r>
            <a:r>
              <a:rPr lang="en-US" dirty="0"/>
              <a:t>(</a:t>
            </a:r>
            <a:r>
              <a:rPr lang="en-US" dirty="0" err="1"/>
              <a:t>severitatea</a:t>
            </a:r>
            <a:r>
              <a:rPr lang="en-US" dirty="0"/>
              <a:t> </a:t>
            </a:r>
            <a:r>
              <a:rPr lang="en-US" dirty="0" err="1"/>
              <a:t>erorii</a:t>
            </a:r>
            <a:r>
              <a:rPr lang="en-US" dirty="0"/>
              <a:t>) - </a:t>
            </a:r>
            <a:r>
              <a:rPr lang="en-US" i="0" dirty="0"/>
              <a:t>26 de </a:t>
            </a:r>
            <a:r>
              <a:rPr lang="en-US" i="0" dirty="0" err="1"/>
              <a:t>nivele</a:t>
            </a:r>
            <a:r>
              <a:rPr lang="en-US" i="0" dirty="0"/>
              <a:t> de </a:t>
            </a:r>
            <a:r>
              <a:rPr lang="en-US" i="0" dirty="0" err="1"/>
              <a:t>severitate</a:t>
            </a:r>
            <a:endParaRPr lang="en-US" i="0" dirty="0"/>
          </a:p>
          <a:p>
            <a:pPr lvl="1"/>
            <a:r>
              <a:rPr lang="en-US" i="0" dirty="0" err="1"/>
              <a:t>Erorile</a:t>
            </a:r>
            <a:r>
              <a:rPr lang="en-US" i="0" dirty="0"/>
              <a:t> care au </a:t>
            </a:r>
            <a:r>
              <a:rPr lang="en-US" i="0" dirty="0" err="1"/>
              <a:t>nivelul</a:t>
            </a:r>
            <a:r>
              <a:rPr lang="en-US" i="0" dirty="0"/>
              <a:t> de </a:t>
            </a:r>
            <a:r>
              <a:rPr lang="en-US" i="0" dirty="0" err="1"/>
              <a:t>severitate</a:t>
            </a:r>
            <a:r>
              <a:rPr lang="en-US" i="0" dirty="0"/>
              <a:t> ≥ 16 </a:t>
            </a:r>
            <a:r>
              <a:rPr lang="en-US" i="0" dirty="0" err="1"/>
              <a:t>sunt</a:t>
            </a:r>
            <a:r>
              <a:rPr lang="en-US" i="0" dirty="0"/>
              <a:t> </a:t>
            </a:r>
            <a:r>
              <a:rPr lang="ro-RO" i="0" dirty="0"/>
              <a:t>înregistrate în </a:t>
            </a:r>
            <a:r>
              <a:rPr lang="ro-RO" i="1" dirty="0" err="1"/>
              <a:t>error</a:t>
            </a:r>
            <a:r>
              <a:rPr lang="ro-RO" i="1" dirty="0"/>
              <a:t> log </a:t>
            </a:r>
            <a:r>
              <a:rPr lang="ro-RO" i="0" dirty="0"/>
              <a:t>în mod automat</a:t>
            </a:r>
          </a:p>
          <a:p>
            <a:pPr lvl="1"/>
            <a:r>
              <a:rPr lang="ro-RO" i="0" dirty="0"/>
              <a:t>Erorile care au nivelul de severitate cuprins între 20 și 25 sunt fatale și închid conexiunea</a:t>
            </a:r>
          </a:p>
          <a:p>
            <a:r>
              <a:rPr lang="ro-RO" dirty="0"/>
              <a:t>Error message (mesajul erorii) – NVARCHAR(2048)</a:t>
            </a:r>
          </a:p>
          <a:p>
            <a:endParaRPr lang="en-US" dirty="0"/>
          </a:p>
          <a:p>
            <a:pPr lvl="1"/>
            <a:endParaRPr lang="en-US" dirty="0"/>
          </a:p>
        </p:txBody>
      </p:sp>
    </p:spTree>
    <p:extLst>
      <p:ext uri="{BB962C8B-B14F-4D97-AF65-F5344CB8AC3E}">
        <p14:creationId xmlns:p14="http://schemas.microsoft.com/office/powerpoint/2010/main" val="324207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6C107-E992-F257-43A3-A89E9E4C11FB}"/>
              </a:ext>
            </a:extLst>
          </p:cNvPr>
          <p:cNvSpPr>
            <a:spLocks noGrp="1"/>
          </p:cNvSpPr>
          <p:nvPr>
            <p:ph type="title"/>
          </p:nvPr>
        </p:nvSpPr>
        <p:spPr/>
        <p:txBody>
          <a:bodyPr/>
          <a:lstStyle/>
          <a:p>
            <a:r>
              <a:rPr lang="ro-RO" dirty="0">
                <a:latin typeface="+mn-lt"/>
              </a:rPr>
              <a:t>Exerciții</a:t>
            </a:r>
            <a:endParaRPr lang="ro-RO" dirty="0"/>
          </a:p>
        </p:txBody>
      </p:sp>
      <p:sp>
        <p:nvSpPr>
          <p:cNvPr id="3" name="Content Placeholder 2">
            <a:extLst>
              <a:ext uri="{FF2B5EF4-FFF2-40B4-BE49-F238E27FC236}">
                <a16:creationId xmlns:a16="http://schemas.microsoft.com/office/drawing/2014/main" id="{CA4E3AEF-40F0-9094-F2CB-474E888CE50D}"/>
              </a:ext>
            </a:extLst>
          </p:cNvPr>
          <p:cNvSpPr>
            <a:spLocks noGrp="1"/>
          </p:cNvSpPr>
          <p:nvPr>
            <p:ph idx="1"/>
          </p:nvPr>
        </p:nvSpPr>
        <p:spPr>
          <a:xfrm>
            <a:off x="989400" y="1685925"/>
            <a:ext cx="10942188" cy="5172075"/>
          </a:xfrm>
        </p:spPr>
        <p:txBody>
          <a:bodyPr>
            <a:normAutofit/>
          </a:bodyPr>
          <a:lstStyle/>
          <a:p>
            <a:pPr marL="45720" indent="0">
              <a:buNone/>
            </a:pPr>
            <a:r>
              <a:rPr lang="ro-RO" dirty="0"/>
              <a:t>1) Să se creeze o procedură stocată care șterge o atracție din tabelul </a:t>
            </a:r>
            <a:r>
              <a:rPr lang="ro-RO" i="1" dirty="0"/>
              <a:t>Atractii</a:t>
            </a:r>
            <a:r>
              <a:rPr lang="ro-RO" dirty="0"/>
              <a:t>. Procedura stocată va avea un singur parametru de intrare: numele atracției. Înainte de ștergerea atracției, se va verifica dacă există note pentru acea atracție. În cazul în care există note date acelei atracții, se va afișa pe ecran un mesaj corespunzător și nu se va șterge atracția respectivă. </a:t>
            </a:r>
          </a:p>
          <a:p>
            <a:pPr marL="45720" indent="0">
              <a:buNone/>
            </a:pPr>
            <a:r>
              <a:rPr lang="ro-RO" dirty="0"/>
              <a:t>2) Să se creeze o procedură stocată care inserează o notă în tabelul </a:t>
            </a:r>
            <a:r>
              <a:rPr lang="ro-RO" i="1" dirty="0"/>
              <a:t>Note</a:t>
            </a:r>
            <a:r>
              <a:rPr lang="ro-RO" dirty="0"/>
              <a:t>. Procedura stocată va avea 3 parametri de intrare: codul atracției, codul vizitatorului și nota. Înainte de inserare, se va verifica dacă există codul atracției și codul vizitatorului în tabelele </a:t>
            </a:r>
            <a:r>
              <a:rPr lang="ro-RO" i="1" dirty="0"/>
              <a:t>Atractii</a:t>
            </a:r>
            <a:r>
              <a:rPr lang="ro-RO" dirty="0"/>
              <a:t> și </a:t>
            </a:r>
            <a:r>
              <a:rPr lang="ro-RO" i="1" dirty="0"/>
              <a:t>Vizitatori</a:t>
            </a:r>
            <a:r>
              <a:rPr lang="ro-RO" dirty="0"/>
              <a:t>. Dacă nu există, se va genera un mesaj de eroare. Dacă există, se verifică dacă nota este cuprinsă între 1 și 10. Se va returna un mesaj de eroare dacă nota nu are o valoare validă. </a:t>
            </a:r>
          </a:p>
          <a:p>
            <a:pPr marL="45720" indent="0">
              <a:buNone/>
            </a:pPr>
            <a:r>
              <a:rPr lang="ro-RO" dirty="0"/>
              <a:t>3) Să se creeze o procedură stocată care inserează 50 de înregistrări noi în tabelul </a:t>
            </a:r>
            <a:r>
              <a:rPr lang="ro-RO" i="1" dirty="0"/>
              <a:t>Atractii</a:t>
            </a:r>
            <a:r>
              <a:rPr lang="ro-RO" dirty="0"/>
              <a:t>. Conținutul înregistrărilor va fi generat în mod dinamic. În definiția procedurii stocate se vor folosi cuvinte cheie din limbajul de control al fluxului și/sau execuție dinamică. Se pot folosi și apeluri de funcții sistem cum ar fi GETDATE(), RAND() și alte funcții similare. </a:t>
            </a:r>
          </a:p>
        </p:txBody>
      </p:sp>
    </p:spTree>
    <p:extLst>
      <p:ext uri="{BB962C8B-B14F-4D97-AF65-F5344CB8AC3E}">
        <p14:creationId xmlns:p14="http://schemas.microsoft.com/office/powerpoint/2010/main" val="331265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https://learn.microsoft.com/en-us/sql/relational-databases/stored-procedures/stored-procedures-database-engine?view=sql-server-ver16</a:t>
            </a:r>
            <a:endParaRPr lang="en-US" dirty="0"/>
          </a:p>
          <a:p>
            <a:r>
              <a:rPr lang="ro-RO" dirty="0">
                <a:hlinkClick r:id="rId3"/>
              </a:rPr>
              <a:t>https://learn.microsoft.com/en-us/sql/t-sql/language-elements/execute-transact-sql?view=sql-server-ver16</a:t>
            </a:r>
            <a:endParaRPr lang="en-US" dirty="0"/>
          </a:p>
          <a:p>
            <a:r>
              <a:rPr lang="ro-RO" dirty="0">
                <a:hlinkClick r:id="rId4"/>
              </a:rPr>
              <a:t>https://learn.microsoft.com/en-us/sql/relational-databases/system-stored-procedures/sp-executesql-transact-sql?view=sql-server-ver16</a:t>
            </a:r>
            <a:endParaRPr lang="en-US" dirty="0"/>
          </a:p>
          <a:p>
            <a:r>
              <a:rPr lang="ro-RO" dirty="0">
                <a:hlinkClick r:id="rId5"/>
              </a:rPr>
              <a:t>https://learn.microsoft.com/en-us/sql/t-sql/statements/set-nocount-transact-sql?view=sql-server-ver16</a:t>
            </a:r>
            <a:endParaRPr lang="en-US" dirty="0"/>
          </a:p>
          <a:p>
            <a:r>
              <a:rPr lang="ro-RO" dirty="0">
                <a:hlinkClick r:id="rId6"/>
              </a:rPr>
              <a:t>https://learn.microsoft.com/en-us/sql/t-sql/language-elements/variables-transact-sql?view=sql-server-ver16</a:t>
            </a:r>
            <a:endParaRPr lang="en-US" dirty="0"/>
          </a:p>
          <a:p>
            <a:endParaRPr lang="ro-RO" dirty="0"/>
          </a:p>
        </p:txBody>
      </p:sp>
    </p:spTree>
    <p:extLst>
      <p:ext uri="{BB962C8B-B14F-4D97-AF65-F5344CB8AC3E}">
        <p14:creationId xmlns:p14="http://schemas.microsoft.com/office/powerpoint/2010/main" val="3657113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39A40-E6E2-80D9-09B6-B8D013DFFF98}"/>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0D860C0D-BE6D-B419-473B-8C4CD820F5BA}"/>
              </a:ext>
            </a:extLst>
          </p:cNvPr>
          <p:cNvSpPr>
            <a:spLocks noGrp="1"/>
          </p:cNvSpPr>
          <p:nvPr>
            <p:ph idx="1"/>
          </p:nvPr>
        </p:nvSpPr>
        <p:spPr>
          <a:xfrm>
            <a:off x="989400" y="1685925"/>
            <a:ext cx="10213200" cy="4990083"/>
          </a:xfrm>
        </p:spPr>
        <p:txBody>
          <a:bodyPr/>
          <a:lstStyle/>
          <a:p>
            <a:r>
              <a:rPr lang="ro-RO" dirty="0">
                <a:hlinkClick r:id="rId2"/>
              </a:rPr>
              <a:t>https://learn.microsoft.com/en-us/sql/t-sql/language-elements/control-of-flow?view=sql-server-ver16</a:t>
            </a:r>
            <a:endParaRPr lang="en-US" dirty="0"/>
          </a:p>
          <a:p>
            <a:r>
              <a:rPr lang="ro-RO" dirty="0">
                <a:hlinkClick r:id="rId3"/>
              </a:rPr>
              <a:t>https://learn.microsoft.com/en-us/sql/t-sql/functions/system-functions-transact-sql?view=sql-server-ver16</a:t>
            </a:r>
            <a:endParaRPr lang="en-US" dirty="0"/>
          </a:p>
          <a:p>
            <a:r>
              <a:rPr lang="ro-RO" dirty="0">
                <a:hlinkClick r:id="rId4"/>
              </a:rPr>
              <a:t>https://learn.microsoft.com/en-us/sql/t-sql/functions/rand-transact-sql?view=sql-server-ver17</a:t>
            </a:r>
            <a:endParaRPr lang="ro-RO" dirty="0"/>
          </a:p>
          <a:p>
            <a:endParaRPr lang="ro-RO" dirty="0"/>
          </a:p>
        </p:txBody>
      </p:sp>
    </p:spTree>
    <p:extLst>
      <p:ext uri="{BB962C8B-B14F-4D97-AF65-F5344CB8AC3E}">
        <p14:creationId xmlns:p14="http://schemas.microsoft.com/office/powerpoint/2010/main" val="2498369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757_TF02895256" id="{3618AF2C-E955-4D87-AA77-A632EB049885}" vid="{2F1D0CFD-78FA-41B2-9059-A58E1373FFEB}"/>
    </a:ext>
  </a:extLst>
</a:theme>
</file>

<file path=ppt/theme/theme2.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BA0A4D47DC33945966F2D7F935CCF0E" ma:contentTypeVersion="3" ma:contentTypeDescription="Create a new document." ma:contentTypeScope="" ma:versionID="c2c727021deea363be86dbc533750fbd">
  <xsd:schema xmlns:xsd="http://www.w3.org/2001/XMLSchema" xmlns:xs="http://www.w3.org/2001/XMLSchema" xmlns:p="http://schemas.microsoft.com/office/2006/metadata/properties" xmlns:ns2="56f16326-9339-4528-a9d2-6879748393ea" targetNamespace="http://schemas.microsoft.com/office/2006/metadata/properties" ma:root="true" ma:fieldsID="b1847720fc8daf9300708e2cae2b0395" ns2:_="">
    <xsd:import namespace="56f16326-9339-4528-a9d2-6879748393e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6f16326-9339-4528-a9d2-6879748393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4BD6FB4-3D21-48B7-8E43-9B2DD52BA648}"/>
</file>

<file path=customXml/itemProps2.xml><?xml version="1.0" encoding="utf-8"?>
<ds:datastoreItem xmlns:ds="http://schemas.openxmlformats.org/officeDocument/2006/customXml" ds:itemID="{3D2C5391-E506-48AA-BDDE-609C601EDA67}"/>
</file>

<file path=customXml/itemProps3.xml><?xml version="1.0" encoding="utf-8"?>
<ds:datastoreItem xmlns:ds="http://schemas.openxmlformats.org/officeDocument/2006/customXml" ds:itemID="{C2073142-144B-48F1-AAFD-DA1D68779CB1}"/>
</file>

<file path=docProps/app.xml><?xml version="1.0" encoding="utf-8"?>
<Properties xmlns="http://schemas.openxmlformats.org/officeDocument/2006/extended-properties" xmlns:vt="http://schemas.openxmlformats.org/officeDocument/2006/docPropsVTypes">
  <Template>Prezentare cu pictură Ocean (ecran lat)</Template>
  <TotalTime>362</TotalTime>
  <Words>2748</Words>
  <Application>Microsoft Office PowerPoint</Application>
  <PresentationFormat>Widescreen</PresentationFormat>
  <Paragraphs>240</Paragraphs>
  <Slides>36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Consolas</vt:lpstr>
      <vt:lpstr>Georgia</vt:lpstr>
      <vt:lpstr>Ocean 16x9</vt:lpstr>
      <vt:lpstr>Proceduri stocate.  Execuție dinamică.  Limbaj de control al fluxului</vt:lpstr>
      <vt:lpstr>Procedura stocată</vt:lpstr>
      <vt:lpstr>Avantajele procedurilor stocate</vt:lpstr>
      <vt:lpstr>Proceduri stocate</vt:lpstr>
      <vt:lpstr>Proceduri stocate</vt:lpstr>
      <vt:lpstr>Proceduri stocate</vt:lpstr>
      <vt:lpstr>Proceduri stocate</vt:lpstr>
      <vt:lpstr>Proceduri stocate</vt:lpstr>
      <vt:lpstr>Proceduri stocate</vt:lpstr>
      <vt:lpstr>Exerciții</vt:lpstr>
      <vt:lpstr>Generarea mesajelor de eroare cu ajutorul RAISERROR</vt:lpstr>
      <vt:lpstr>Generarea mesajelor de eroare cu ajutorul RAISERROR</vt:lpstr>
      <vt:lpstr>Ștergerea procedurilor stocate</vt:lpstr>
      <vt:lpstr>Variabile globale </vt:lpstr>
      <vt:lpstr>Exemple de variabile globale</vt:lpstr>
      <vt:lpstr>SET NOCOUNT</vt:lpstr>
      <vt:lpstr>Execuție dinamică</vt:lpstr>
      <vt:lpstr>Execuție dinamică</vt:lpstr>
      <vt:lpstr>Execuție dinamică</vt:lpstr>
      <vt:lpstr>Limbaj de control al fluxului</vt:lpstr>
      <vt:lpstr>Limbaj de control al fluxului</vt:lpstr>
      <vt:lpstr>Limbaj de control al fluxului</vt:lpstr>
      <vt:lpstr>Limbaj de control al fluxului</vt:lpstr>
      <vt:lpstr>Limbaj de control al fluxului</vt:lpstr>
      <vt:lpstr>Exerciții</vt:lpstr>
      <vt:lpstr>Limbaj de control al fluxului</vt:lpstr>
      <vt:lpstr>Limbaj de control al fluxului</vt:lpstr>
      <vt:lpstr>Limbaj de control al fluxului</vt:lpstr>
      <vt:lpstr>Limbaj de control al fluxului</vt:lpstr>
      <vt:lpstr>Limbaj de control al fluxului</vt:lpstr>
      <vt:lpstr>Limbaj de control al fluxului</vt:lpstr>
      <vt:lpstr>Limbaj de control al fluxului</vt:lpstr>
      <vt:lpstr>Limbaj de control al fluxului</vt:lpstr>
      <vt:lpstr>Exerciții</vt:lpstr>
      <vt:lpstr>Bibliografie</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Proceduri stocate.  Execuție dinamică.  Limbaj de control al fluxului</dc:title>
  <dc:creator>Camelia Andor</dc:creator>
  <cp:lastModifiedBy>Camelia - Florina Andor</cp:lastModifiedBy>
  <cp:revision>45</cp:revision>
  <dcterms:created xsi:type="dcterms:W3CDTF">2023-10-15T16:11:21Z</dcterms:created>
  <dcterms:modified xsi:type="dcterms:W3CDTF">2025-10-27T22:10:42Z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0x010100EBA0A4D47DC33945966F2D7F935CCF0E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