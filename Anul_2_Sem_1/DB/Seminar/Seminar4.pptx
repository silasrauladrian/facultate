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40" r:id="rId1"/>
  </p:sldMasterIdLst>
  <p:notesMasterIdLst>
    <p:notesMasterId r:id="rId45"/>
  </p:notesMasterIdLst>
  <p:handoutMasterIdLst>
    <p:handoutMasterId r:id="rId46"/>
  </p:handoutMasterIdLst>
  <p:sldIdLst>
    <p:sldId id="256" r:id="rId2"/>
    <p:sldId id="258" r:id="rId3"/>
    <p:sldId id="304" r:id="rId4"/>
    <p:sldId id="296" r:id="rId5"/>
    <p:sldId id="305" r:id="rId6"/>
    <p:sldId id="260" r:id="rId7"/>
    <p:sldId id="262" r:id="rId8"/>
    <p:sldId id="263" r:id="rId9"/>
    <p:sldId id="264" r:id="rId10"/>
    <p:sldId id="265" r:id="rId11"/>
    <p:sldId id="309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310" r:id="rId20"/>
    <p:sldId id="273" r:id="rId21"/>
    <p:sldId id="282" r:id="rId22"/>
    <p:sldId id="283" r:id="rId23"/>
    <p:sldId id="274" r:id="rId24"/>
    <p:sldId id="275" r:id="rId25"/>
    <p:sldId id="278" r:id="rId26"/>
    <p:sldId id="276" r:id="rId27"/>
    <p:sldId id="306" r:id="rId28"/>
    <p:sldId id="277" r:id="rId29"/>
    <p:sldId id="307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79" r:id="rId38"/>
    <p:sldId id="308" r:id="rId39"/>
    <p:sldId id="280" r:id="rId40"/>
    <p:sldId id="281" r:id="rId41"/>
    <p:sldId id="291" r:id="rId42"/>
    <p:sldId id="311" r:id="rId43"/>
    <p:sldId id="295" r:id="rId44"/>
  </p:sldIdLst>
  <p:sldSz cx="12192000" cy="6858000"/>
  <p:notesSz cx="6858000" cy="9144000"/>
  <p:defaultTextStyle>
    <a:defPPr rtl="0">
      <a:defRPr lang="ro-r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DA37D80-6434-44D0-A028-1B22A696006F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686" y="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2" d="100"/>
          <a:sy n="72" d="100"/>
        </p:scale>
        <p:origin x="4146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3" Type="http://schemas.openxmlformats.org/officeDocument/2006/relationships/customXml" Target="../customXml/item3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customXml" Target="../customXml/item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ante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o-RO" dirty="0"/>
          </a:p>
        </p:txBody>
      </p:sp>
      <p:sp>
        <p:nvSpPr>
          <p:cNvPr id="3" name="Substituent dată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D0C55261-D00D-4531-85F2-7815D4272C20}" type="datetime1">
              <a:rPr lang="ro-RO" smtClean="0"/>
              <a:t>10.11.2025</a:t>
            </a:fld>
            <a:endParaRPr lang="ro-RO" dirty="0"/>
          </a:p>
        </p:txBody>
      </p:sp>
      <p:sp>
        <p:nvSpPr>
          <p:cNvPr id="4" name="Substituent subsol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o-RO" dirty="0"/>
          </a:p>
        </p:txBody>
      </p:sp>
      <p:sp>
        <p:nvSpPr>
          <p:cNvPr id="5" name="Substituent număr diapozitiv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02BA2C8-71FC-43D0-BD87-0547616971FA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72921363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ante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o-RO" noProof="0" dirty="0"/>
          </a:p>
        </p:txBody>
      </p:sp>
      <p:sp>
        <p:nvSpPr>
          <p:cNvPr id="3" name="Substituent dată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B297A191-F9ED-44AA-AEE4-9E7ED26D0F78}" type="datetime1">
              <a:rPr lang="ro-RO" noProof="0" smtClean="0"/>
              <a:t>10.11.2025</a:t>
            </a:fld>
            <a:endParaRPr lang="ro-RO" noProof="0" dirty="0"/>
          </a:p>
        </p:txBody>
      </p:sp>
      <p:sp>
        <p:nvSpPr>
          <p:cNvPr id="4" name="Substituent imagine diapozitiv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ro-RO" noProof="0" dirty="0"/>
          </a:p>
        </p:txBody>
      </p:sp>
      <p:sp>
        <p:nvSpPr>
          <p:cNvPr id="5" name="Substituent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ro-RO" noProof="0" dirty="0"/>
              <a:t>Faceți clic pentru a edita stilurile de text Coordonator</a:t>
            </a:r>
          </a:p>
          <a:p>
            <a:pPr lvl="1" rtl="0"/>
            <a:r>
              <a:rPr lang="ro-RO" noProof="0" dirty="0"/>
              <a:t>Al doilea nivel</a:t>
            </a:r>
          </a:p>
          <a:p>
            <a:pPr lvl="2" rtl="0"/>
            <a:r>
              <a:rPr lang="ro-RO" noProof="0" dirty="0"/>
              <a:t>Al treilea nivel</a:t>
            </a:r>
          </a:p>
          <a:p>
            <a:pPr lvl="3" rtl="0"/>
            <a:r>
              <a:rPr lang="ro-RO" noProof="0" dirty="0"/>
              <a:t>Al patrulea nivel</a:t>
            </a:r>
          </a:p>
          <a:p>
            <a:pPr lvl="4" rtl="0"/>
            <a:r>
              <a:rPr lang="ro-RO" noProof="0" dirty="0"/>
              <a:t>Al cincilea nivel</a:t>
            </a:r>
          </a:p>
        </p:txBody>
      </p:sp>
      <p:sp>
        <p:nvSpPr>
          <p:cNvPr id="6" name="Substituent subsol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o-RO" noProof="0" dirty="0"/>
          </a:p>
        </p:txBody>
      </p:sp>
      <p:sp>
        <p:nvSpPr>
          <p:cNvPr id="7" name="Substituent număr diapozitiv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C6539446-6953-447E-A4E3-E7CFBF870046}" type="slidenum">
              <a:rPr lang="ro-RO" noProof="0" smtClean="0"/>
              <a:t>‹#›</a:t>
            </a:fld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142392923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ubstituent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ubstituent număr diapozitiv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C6539446-6953-447E-A4E3-E7CFBF870046}" type="slidenum">
              <a:rPr lang="ro-RO" smtClean="0"/>
              <a:t>1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7750143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zitiv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pă3"/>
          <p:cNvSpPr/>
          <p:nvPr/>
        </p:nvSpPr>
        <p:spPr bwMode="gray">
          <a:xfrm>
            <a:off x="2552" y="5243129"/>
            <a:ext cx="12188952" cy="1614871"/>
          </a:xfrm>
          <a:prstGeom prst="rect">
            <a:avLst/>
          </a:prstGeom>
          <a:gradFill>
            <a:gsLst>
              <a:gs pos="833">
                <a:schemeClr val="accent2">
                  <a:lumMod val="60000"/>
                  <a:lumOff val="40000"/>
                  <a:alpha val="38000"/>
                </a:schemeClr>
              </a:gs>
              <a:gs pos="23000">
                <a:schemeClr val="accent2">
                  <a:lumMod val="60000"/>
                  <a:lumOff val="40000"/>
                </a:schemeClr>
              </a:gs>
              <a:gs pos="100000">
                <a:schemeClr val="accent2">
                  <a:lumMod val="20000"/>
                  <a:lumOff val="80000"/>
                  <a:alpha val="89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o-RO" noProof="0" dirty="0"/>
          </a:p>
        </p:txBody>
      </p:sp>
      <p:sp>
        <p:nvSpPr>
          <p:cNvPr id="5" name="cer"/>
          <p:cNvSpPr/>
          <p:nvPr/>
        </p:nvSpPr>
        <p:spPr bwMode="white">
          <a:xfrm>
            <a:off x="2552" y="0"/>
            <a:ext cx="12188952" cy="5334000"/>
          </a:xfrm>
          <a:prstGeom prst="rect">
            <a:avLst/>
          </a:prstGeom>
          <a:gradFill>
            <a:gsLst>
              <a:gs pos="0">
                <a:schemeClr val="accent2">
                  <a:lumMod val="60000"/>
                  <a:lumOff val="40000"/>
                  <a:alpha val="80000"/>
                </a:schemeClr>
              </a:gs>
              <a:gs pos="99000">
                <a:schemeClr val="accent2">
                  <a:lumMod val="20000"/>
                  <a:lumOff val="80000"/>
                  <a:alpha val="6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o-RO" noProof="0" dirty="0"/>
          </a:p>
        </p:txBody>
      </p:sp>
      <p:pic>
        <p:nvPicPr>
          <p:cNvPr id="6" name="apă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4" r="9901"/>
          <a:stretch/>
        </p:blipFill>
        <p:spPr bwMode="ltGray">
          <a:xfrm>
            <a:off x="-1425" y="5497897"/>
            <a:ext cx="12188952" cy="463209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apă1"/>
          <p:cNvPicPr>
            <a:picLocks noChangeAspect="1"/>
          </p:cNvPicPr>
          <p:nvPr/>
        </p:nvPicPr>
        <p:blipFill rotWithShape="1"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18" r="6356"/>
          <a:stretch/>
        </p:blipFill>
        <p:spPr bwMode="gray">
          <a:xfrm flipH="1">
            <a:off x="-1425" y="5221111"/>
            <a:ext cx="12188952" cy="268288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Dreptunghi 7"/>
          <p:cNvSpPr/>
          <p:nvPr/>
        </p:nvSpPr>
        <p:spPr>
          <a:xfrm>
            <a:off x="-1425" y="5961106"/>
            <a:ext cx="12188952" cy="896846"/>
          </a:xfrm>
          <a:prstGeom prst="rect">
            <a:avLst/>
          </a:prstGeom>
          <a:gradFill>
            <a:gsLst>
              <a:gs pos="25000">
                <a:schemeClr val="accent6">
                  <a:lumMod val="60000"/>
                  <a:lumOff val="40000"/>
                  <a:alpha val="0"/>
                </a:schemeClr>
              </a:gs>
              <a:gs pos="100000">
                <a:schemeClr val="accent6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o-RO" noProof="0" dirty="0"/>
          </a:p>
        </p:txBody>
      </p:sp>
      <p:sp>
        <p:nvSpPr>
          <p:cNvPr id="2" name="Titlu 1"/>
          <p:cNvSpPr>
            <a:spLocks noGrp="1"/>
          </p:cNvSpPr>
          <p:nvPr>
            <p:ph type="ctrTitle"/>
          </p:nvPr>
        </p:nvSpPr>
        <p:spPr>
          <a:xfrm>
            <a:off x="1305872" y="1309047"/>
            <a:ext cx="9602789" cy="2667000"/>
          </a:xfrm>
        </p:spPr>
        <p:txBody>
          <a:bodyPr rtlCol="0" anchor="b">
            <a:noAutofit/>
          </a:bodyPr>
          <a:lstStyle>
            <a:lvl1pPr algn="ctr">
              <a:defRPr sz="6000"/>
            </a:lvl1pPr>
          </a:lstStyle>
          <a:p>
            <a:pPr rtl="0"/>
            <a:r>
              <a:rPr lang="en-US" noProof="0"/>
              <a:t>Click to edit Master title style</a:t>
            </a:r>
            <a:endParaRPr lang="ro-RO" noProof="0" dirty="0"/>
          </a:p>
        </p:txBody>
      </p:sp>
      <p:sp>
        <p:nvSpPr>
          <p:cNvPr id="3" name="Subtitlu 2"/>
          <p:cNvSpPr>
            <a:spLocks noGrp="1"/>
          </p:cNvSpPr>
          <p:nvPr>
            <p:ph type="subTitle" idx="1"/>
          </p:nvPr>
        </p:nvSpPr>
        <p:spPr>
          <a:xfrm>
            <a:off x="1305872" y="4038600"/>
            <a:ext cx="9601200" cy="990600"/>
          </a:xfrm>
        </p:spPr>
        <p:txBody>
          <a:bodyPr rtlCol="0">
            <a:normAutofit/>
          </a:bodyPr>
          <a:lstStyle>
            <a:lvl1pPr marL="0" indent="0" algn="ctr">
              <a:spcBef>
                <a:spcPts val="0"/>
              </a:spcBef>
              <a:buNone/>
              <a:defRPr sz="1800" cap="all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pPr rtl="0"/>
            <a:r>
              <a:rPr lang="en-US" noProof="0"/>
              <a:t>Click to edit Master subtitle style</a:t>
            </a:r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2942361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u și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ro-RO" noProof="0" dirty="0"/>
          </a:p>
        </p:txBody>
      </p:sp>
      <p:sp>
        <p:nvSpPr>
          <p:cNvPr id="3" name="Substituent conținut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5pPr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ro-RO" noProof="0" dirty="0"/>
          </a:p>
        </p:txBody>
      </p:sp>
      <p:sp>
        <p:nvSpPr>
          <p:cNvPr id="5" name="Substituent subsol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o-RO" noProof="0" dirty="0"/>
              <a:t>Adăugați un subsol</a:t>
            </a:r>
          </a:p>
        </p:txBody>
      </p:sp>
      <p:sp>
        <p:nvSpPr>
          <p:cNvPr id="4" name="Substituent dată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3DB0413-3825-4517-84C4-BC4D0AB13719}" type="datetime1">
              <a:rPr lang="ro-RO" noProof="0" smtClean="0"/>
              <a:t>10.11.2025</a:t>
            </a:fld>
            <a:endParaRPr lang="ro-RO" noProof="0" dirty="0"/>
          </a:p>
        </p:txBody>
      </p:sp>
      <p:sp>
        <p:nvSpPr>
          <p:cNvPr id="6" name="Substituent număr diapozitiv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ro-RO" noProof="0" smtClean="0"/>
              <a:t>‹#›</a:t>
            </a:fld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3405082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ntet secți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er"/>
          <p:cNvSpPr/>
          <p:nvPr/>
        </p:nvSpPr>
        <p:spPr>
          <a:xfrm>
            <a:off x="2552" y="-1"/>
            <a:ext cx="12188952" cy="6858002"/>
          </a:xfrm>
          <a:prstGeom prst="rect">
            <a:avLst/>
          </a:prstGeom>
          <a:gradFill>
            <a:gsLst>
              <a:gs pos="0">
                <a:schemeClr val="accent2">
                  <a:lumMod val="60000"/>
                  <a:lumOff val="40000"/>
                  <a:alpha val="80000"/>
                </a:schemeClr>
              </a:gs>
              <a:gs pos="99000">
                <a:schemeClr val="accent2">
                  <a:lumMod val="20000"/>
                  <a:lumOff val="80000"/>
                  <a:alpha val="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0" rtlCol="0" anchor="ctr"/>
          <a:lstStyle/>
          <a:p>
            <a:pPr algn="ctr" rtl="0"/>
            <a:endParaRPr lang="ro-RO" noProof="0" dirty="0"/>
          </a:p>
        </p:txBody>
      </p:sp>
      <p:sp>
        <p:nvSpPr>
          <p:cNvPr id="2" name="Titlu 1"/>
          <p:cNvSpPr>
            <a:spLocks noGrp="1"/>
          </p:cNvSpPr>
          <p:nvPr>
            <p:ph type="title"/>
          </p:nvPr>
        </p:nvSpPr>
        <p:spPr>
          <a:xfrm>
            <a:off x="1293813" y="1309047"/>
            <a:ext cx="9601252" cy="2667000"/>
          </a:xfrm>
        </p:spPr>
        <p:txBody>
          <a:bodyPr rtlCol="0" anchor="b">
            <a:normAutofit/>
          </a:bodyPr>
          <a:lstStyle>
            <a:lvl1pPr algn="ctr">
              <a:defRPr sz="6000" b="0"/>
            </a:lvl1pPr>
          </a:lstStyle>
          <a:p>
            <a:pPr rtl="0"/>
            <a:r>
              <a:rPr lang="en-US" noProof="0"/>
              <a:t>Click to edit Master title style</a:t>
            </a:r>
            <a:endParaRPr lang="ro-RO" noProof="0" dirty="0"/>
          </a:p>
        </p:txBody>
      </p:sp>
      <p:sp>
        <p:nvSpPr>
          <p:cNvPr id="3" name="Substituent text 2"/>
          <p:cNvSpPr>
            <a:spLocks noGrp="1"/>
          </p:cNvSpPr>
          <p:nvPr>
            <p:ph type="body" idx="1"/>
          </p:nvPr>
        </p:nvSpPr>
        <p:spPr>
          <a:xfrm>
            <a:off x="1293813" y="4038600"/>
            <a:ext cx="9601200" cy="1143000"/>
          </a:xfrm>
        </p:spPr>
        <p:txBody>
          <a:bodyPr rtlCol="0" anchor="t">
            <a:normAutofit/>
          </a:bodyPr>
          <a:lstStyle>
            <a:lvl1pPr marL="0" indent="0" algn="ctr">
              <a:spcBef>
                <a:spcPts val="0"/>
              </a:spcBef>
              <a:buNone/>
              <a:defRPr sz="2000" cap="all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5" name="Substituent subsol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o-RO" noProof="0" dirty="0"/>
              <a:t>Adăugați un subsol</a:t>
            </a:r>
          </a:p>
        </p:txBody>
      </p:sp>
      <p:sp>
        <p:nvSpPr>
          <p:cNvPr id="4" name="Substituent dată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4057804-296C-404E-AB5A-AECE13AB895F}" type="datetime1">
              <a:rPr lang="ro-RO" noProof="0" smtClean="0"/>
              <a:t>10.11.2025</a:t>
            </a:fld>
            <a:endParaRPr lang="ro-RO" noProof="0" dirty="0"/>
          </a:p>
        </p:txBody>
      </p:sp>
      <p:sp>
        <p:nvSpPr>
          <p:cNvPr id="6" name="Substituent număr diapozitiv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ro-RO" noProof="0" smtClean="0"/>
              <a:t>‹#›</a:t>
            </a:fld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3043559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uă tipuri de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ro-RO" noProof="0" dirty="0"/>
          </a:p>
        </p:txBody>
      </p:sp>
      <p:sp>
        <p:nvSpPr>
          <p:cNvPr id="4" name="Substituent conținut 3"/>
          <p:cNvSpPr>
            <a:spLocks noGrp="1"/>
          </p:cNvSpPr>
          <p:nvPr>
            <p:ph sz="half" idx="2"/>
          </p:nvPr>
        </p:nvSpPr>
        <p:spPr>
          <a:xfrm>
            <a:off x="6278880" y="1572768"/>
            <a:ext cx="4572000" cy="4142232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ro-RO" noProof="0" dirty="0"/>
          </a:p>
        </p:txBody>
      </p:sp>
      <p:sp>
        <p:nvSpPr>
          <p:cNvPr id="3" name="Substituent conținut 2"/>
          <p:cNvSpPr>
            <a:spLocks noGrp="1"/>
          </p:cNvSpPr>
          <p:nvPr>
            <p:ph sz="half" idx="1"/>
          </p:nvPr>
        </p:nvSpPr>
        <p:spPr>
          <a:xfrm>
            <a:off x="1341120" y="1572768"/>
            <a:ext cx="4572000" cy="4142232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ro-RO" noProof="0" dirty="0"/>
          </a:p>
        </p:txBody>
      </p:sp>
      <p:sp>
        <p:nvSpPr>
          <p:cNvPr id="6" name="Substituent subsol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o-RO" noProof="0" dirty="0"/>
              <a:t>Adăugați un subsol</a:t>
            </a:r>
          </a:p>
        </p:txBody>
      </p:sp>
      <p:sp>
        <p:nvSpPr>
          <p:cNvPr id="5" name="Substituent dată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42983A4-6813-4B72-A61A-A17CFCC7D384}" type="datetime1">
              <a:rPr lang="ro-RO" noProof="0" smtClean="0"/>
              <a:t>10.11.2025</a:t>
            </a:fld>
            <a:endParaRPr lang="ro-RO" noProof="0" dirty="0"/>
          </a:p>
        </p:txBody>
      </p:sp>
      <p:sp>
        <p:nvSpPr>
          <p:cNvPr id="7" name="Substituent număr diapozitiv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ro-RO" noProof="0" smtClean="0"/>
              <a:t>‹#›</a:t>
            </a:fld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4249378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aț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u 9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ro-RO" noProof="0" dirty="0"/>
          </a:p>
        </p:txBody>
      </p:sp>
      <p:sp>
        <p:nvSpPr>
          <p:cNvPr id="3" name="Substituent text 2"/>
          <p:cNvSpPr>
            <a:spLocks noGrp="1"/>
          </p:cNvSpPr>
          <p:nvPr>
            <p:ph type="body" idx="1"/>
          </p:nvPr>
        </p:nvSpPr>
        <p:spPr>
          <a:xfrm>
            <a:off x="1341120" y="1572768"/>
            <a:ext cx="4572000" cy="766588"/>
          </a:xfrm>
        </p:spPr>
        <p:txBody>
          <a:bodyPr rtlCol="0"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4" name="Substituent conținut 3"/>
          <p:cNvSpPr>
            <a:spLocks noGrp="1"/>
          </p:cNvSpPr>
          <p:nvPr>
            <p:ph sz="half" idx="2"/>
          </p:nvPr>
        </p:nvSpPr>
        <p:spPr>
          <a:xfrm>
            <a:off x="1341120" y="2365861"/>
            <a:ext cx="4572000" cy="3349140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ro-RO" noProof="0" dirty="0"/>
          </a:p>
        </p:txBody>
      </p:sp>
      <p:sp>
        <p:nvSpPr>
          <p:cNvPr id="5" name="Substituent text 4"/>
          <p:cNvSpPr>
            <a:spLocks noGrp="1"/>
          </p:cNvSpPr>
          <p:nvPr>
            <p:ph type="body" sz="quarter" idx="3"/>
          </p:nvPr>
        </p:nvSpPr>
        <p:spPr>
          <a:xfrm>
            <a:off x="6278880" y="1572768"/>
            <a:ext cx="4572000" cy="766588"/>
          </a:xfrm>
        </p:spPr>
        <p:txBody>
          <a:bodyPr rtlCol="0"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6" name="Substituent conținut 5"/>
          <p:cNvSpPr>
            <a:spLocks noGrp="1"/>
          </p:cNvSpPr>
          <p:nvPr>
            <p:ph sz="quarter" idx="4"/>
          </p:nvPr>
        </p:nvSpPr>
        <p:spPr>
          <a:xfrm>
            <a:off x="6278880" y="2365861"/>
            <a:ext cx="4572000" cy="3349140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ro-RO" noProof="0" dirty="0"/>
          </a:p>
        </p:txBody>
      </p:sp>
      <p:sp>
        <p:nvSpPr>
          <p:cNvPr id="8" name="Substituent subsol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o-RO" noProof="0" dirty="0"/>
              <a:t>Adăugați un subsol</a:t>
            </a:r>
          </a:p>
        </p:txBody>
      </p:sp>
      <p:sp>
        <p:nvSpPr>
          <p:cNvPr id="7" name="Substituent dată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10E1F3A-7531-4910-B6EB-58549CF60FD5}" type="datetime1">
              <a:rPr lang="ro-RO" noProof="0" smtClean="0"/>
              <a:t>10.11.2025</a:t>
            </a:fld>
            <a:endParaRPr lang="ro-RO" noProof="0" dirty="0"/>
          </a:p>
        </p:txBody>
      </p:sp>
      <p:sp>
        <p:nvSpPr>
          <p:cNvPr id="9" name="Substituent număr diapozitiv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ro-RO" noProof="0" smtClean="0"/>
              <a:t>‹#›</a:t>
            </a:fld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1072378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oar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u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ro-RO" noProof="0" dirty="0"/>
          </a:p>
        </p:txBody>
      </p:sp>
      <p:sp>
        <p:nvSpPr>
          <p:cNvPr id="4" name="Substituent subsol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o-RO" noProof="0" dirty="0"/>
              <a:t>Adăugați un subsol</a:t>
            </a:r>
          </a:p>
        </p:txBody>
      </p:sp>
      <p:sp>
        <p:nvSpPr>
          <p:cNvPr id="3" name="Substituent dată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95A7078-7B7F-48B7-8822-93D7DA5E9327}" type="datetime1">
              <a:rPr lang="ro-RO" noProof="0" smtClean="0"/>
              <a:t>10.11.2025</a:t>
            </a:fld>
            <a:endParaRPr lang="ro-RO" noProof="0" dirty="0"/>
          </a:p>
        </p:txBody>
      </p:sp>
      <p:sp>
        <p:nvSpPr>
          <p:cNvPr id="5" name="Substituent număr diapozitiv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ro-RO" noProof="0" smtClean="0"/>
              <a:t>‹#›</a:t>
            </a:fld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3681886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Necomple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er"/>
          <p:cNvSpPr/>
          <p:nvPr/>
        </p:nvSpPr>
        <p:spPr>
          <a:xfrm>
            <a:off x="2552" y="-1"/>
            <a:ext cx="12188952" cy="6858002"/>
          </a:xfrm>
          <a:prstGeom prst="rect">
            <a:avLst/>
          </a:prstGeom>
          <a:gradFill>
            <a:gsLst>
              <a:gs pos="0">
                <a:schemeClr val="accent2">
                  <a:lumMod val="60000"/>
                  <a:lumOff val="40000"/>
                  <a:alpha val="80000"/>
                </a:schemeClr>
              </a:gs>
              <a:gs pos="99000">
                <a:schemeClr val="accent2">
                  <a:lumMod val="20000"/>
                  <a:lumOff val="80000"/>
                  <a:alpha val="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0" rtlCol="0" anchor="ctr"/>
          <a:lstStyle/>
          <a:p>
            <a:pPr algn="ctr" rtl="0"/>
            <a:endParaRPr lang="ro-RO" noProof="0" dirty="0"/>
          </a:p>
        </p:txBody>
      </p:sp>
      <p:sp>
        <p:nvSpPr>
          <p:cNvPr id="3" name="Substituent subsol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o-RO" noProof="0" dirty="0"/>
              <a:t>Adăugați un subsol</a:t>
            </a:r>
          </a:p>
        </p:txBody>
      </p:sp>
      <p:sp>
        <p:nvSpPr>
          <p:cNvPr id="2" name="Substituent dată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5D67F5C-FACA-46A7-A8EA-9CDEA26B0827}" type="datetime1">
              <a:rPr lang="ro-RO" noProof="0" smtClean="0"/>
              <a:t>10.11.2025</a:t>
            </a:fld>
            <a:endParaRPr lang="ro-RO" noProof="0" dirty="0"/>
          </a:p>
        </p:txBody>
      </p:sp>
      <p:sp>
        <p:nvSpPr>
          <p:cNvPr id="4" name="Substituent număr diapozitiv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ro-RO" noProof="0" smtClean="0"/>
              <a:t>‹#›</a:t>
            </a:fld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492262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ținut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>
          <a:xfrm>
            <a:off x="8127479" y="762000"/>
            <a:ext cx="3377133" cy="2743200"/>
          </a:xfrm>
        </p:spPr>
        <p:txBody>
          <a:bodyPr rtlCol="0" anchor="b">
            <a:normAutofit/>
          </a:bodyPr>
          <a:lstStyle>
            <a:lvl1pPr>
              <a:defRPr sz="3200" b="0"/>
            </a:lvl1pPr>
          </a:lstStyle>
          <a:p>
            <a:pPr rtl="0"/>
            <a:r>
              <a:rPr lang="en-US" noProof="0"/>
              <a:t>Click to edit Master title style</a:t>
            </a:r>
            <a:endParaRPr lang="ro-RO" noProof="0" dirty="0"/>
          </a:p>
        </p:txBody>
      </p:sp>
      <p:sp>
        <p:nvSpPr>
          <p:cNvPr id="3" name="Substituent conținut 2"/>
          <p:cNvSpPr>
            <a:spLocks noGrp="1"/>
          </p:cNvSpPr>
          <p:nvPr>
            <p:ph idx="1"/>
          </p:nvPr>
        </p:nvSpPr>
        <p:spPr>
          <a:xfrm>
            <a:off x="760413" y="685800"/>
            <a:ext cx="6858000" cy="4572000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ro-RO" noProof="0" dirty="0"/>
          </a:p>
        </p:txBody>
      </p:sp>
      <p:sp>
        <p:nvSpPr>
          <p:cNvPr id="4" name="Substituent text 3"/>
          <p:cNvSpPr>
            <a:spLocks noGrp="1"/>
          </p:cNvSpPr>
          <p:nvPr>
            <p:ph type="body" sz="half" idx="2"/>
          </p:nvPr>
        </p:nvSpPr>
        <p:spPr>
          <a:xfrm>
            <a:off x="8127479" y="3554104"/>
            <a:ext cx="3377133" cy="1703696"/>
          </a:xfrm>
        </p:spPr>
        <p:txBody>
          <a:bodyPr rtlCol="0">
            <a:normAutofit/>
          </a:bodyPr>
          <a:lstStyle>
            <a:lvl1pPr marL="0" indent="0">
              <a:lnSpc>
                <a:spcPct val="90000"/>
              </a:lnSpc>
              <a:spcBef>
                <a:spcPts val="800"/>
              </a:spcBef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6" name="Substituent subsol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o-RO" noProof="0" dirty="0"/>
              <a:t>Adăugați un subsol</a:t>
            </a:r>
          </a:p>
        </p:txBody>
      </p:sp>
      <p:sp>
        <p:nvSpPr>
          <p:cNvPr id="5" name="Substituent dată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9DC185D-BB37-4190-AD07-0A9F79920DF0}" type="datetime1">
              <a:rPr lang="ro-RO" noProof="0" smtClean="0"/>
              <a:t>10.11.2025</a:t>
            </a:fld>
            <a:endParaRPr lang="ro-RO" noProof="0" dirty="0"/>
          </a:p>
        </p:txBody>
      </p:sp>
      <p:sp>
        <p:nvSpPr>
          <p:cNvPr id="7" name="Substituent număr diapozitiv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ro-RO" noProof="0" smtClean="0"/>
              <a:t>‹#›</a:t>
            </a:fld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1483897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ine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>
          <a:xfrm>
            <a:off x="8127479" y="762000"/>
            <a:ext cx="3377133" cy="2743200"/>
          </a:xfrm>
        </p:spPr>
        <p:txBody>
          <a:bodyPr rtlCol="0" anchor="b">
            <a:normAutofit/>
          </a:bodyPr>
          <a:lstStyle>
            <a:lvl1pPr>
              <a:defRPr sz="3400" b="0"/>
            </a:lvl1pPr>
          </a:lstStyle>
          <a:p>
            <a:pPr rtl="0"/>
            <a:r>
              <a:rPr lang="en-US" noProof="0"/>
              <a:t>Click to edit Master title style</a:t>
            </a:r>
            <a:endParaRPr lang="ro-RO" noProof="0" dirty="0"/>
          </a:p>
        </p:txBody>
      </p:sp>
      <p:sp>
        <p:nvSpPr>
          <p:cNvPr id="3" name="Substituent imagine 2" descr="Un substituent gol pentru a adăuga o imagine. Faceți clic pe substituent și selectați imaginea pe care doriți s-o adăugați"/>
          <p:cNvSpPr>
            <a:spLocks noGrp="1"/>
          </p:cNvSpPr>
          <p:nvPr>
            <p:ph type="pic" idx="1"/>
          </p:nvPr>
        </p:nvSpPr>
        <p:spPr>
          <a:xfrm>
            <a:off x="760413" y="685800"/>
            <a:ext cx="6858000" cy="4572000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en-US" noProof="0"/>
              <a:t>Click icon to add picture</a:t>
            </a:r>
            <a:endParaRPr lang="ro-RO" noProof="0" dirty="0"/>
          </a:p>
        </p:txBody>
      </p:sp>
      <p:sp>
        <p:nvSpPr>
          <p:cNvPr id="4" name="Substituent text 3"/>
          <p:cNvSpPr>
            <a:spLocks noGrp="1"/>
          </p:cNvSpPr>
          <p:nvPr>
            <p:ph type="body" sz="half" idx="2"/>
          </p:nvPr>
        </p:nvSpPr>
        <p:spPr>
          <a:xfrm>
            <a:off x="8127479" y="3554104"/>
            <a:ext cx="3377133" cy="1703696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6" name="Substituent subsol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o-RO" noProof="0" dirty="0"/>
              <a:t>Adăugați un subsol</a:t>
            </a:r>
          </a:p>
        </p:txBody>
      </p:sp>
      <p:sp>
        <p:nvSpPr>
          <p:cNvPr id="5" name="Substituent dată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82CB56C-2BA1-4215-B6A3-04C489B091CB}" type="datetime1">
              <a:rPr lang="ro-RO" noProof="0" smtClean="0"/>
              <a:t>10.11.2025</a:t>
            </a:fld>
            <a:endParaRPr lang="ro-RO" noProof="0" dirty="0"/>
          </a:p>
        </p:txBody>
      </p:sp>
      <p:sp>
        <p:nvSpPr>
          <p:cNvPr id="7" name="Substituent număr diapozitiv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ro-RO" noProof="0" smtClean="0"/>
              <a:t>‹#›</a:t>
            </a:fld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4216615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ext vertical și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ro-RO" noProof="0" dirty="0"/>
          </a:p>
        </p:txBody>
      </p:sp>
      <p:sp>
        <p:nvSpPr>
          <p:cNvPr id="3" name="Substituent text vertical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ro-RO" noProof="0" dirty="0"/>
          </a:p>
        </p:txBody>
      </p:sp>
      <p:sp>
        <p:nvSpPr>
          <p:cNvPr id="5" name="Substituent subsol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o-RO" noProof="0" dirty="0"/>
              <a:t>Adăugați un subsol</a:t>
            </a:r>
          </a:p>
        </p:txBody>
      </p:sp>
      <p:sp>
        <p:nvSpPr>
          <p:cNvPr id="4" name="Substituent dată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9C0E6F7-DBC8-44CA-A21F-7876F2AEC1C8}" type="datetime1">
              <a:rPr lang="ro-RO" noProof="0" smtClean="0"/>
              <a:t>10.11.2025</a:t>
            </a:fld>
            <a:endParaRPr lang="ro-RO" noProof="0" dirty="0"/>
          </a:p>
        </p:txBody>
      </p:sp>
      <p:sp>
        <p:nvSpPr>
          <p:cNvPr id="6" name="Substituent număr diapozitiv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ro-RO" noProof="0" smtClean="0"/>
              <a:t>‹#›</a:t>
            </a:fld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3536256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lu vertical și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vertical 1"/>
          <p:cNvSpPr>
            <a:spLocks noGrp="1"/>
          </p:cNvSpPr>
          <p:nvPr>
            <p:ph type="title" orient="vert"/>
          </p:nvPr>
        </p:nvSpPr>
        <p:spPr>
          <a:xfrm>
            <a:off x="8724900" y="274638"/>
            <a:ext cx="2628900" cy="5440362"/>
          </a:xfrm>
        </p:spPr>
        <p:txBody>
          <a:bodyPr vert="eaVert" rtlCol="0"/>
          <a:lstStyle/>
          <a:p>
            <a:pPr rtl="0"/>
            <a:r>
              <a:rPr lang="en-US" noProof="0"/>
              <a:t>Click to edit Master title style</a:t>
            </a:r>
            <a:endParaRPr lang="ro-RO" noProof="0" dirty="0"/>
          </a:p>
        </p:txBody>
      </p:sp>
      <p:sp>
        <p:nvSpPr>
          <p:cNvPr id="3" name="Substituent text vertical 2"/>
          <p:cNvSpPr>
            <a:spLocks noGrp="1"/>
          </p:cNvSpPr>
          <p:nvPr>
            <p:ph type="body" orient="vert" idx="1"/>
          </p:nvPr>
        </p:nvSpPr>
        <p:spPr>
          <a:xfrm>
            <a:off x="838200" y="274638"/>
            <a:ext cx="7734300" cy="5440362"/>
          </a:xfrm>
        </p:spPr>
        <p:txBody>
          <a:bodyPr vert="eaVert" rtlCol="0"/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ro-RO" noProof="0" dirty="0"/>
          </a:p>
        </p:txBody>
      </p:sp>
      <p:sp>
        <p:nvSpPr>
          <p:cNvPr id="5" name="Substituent subsol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o-RO" noProof="0" dirty="0"/>
              <a:t>Adăugați un subsol</a:t>
            </a:r>
          </a:p>
        </p:txBody>
      </p:sp>
      <p:sp>
        <p:nvSpPr>
          <p:cNvPr id="4" name="Substituent dată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F8C643B-5485-403E-8EBD-16244D488590}" type="datetime1">
              <a:rPr lang="ro-RO" noProof="0" smtClean="0"/>
              <a:t>10.11.2025</a:t>
            </a:fld>
            <a:endParaRPr lang="ro-RO" noProof="0" dirty="0"/>
          </a:p>
        </p:txBody>
      </p:sp>
      <p:sp>
        <p:nvSpPr>
          <p:cNvPr id="6" name="Substituent număr diapozitiv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ro-RO" noProof="0" smtClean="0"/>
              <a:t>‹#›</a:t>
            </a:fld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1358651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er"/>
          <p:cNvSpPr/>
          <p:nvPr/>
        </p:nvSpPr>
        <p:spPr>
          <a:xfrm>
            <a:off x="2552" y="-1"/>
            <a:ext cx="12188952" cy="6858002"/>
          </a:xfrm>
          <a:prstGeom prst="rect">
            <a:avLst/>
          </a:prstGeom>
          <a:gradFill>
            <a:gsLst>
              <a:gs pos="0">
                <a:schemeClr val="accent2">
                  <a:lumMod val="60000"/>
                  <a:lumOff val="40000"/>
                  <a:alpha val="58000"/>
                </a:schemeClr>
              </a:gs>
              <a:gs pos="88000">
                <a:schemeClr val="accent2">
                  <a:lumMod val="20000"/>
                  <a:lumOff val="80000"/>
                  <a:alpha val="6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0" rtlCol="0" anchor="ctr"/>
          <a:lstStyle/>
          <a:p>
            <a:pPr algn="ctr" rtl="0"/>
            <a:endParaRPr lang="ro-RO" noProof="0" dirty="0"/>
          </a:p>
        </p:txBody>
      </p:sp>
      <p:sp>
        <p:nvSpPr>
          <p:cNvPr id="8" name="apă3"/>
          <p:cNvSpPr/>
          <p:nvPr/>
        </p:nvSpPr>
        <p:spPr bwMode="gray">
          <a:xfrm>
            <a:off x="2552" y="6064101"/>
            <a:ext cx="12188952" cy="793899"/>
          </a:xfrm>
          <a:prstGeom prst="rect">
            <a:avLst/>
          </a:prstGeom>
          <a:gradFill>
            <a:gsLst>
              <a:gs pos="833">
                <a:schemeClr val="accent2">
                  <a:lumMod val="60000"/>
                  <a:lumOff val="40000"/>
                  <a:alpha val="38000"/>
                </a:schemeClr>
              </a:gs>
              <a:gs pos="49000">
                <a:schemeClr val="accent2">
                  <a:lumMod val="60000"/>
                  <a:lumOff val="40000"/>
                </a:schemeClr>
              </a:gs>
              <a:gs pos="100000">
                <a:schemeClr val="accent2">
                  <a:lumMod val="20000"/>
                  <a:lumOff val="80000"/>
                  <a:alpha val="89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o-RO" noProof="0" dirty="0"/>
          </a:p>
        </p:txBody>
      </p:sp>
      <p:pic>
        <p:nvPicPr>
          <p:cNvPr id="9" name="apă2"/>
          <p:cNvPicPr>
            <a:picLocks noChangeAspect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4" r="9901"/>
          <a:stretch/>
        </p:blipFill>
        <p:spPr bwMode="white">
          <a:xfrm>
            <a:off x="-1425" y="6256181"/>
            <a:ext cx="12188952" cy="4632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apă1"/>
          <p:cNvPicPr>
            <a:picLocks noChangeAspect="1"/>
          </p:cNvPicPr>
          <p:nvPr/>
        </p:nvPicPr>
        <p:blipFill rotWithShape="1">
          <a:blip r:embed="rId14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18" r="6356"/>
          <a:stretch/>
        </p:blipFill>
        <p:spPr bwMode="gray">
          <a:xfrm flipH="1">
            <a:off x="-1425" y="5979395"/>
            <a:ext cx="12188952" cy="26828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ubstituent titlu 1"/>
          <p:cNvSpPr>
            <a:spLocks noGrp="1"/>
          </p:cNvSpPr>
          <p:nvPr>
            <p:ph type="title"/>
          </p:nvPr>
        </p:nvSpPr>
        <p:spPr>
          <a:xfrm>
            <a:off x="1341120" y="265176"/>
            <a:ext cx="9509759" cy="108813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ro-RO" noProof="0" dirty="0"/>
              <a:t>Faceți clic pentru a edita stilul de titlu Coordonator</a:t>
            </a:r>
          </a:p>
        </p:txBody>
      </p:sp>
      <p:sp>
        <p:nvSpPr>
          <p:cNvPr id="3" name="Substituent text 2"/>
          <p:cNvSpPr>
            <a:spLocks noGrp="1"/>
          </p:cNvSpPr>
          <p:nvPr>
            <p:ph type="body" idx="1"/>
          </p:nvPr>
        </p:nvSpPr>
        <p:spPr>
          <a:xfrm>
            <a:off x="1341120" y="1572768"/>
            <a:ext cx="9509760" cy="41422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ro-RO" noProof="0" dirty="0"/>
              <a:t>Faceți clic pentru a edita stilurile de text Coordonator</a:t>
            </a:r>
          </a:p>
          <a:p>
            <a:pPr lvl="1" rtl="0"/>
            <a:r>
              <a:rPr lang="ro-RO" noProof="0" dirty="0"/>
              <a:t>Al doilea nivel</a:t>
            </a:r>
          </a:p>
          <a:p>
            <a:pPr lvl="2" rtl="0"/>
            <a:r>
              <a:rPr lang="ro-RO" noProof="0" dirty="0"/>
              <a:t>Al treilea nivel</a:t>
            </a:r>
          </a:p>
          <a:p>
            <a:pPr lvl="3" rtl="0"/>
            <a:r>
              <a:rPr lang="ro-RO" noProof="0" dirty="0"/>
              <a:t>Al patrulea nivel</a:t>
            </a:r>
          </a:p>
          <a:p>
            <a:pPr lvl="4" rtl="0"/>
            <a:r>
              <a:rPr lang="ro-RO" noProof="0" dirty="0"/>
              <a:t>Al cincilea nivel</a:t>
            </a:r>
          </a:p>
        </p:txBody>
      </p:sp>
      <p:sp>
        <p:nvSpPr>
          <p:cNvPr id="5" name="Substituent subsol 4"/>
          <p:cNvSpPr>
            <a:spLocks noGrp="1"/>
          </p:cNvSpPr>
          <p:nvPr>
            <p:ph type="ftr" sz="quarter" idx="3"/>
          </p:nvPr>
        </p:nvSpPr>
        <p:spPr>
          <a:xfrm>
            <a:off x="1341120" y="6601968"/>
            <a:ext cx="7159752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baseline="0">
                <a:solidFill>
                  <a:schemeClr val="tx1"/>
                </a:solidFill>
              </a:defRPr>
            </a:lvl1pPr>
          </a:lstStyle>
          <a:p>
            <a:pPr rtl="0"/>
            <a:r>
              <a:rPr lang="ro-RO" noProof="0" dirty="0"/>
              <a:t>Adăugați un subsol</a:t>
            </a:r>
          </a:p>
        </p:txBody>
      </p:sp>
      <p:sp>
        <p:nvSpPr>
          <p:cNvPr id="4" name="Substituent dată 3"/>
          <p:cNvSpPr>
            <a:spLocks noGrp="1"/>
          </p:cNvSpPr>
          <p:nvPr>
            <p:ph type="dt" sz="half" idx="2"/>
          </p:nvPr>
        </p:nvSpPr>
        <p:spPr>
          <a:xfrm>
            <a:off x="8875776" y="6601968"/>
            <a:ext cx="960120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baseline="0">
                <a:solidFill>
                  <a:schemeClr val="tx1"/>
                </a:solidFill>
              </a:defRPr>
            </a:lvl1pPr>
          </a:lstStyle>
          <a:p>
            <a:pPr rtl="0"/>
            <a:fld id="{5EF10CAA-0CF2-43FB-B8EE-A41EE9E83454}" type="datetime1">
              <a:rPr lang="ro-RO" noProof="0" smtClean="0"/>
              <a:t>10.11.2025</a:t>
            </a:fld>
            <a:endParaRPr lang="ro-RO" noProof="0" dirty="0"/>
          </a:p>
        </p:txBody>
      </p:sp>
      <p:sp>
        <p:nvSpPr>
          <p:cNvPr id="6" name="Substituent număr diapozitiv 5"/>
          <p:cNvSpPr>
            <a:spLocks noGrp="1"/>
          </p:cNvSpPr>
          <p:nvPr>
            <p:ph type="sldNum" sz="quarter" idx="4"/>
          </p:nvPr>
        </p:nvSpPr>
        <p:spPr>
          <a:xfrm>
            <a:off x="10210800" y="6601968"/>
            <a:ext cx="640080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cap="all" baseline="0">
                <a:solidFill>
                  <a:schemeClr val="tx1"/>
                </a:solidFill>
              </a:defRPr>
            </a:lvl1pPr>
          </a:lstStyle>
          <a:p>
            <a:pPr rtl="0"/>
            <a:fld id="{4FAB73BC-B049-4115-A692-8D63A059BFB8}" type="slidenum">
              <a:rPr lang="ro-RO" noProof="0" smtClean="0"/>
              <a:pPr rtl="0"/>
              <a:t>‹#›</a:t>
            </a:fld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3877551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800" kern="1200">
          <a:solidFill>
            <a:schemeClr val="accent2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SzPct val="100000"/>
        <a:buFont typeface="Arial" pitchFamily="34" charset="0"/>
        <a:buChar char="•"/>
        <a:defRPr sz="2000" kern="1200">
          <a:solidFill>
            <a:schemeClr val="accent2">
              <a:lumMod val="50000"/>
            </a:schemeClr>
          </a:solidFill>
          <a:latin typeface="+mn-lt"/>
          <a:ea typeface="+mn-ea"/>
          <a:cs typeface="+mn-cs"/>
        </a:defRPr>
      </a:lvl1pPr>
      <a:lvl2pPr marL="548640" indent="-228600" algn="l" defTabSz="914400" rtl="0" eaLnBrk="1" latinLnBrk="0" hangingPunct="1">
        <a:lnSpc>
          <a:spcPct val="90000"/>
        </a:lnSpc>
        <a:spcBef>
          <a:spcPts val="1000"/>
        </a:spcBef>
        <a:buSzPct val="100000"/>
        <a:buFont typeface="Arial" pitchFamily="34" charset="0"/>
        <a:buChar char="•"/>
        <a:defRPr sz="1800" kern="1200">
          <a:solidFill>
            <a:schemeClr val="accent2">
              <a:lumMod val="50000"/>
            </a:schemeClr>
          </a:solidFill>
          <a:latin typeface="+mn-lt"/>
          <a:ea typeface="+mn-ea"/>
          <a:cs typeface="+mn-cs"/>
        </a:defRPr>
      </a:lvl2pPr>
      <a:lvl3pPr marL="822960" indent="-228600" algn="l" defTabSz="914400" rtl="0" eaLnBrk="1" latinLnBrk="0" hangingPunct="1">
        <a:lnSpc>
          <a:spcPct val="90000"/>
        </a:lnSpc>
        <a:spcBef>
          <a:spcPts val="800"/>
        </a:spcBef>
        <a:buSzPct val="100000"/>
        <a:buFont typeface="Arial" pitchFamily="34" charset="0"/>
        <a:buChar char="•"/>
        <a:defRPr sz="1600" kern="1200">
          <a:solidFill>
            <a:schemeClr val="accent2">
              <a:lumMod val="50000"/>
            </a:schemeClr>
          </a:solidFill>
          <a:latin typeface="+mn-lt"/>
          <a:ea typeface="+mn-ea"/>
          <a:cs typeface="+mn-cs"/>
        </a:defRPr>
      </a:lvl3pPr>
      <a:lvl4pPr marL="1097280" indent="-228600" algn="l" defTabSz="914400" rtl="0" eaLnBrk="1" latinLnBrk="0" hangingPunct="1">
        <a:lnSpc>
          <a:spcPct val="90000"/>
        </a:lnSpc>
        <a:spcBef>
          <a:spcPts val="800"/>
        </a:spcBef>
        <a:buSzPct val="100000"/>
        <a:buFont typeface="Arial" pitchFamily="34" charset="0"/>
        <a:buChar char="•"/>
        <a:defRPr sz="1400" kern="1200">
          <a:solidFill>
            <a:schemeClr val="accent2">
              <a:lumMod val="50000"/>
            </a:schemeClr>
          </a:solidFill>
          <a:latin typeface="+mn-lt"/>
          <a:ea typeface="+mn-ea"/>
          <a:cs typeface="+mn-cs"/>
        </a:defRPr>
      </a:lvl4pPr>
      <a:lvl5pPr marL="1371600" indent="-228600" algn="l" defTabSz="914400" rtl="0" eaLnBrk="1" latinLnBrk="0" hangingPunct="1">
        <a:lnSpc>
          <a:spcPct val="90000"/>
        </a:lnSpc>
        <a:spcBef>
          <a:spcPts val="800"/>
        </a:spcBef>
        <a:buSzPct val="100000"/>
        <a:buFont typeface="Arial" pitchFamily="34" charset="0"/>
        <a:buChar char="•"/>
        <a:defRPr sz="1400" kern="1200">
          <a:solidFill>
            <a:schemeClr val="accent2">
              <a:lumMod val="50000"/>
            </a:schemeClr>
          </a:solidFill>
          <a:latin typeface="+mn-lt"/>
          <a:ea typeface="+mn-ea"/>
          <a:cs typeface="+mn-cs"/>
        </a:defRPr>
      </a:lvl5pPr>
      <a:lvl6pPr marL="1645920" indent="-228600" algn="l" defTabSz="914400" rtl="0" eaLnBrk="1" latinLnBrk="0" hangingPunct="1">
        <a:lnSpc>
          <a:spcPct val="90000"/>
        </a:lnSpc>
        <a:spcBef>
          <a:spcPts val="800"/>
        </a:spcBef>
        <a:buSzPct val="100000"/>
        <a:buFont typeface="Arial" pitchFamily="34" charset="0"/>
        <a:buChar char="•"/>
        <a:defRPr sz="1400" kern="1200">
          <a:solidFill>
            <a:schemeClr val="accent2">
              <a:lumMod val="50000"/>
            </a:schemeClr>
          </a:solidFill>
          <a:latin typeface="+mn-lt"/>
          <a:ea typeface="+mn-ea"/>
          <a:cs typeface="+mn-cs"/>
        </a:defRPr>
      </a:lvl6pPr>
      <a:lvl7pPr marL="1920240" indent="-228600" algn="l" defTabSz="914400" rtl="0" eaLnBrk="1" latinLnBrk="0" hangingPunct="1">
        <a:lnSpc>
          <a:spcPct val="90000"/>
        </a:lnSpc>
        <a:spcBef>
          <a:spcPts val="800"/>
        </a:spcBef>
        <a:buSzPct val="100000"/>
        <a:buFont typeface="Arial" pitchFamily="34" charset="0"/>
        <a:buChar char="•"/>
        <a:defRPr sz="1400" kern="1200">
          <a:solidFill>
            <a:schemeClr val="accent2">
              <a:lumMod val="50000"/>
            </a:schemeClr>
          </a:solidFill>
          <a:latin typeface="+mn-lt"/>
          <a:ea typeface="+mn-ea"/>
          <a:cs typeface="+mn-cs"/>
        </a:defRPr>
      </a:lvl7pPr>
      <a:lvl8pPr marL="2194560" indent="-228600" algn="l" defTabSz="914400" rtl="0" eaLnBrk="1" latinLnBrk="0" hangingPunct="1">
        <a:lnSpc>
          <a:spcPct val="90000"/>
        </a:lnSpc>
        <a:spcBef>
          <a:spcPts val="800"/>
        </a:spcBef>
        <a:buSzPct val="100000"/>
        <a:buFont typeface="Arial" pitchFamily="34" charset="0"/>
        <a:buChar char="•"/>
        <a:defRPr sz="1400" kern="1200">
          <a:solidFill>
            <a:schemeClr val="accent2">
              <a:lumMod val="50000"/>
            </a:schemeClr>
          </a:solidFill>
          <a:latin typeface="+mn-lt"/>
          <a:ea typeface="+mn-ea"/>
          <a:cs typeface="+mn-cs"/>
        </a:defRPr>
      </a:lvl8pPr>
      <a:lvl9pPr marL="2240280" indent="0" algn="l" defTabSz="914400" rtl="0" eaLnBrk="1" latinLnBrk="0" hangingPunct="1">
        <a:lnSpc>
          <a:spcPct val="90000"/>
        </a:lnSpc>
        <a:spcBef>
          <a:spcPts val="800"/>
        </a:spcBef>
        <a:buSzPct val="100000"/>
        <a:buFont typeface="Arial" pitchFamily="34" charset="0"/>
        <a:buNone/>
        <a:defRPr sz="1400" kern="1200">
          <a:solidFill>
            <a:schemeClr val="accent2">
              <a:lumMod val="50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sql/t-sql/statements/create-view-transact-sql?view=sql-server-ver16" TargetMode="External"/><Relationship Id="rId7" Type="http://schemas.openxmlformats.org/officeDocument/2006/relationships/hyperlink" Target="https://learn.microsoft.com/en-us/sql/relational-databases/system-catalog-views/catalog-views-transact-sql?view=sql-server-ver16" TargetMode="External"/><Relationship Id="rId2" Type="http://schemas.openxmlformats.org/officeDocument/2006/relationships/hyperlink" Target="https://learn.microsoft.com/en-us/sql/t-sql/statements/create-function-transact-sql?view=sql-server-ver16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learn.microsoft.com/en-us/sql/relational-databases/cursors?view=sql-server-ver16" TargetMode="External"/><Relationship Id="rId5" Type="http://schemas.openxmlformats.org/officeDocument/2006/relationships/hyperlink" Target="https://learn.microsoft.com/en-us/sql/t-sql/statements/create-trigger-transact-sql?view=sql-server-ver16" TargetMode="External"/><Relationship Id="rId4" Type="http://schemas.openxmlformats.org/officeDocument/2006/relationships/hyperlink" Target="https://learn.microsoft.com/en-us/sql/t-sql/queries/output-clause-transact-sql?view=sql-server-ver16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/>
            <a:r>
              <a:rPr lang="en-US" dirty="0" err="1"/>
              <a:t>Func</a:t>
            </a:r>
            <a:r>
              <a:rPr lang="ro-RO" dirty="0"/>
              <a:t>ții definite de utilizator. View. Trigger.</a:t>
            </a:r>
            <a:br>
              <a:rPr lang="ro-RO" dirty="0"/>
            </a:br>
            <a:r>
              <a:rPr lang="ro-RO" dirty="0"/>
              <a:t>Cursoare</a:t>
            </a:r>
          </a:p>
        </p:txBody>
      </p:sp>
      <p:sp>
        <p:nvSpPr>
          <p:cNvPr id="3" name="Subtitlu 2"/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r>
              <a:rPr lang="ro-RO" dirty="0"/>
              <a:t>Seminar 4</a:t>
            </a:r>
          </a:p>
        </p:txBody>
      </p:sp>
    </p:spTree>
    <p:extLst>
      <p:ext uri="{BB962C8B-B14F-4D97-AF65-F5344CB8AC3E}">
        <p14:creationId xmlns:p14="http://schemas.microsoft.com/office/powerpoint/2010/main" val="1503902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latin typeface="+mn-lt"/>
              </a:rPr>
              <a:t>Funcții definite de către utilizator</a:t>
            </a:r>
            <a:endParaRPr lang="en-US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41120" y="1577265"/>
            <a:ext cx="10341894" cy="4859046"/>
          </a:xfrm>
        </p:spPr>
        <p:txBody>
          <a:bodyPr>
            <a:normAutofit/>
          </a:bodyPr>
          <a:lstStyle/>
          <a:p>
            <a:r>
              <a:rPr lang="ro-RO" dirty="0"/>
              <a:t>Microsoft </a:t>
            </a:r>
            <a:r>
              <a:rPr lang="en-US" dirty="0"/>
              <a:t>SQL Server </a:t>
            </a:r>
            <a:r>
              <a:rPr lang="ro-RO" dirty="0"/>
              <a:t>oferă </a:t>
            </a:r>
            <a:r>
              <a:rPr lang="en-US" dirty="0" err="1"/>
              <a:t>posibilitatea</a:t>
            </a:r>
            <a:r>
              <a:rPr lang="en-US" dirty="0"/>
              <a:t> de a </a:t>
            </a:r>
            <a:r>
              <a:rPr lang="en-US" dirty="0" err="1"/>
              <a:t>crea</a:t>
            </a:r>
            <a:r>
              <a:rPr lang="ro-RO" dirty="0"/>
              <a:t> </a:t>
            </a:r>
            <a:r>
              <a:rPr lang="ro-RO" b="1" dirty="0"/>
              <a:t>funcții</a:t>
            </a:r>
            <a:r>
              <a:rPr lang="ro-RO" dirty="0"/>
              <a:t> care pot fi mai apoi folosite în </a:t>
            </a:r>
            <a:r>
              <a:rPr lang="ro-RO" b="1" dirty="0"/>
              <a:t>interogări</a:t>
            </a:r>
            <a:endParaRPr lang="en-US" b="1" dirty="0"/>
          </a:p>
          <a:p>
            <a:r>
              <a:rPr lang="en-US" dirty="0" err="1"/>
              <a:t>Func</a:t>
            </a:r>
            <a:r>
              <a:rPr lang="ro-RO" dirty="0"/>
              <a:t>țiile definite de utilizator:</a:t>
            </a:r>
          </a:p>
          <a:p>
            <a:pPr lvl="1"/>
            <a:r>
              <a:rPr lang="ro-RO" sz="2000" b="1" dirty="0"/>
              <a:t>returnează</a:t>
            </a:r>
            <a:r>
              <a:rPr lang="ro-RO" sz="2000" dirty="0"/>
              <a:t> o </a:t>
            </a:r>
            <a:r>
              <a:rPr lang="ro-RO" sz="2000" b="1" dirty="0"/>
              <a:t>valoare simplă </a:t>
            </a:r>
            <a:r>
              <a:rPr lang="ro-RO" sz="2000" dirty="0"/>
              <a:t>(sau un </a:t>
            </a:r>
            <a:r>
              <a:rPr lang="ro-RO" sz="2000" b="1" dirty="0"/>
              <a:t>tabel</a:t>
            </a:r>
            <a:r>
              <a:rPr lang="ro-RO" sz="2000" dirty="0"/>
              <a:t>)</a:t>
            </a:r>
          </a:p>
          <a:p>
            <a:pPr lvl="1"/>
            <a:r>
              <a:rPr lang="ro-RO" sz="2000" dirty="0"/>
              <a:t>pot avea </a:t>
            </a:r>
            <a:r>
              <a:rPr lang="ro-RO" sz="2000" b="1" dirty="0"/>
              <a:t>parametri de intrare</a:t>
            </a:r>
            <a:endParaRPr lang="ro-RO" sz="2000" dirty="0"/>
          </a:p>
          <a:p>
            <a:pPr marL="320040" lvl="1" indent="0">
              <a:buNone/>
            </a:pPr>
            <a:endParaRPr lang="en-US" sz="2000" dirty="0"/>
          </a:p>
          <a:p>
            <a:r>
              <a:rPr lang="ro-RO" dirty="0"/>
              <a:t>În Microsoft SQL Server sunt</a:t>
            </a:r>
            <a:r>
              <a:rPr lang="en-US" dirty="0"/>
              <a:t> </a:t>
            </a:r>
            <a:r>
              <a:rPr lang="en-US" dirty="0" err="1"/>
              <a:t>disponibile</a:t>
            </a:r>
            <a:r>
              <a:rPr lang="ro-RO" dirty="0"/>
              <a:t> </a:t>
            </a:r>
            <a:r>
              <a:rPr lang="ro-RO" b="1" dirty="0"/>
              <a:t>trei</a:t>
            </a:r>
            <a:r>
              <a:rPr lang="ro-RO" dirty="0"/>
              <a:t> tipuri de funcții definite de utilizator:</a:t>
            </a:r>
          </a:p>
          <a:p>
            <a:pPr marL="0" indent="0">
              <a:buNone/>
            </a:pPr>
            <a:r>
              <a:rPr lang="ro-RO" dirty="0"/>
              <a:t>	- Funcții </a:t>
            </a:r>
            <a:r>
              <a:rPr lang="ro-RO" b="1" dirty="0"/>
              <a:t>scalare</a:t>
            </a:r>
            <a:r>
              <a:rPr lang="en-US" b="1" dirty="0"/>
              <a:t> </a:t>
            </a:r>
            <a:r>
              <a:rPr lang="en-US" dirty="0"/>
              <a:t>(</a:t>
            </a:r>
            <a:r>
              <a:rPr lang="ro-RO" dirty="0"/>
              <a:t>returnează o </a:t>
            </a:r>
            <a:r>
              <a:rPr lang="ro-RO" b="1" dirty="0"/>
              <a:t>singură valoare</a:t>
            </a:r>
            <a:r>
              <a:rPr lang="en-US" dirty="0"/>
              <a:t>)</a:t>
            </a:r>
            <a:endParaRPr lang="ro-RO" dirty="0"/>
          </a:p>
          <a:p>
            <a:pPr marL="0" indent="0">
              <a:buNone/>
            </a:pPr>
            <a:r>
              <a:rPr lang="ro-RO" dirty="0"/>
              <a:t>	- Funcții </a:t>
            </a:r>
            <a:r>
              <a:rPr lang="ro-RO" b="1" dirty="0"/>
              <a:t>inline table</a:t>
            </a:r>
            <a:r>
              <a:rPr lang="en-US" b="1" dirty="0"/>
              <a:t>-</a:t>
            </a:r>
            <a:r>
              <a:rPr lang="ro-RO" b="1" dirty="0"/>
              <a:t>valued</a:t>
            </a:r>
            <a:r>
              <a:rPr lang="en-US" b="1" dirty="0"/>
              <a:t> </a:t>
            </a:r>
            <a:r>
              <a:rPr lang="en-US" dirty="0"/>
              <a:t>(</a:t>
            </a:r>
            <a:r>
              <a:rPr lang="en-US" dirty="0" err="1"/>
              <a:t>returneaz</a:t>
            </a:r>
            <a:r>
              <a:rPr lang="ro-RO" dirty="0"/>
              <a:t>ă </a:t>
            </a:r>
            <a:r>
              <a:rPr lang="ro-RO" b="1" dirty="0"/>
              <a:t>un tabel</a:t>
            </a:r>
            <a:r>
              <a:rPr lang="ro-RO" dirty="0"/>
              <a:t>)</a:t>
            </a:r>
          </a:p>
          <a:p>
            <a:pPr marL="0" indent="0">
              <a:buNone/>
            </a:pPr>
            <a:r>
              <a:rPr lang="ro-RO" dirty="0"/>
              <a:t>	- Funcții </a:t>
            </a:r>
            <a:r>
              <a:rPr lang="ro-RO" b="1" dirty="0"/>
              <a:t>multi-statement table-valued </a:t>
            </a:r>
            <a:r>
              <a:rPr lang="en-US" dirty="0"/>
              <a:t>(</a:t>
            </a:r>
            <a:r>
              <a:rPr lang="en-US" dirty="0" err="1"/>
              <a:t>returneaz</a:t>
            </a:r>
            <a:r>
              <a:rPr lang="ro-RO" dirty="0"/>
              <a:t>ă </a:t>
            </a:r>
            <a:r>
              <a:rPr lang="ro-RO" b="1" dirty="0"/>
              <a:t>un tabel</a:t>
            </a:r>
            <a:r>
              <a:rPr lang="ro-RO" dirty="0"/>
              <a:t>)</a:t>
            </a:r>
          </a:p>
          <a:p>
            <a:pPr marL="0" indent="0">
              <a:buNone/>
            </a:pPr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6731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022C7-73D0-6F51-E7B2-F7F372E59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400" y="281974"/>
            <a:ext cx="9509759" cy="1088136"/>
          </a:xfrm>
        </p:spPr>
        <p:txBody>
          <a:bodyPr/>
          <a:lstStyle/>
          <a:p>
            <a:r>
              <a:rPr lang="ro-RO" dirty="0">
                <a:latin typeface="+mn-lt"/>
              </a:rPr>
              <a:t>Funcții definite de către utilizator</a:t>
            </a:r>
            <a:endParaRPr lang="ro-R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5FE439-A466-9A42-0DD3-587095EE13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9400" y="1685925"/>
            <a:ext cx="10569326" cy="4954572"/>
          </a:xfrm>
        </p:spPr>
        <p:txBody>
          <a:bodyPr>
            <a:normAutofit/>
          </a:bodyPr>
          <a:lstStyle/>
          <a:p>
            <a:r>
              <a:rPr lang="en-US" dirty="0"/>
              <a:t>Se d</a:t>
            </a:r>
            <a:r>
              <a:rPr lang="ro-RO" dirty="0"/>
              <a:t>ă o bază de date având următoarea structură: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AFC95D0-E6C3-B3E2-F227-91BA6576FA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580" y="2142430"/>
            <a:ext cx="5648595" cy="3423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2221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7F818-6B06-A59F-2C18-078FDE40E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latin typeface="+mn-lt"/>
              </a:rPr>
              <a:t>Funcții definite de către utilizator</a:t>
            </a:r>
            <a:endParaRPr lang="ro-R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8A2CD3-E843-B322-E0C9-2932DEBEDD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1120" y="1572768"/>
            <a:ext cx="10697000" cy="5020056"/>
          </a:xfrm>
        </p:spPr>
        <p:txBody>
          <a:bodyPr>
            <a:normAutofit lnSpcReduction="10000"/>
          </a:bodyPr>
          <a:lstStyle/>
          <a:p>
            <a:r>
              <a:rPr lang="ro-RO" dirty="0"/>
              <a:t>Următoarea funcție </a:t>
            </a:r>
            <a:r>
              <a:rPr lang="ro-RO" b="1" dirty="0"/>
              <a:t>scalară</a:t>
            </a:r>
            <a:r>
              <a:rPr lang="ro-RO" dirty="0"/>
              <a:t> verifică dacă numele unei categorii există în tabelul </a:t>
            </a:r>
            <a:r>
              <a:rPr lang="ro-RO" i="1" dirty="0"/>
              <a:t>Categorii</a:t>
            </a:r>
            <a:r>
              <a:rPr lang="ro-RO" dirty="0"/>
              <a:t>: </a:t>
            </a:r>
          </a:p>
          <a:p>
            <a:pPr marL="4572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	CREATE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ExistaCategorie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@nume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VARCHAR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70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))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RETURNS</a:t>
            </a:r>
            <a:r>
              <a:rPr lang="ro-RO" sz="18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BIT</a:t>
            </a:r>
            <a:r>
              <a:rPr lang="ro-RO" sz="18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ro-RO" sz="180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AS</a:t>
            </a:r>
            <a:endParaRPr lang="ro-RO" sz="1800" dirty="0">
              <a:solidFill>
                <a:srgbClr val="000000"/>
              </a:solidFill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BEGIN</a:t>
            </a:r>
            <a:endParaRPr lang="ro-RO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	IF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(EXISTS(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*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Categorii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WHERE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nume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@nume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))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		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1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pPr marL="4572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0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ro-RO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END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en-US" sz="1800" dirty="0">
              <a:solidFill>
                <a:srgbClr val="80808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GO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 </a:t>
            </a:r>
          </a:p>
          <a:p>
            <a:pPr marL="45720" indent="0">
              <a:buNone/>
            </a:pP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008000"/>
                </a:solidFill>
                <a:latin typeface="Consolas" panose="020B0609020204030204" pitchFamily="49" charset="0"/>
              </a:rPr>
              <a:t>--Apelul funcției </a:t>
            </a:r>
            <a:endParaRPr lang="ro-RO" sz="1800" dirty="0">
              <a:solidFill>
                <a:srgbClr val="80808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PRINT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dbo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ExistaCategorie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ro-RO" sz="1800" dirty="0">
                <a:solidFill>
                  <a:srgbClr val="FF0000"/>
                </a:solidFill>
                <a:latin typeface="Consolas" panose="020B0609020204030204" pitchFamily="49" charset="0"/>
              </a:rPr>
              <a:t>'elevi'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);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492744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7F818-6B06-A59F-2C18-078FDE40E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latin typeface="+mn-lt"/>
              </a:rPr>
              <a:t>Funcții definite de către utilizator</a:t>
            </a:r>
            <a:endParaRPr lang="ro-R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8A2CD3-E843-B322-E0C9-2932DEBEDD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1120" y="1572768"/>
            <a:ext cx="10697000" cy="5020056"/>
          </a:xfrm>
        </p:spPr>
        <p:txBody>
          <a:bodyPr>
            <a:normAutofit fontScale="92500"/>
          </a:bodyPr>
          <a:lstStyle/>
          <a:p>
            <a:r>
              <a:rPr lang="en-US" dirty="0" err="1"/>
              <a:t>Vom</a:t>
            </a:r>
            <a:r>
              <a:rPr lang="en-US" dirty="0"/>
              <a:t> </a:t>
            </a:r>
            <a:r>
              <a:rPr lang="en-US" b="1" dirty="0" err="1"/>
              <a:t>modifica</a:t>
            </a:r>
            <a:r>
              <a:rPr lang="en-US" dirty="0"/>
              <a:t> </a:t>
            </a:r>
            <a:r>
              <a:rPr lang="en-US" dirty="0" err="1"/>
              <a:t>defini</a:t>
            </a:r>
            <a:r>
              <a:rPr lang="ro-RO" dirty="0"/>
              <a:t>ția funcției astfel încât valoarea returnată să fie de tipul </a:t>
            </a:r>
            <a:r>
              <a:rPr lang="ro-RO" b="1" dirty="0"/>
              <a:t>VARCHAR(20)</a:t>
            </a:r>
            <a:r>
              <a:rPr lang="ro-RO" dirty="0"/>
              <a:t>:</a:t>
            </a:r>
          </a:p>
          <a:p>
            <a:pPr marL="4572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ALTER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ExistaCategorie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@nume 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VARCHAR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70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))</a:t>
            </a:r>
            <a:endParaRPr lang="ro-RO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RETURNS</a:t>
            </a:r>
            <a:r>
              <a:rPr lang="ro-RO" sz="18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ro-RO" sz="180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VARCHAR</a:t>
            </a:r>
            <a:r>
              <a:rPr lang="ro-RO" sz="1800" dirty="0">
                <a:solidFill>
                  <a:srgbClr val="80808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ro-RO" sz="18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20</a:t>
            </a:r>
            <a:r>
              <a:rPr lang="ro-RO" sz="1800" dirty="0">
                <a:solidFill>
                  <a:srgbClr val="80808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)</a:t>
            </a:r>
            <a:r>
              <a:rPr lang="ro-RO" sz="18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ro-RO" sz="180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AS</a:t>
            </a:r>
            <a:endParaRPr lang="ro-RO" sz="1800" dirty="0">
              <a:solidFill>
                <a:srgbClr val="000000"/>
              </a:solidFill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BEGIN</a:t>
            </a:r>
            <a:endParaRPr lang="ro-RO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	IF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(EXISTS(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*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Categorii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WHERE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nume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@nume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))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		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o-RO" sz="1800" dirty="0">
                <a:solidFill>
                  <a:srgbClr val="FF0000"/>
                </a:solidFill>
                <a:latin typeface="Consolas" panose="020B0609020204030204" pitchFamily="49" charset="0"/>
              </a:rPr>
              <a:t>'Exista'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pPr marL="4572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o-RO" sz="1800" dirty="0">
                <a:solidFill>
                  <a:srgbClr val="FF0000"/>
                </a:solidFill>
                <a:latin typeface="Consolas" panose="020B0609020204030204" pitchFamily="49" charset="0"/>
              </a:rPr>
              <a:t>'Nu exista'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ro-RO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END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pPr marL="4572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GO</a:t>
            </a:r>
            <a:endParaRPr lang="ro-RO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008000"/>
                </a:solidFill>
                <a:latin typeface="Consolas" panose="020B0609020204030204" pitchFamily="49" charset="0"/>
              </a:rPr>
              <a:t>--Apelul funcției </a:t>
            </a:r>
            <a:endParaRPr lang="ro-RO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PRINT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dbo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ExistaCategorie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ro-RO" sz="1800" dirty="0">
                <a:solidFill>
                  <a:srgbClr val="FF0000"/>
                </a:solidFill>
                <a:latin typeface="Consolas" panose="020B0609020204030204" pitchFamily="49" charset="0"/>
              </a:rPr>
              <a:t>'elevi'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);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473495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latin typeface="+mn-lt"/>
              </a:rPr>
              <a:t>Funcții definite de către utilizator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41120" y="1603898"/>
            <a:ext cx="9889132" cy="4297251"/>
          </a:xfrm>
        </p:spPr>
        <p:txBody>
          <a:bodyPr>
            <a:normAutofit/>
          </a:bodyPr>
          <a:lstStyle/>
          <a:p>
            <a:r>
              <a:rPr lang="ro-RO" dirty="0"/>
              <a:t>Dacă dorim să ștergem funcția, vom folosi instrucțiunea </a:t>
            </a:r>
            <a:r>
              <a:rPr lang="ro-RO" b="1" dirty="0"/>
              <a:t>DROP FUNCTION</a:t>
            </a:r>
            <a:r>
              <a:rPr lang="ro-RO" dirty="0"/>
              <a:t>: </a:t>
            </a:r>
          </a:p>
          <a:p>
            <a:pPr marL="45720" indent="0">
              <a:buNone/>
            </a:pPr>
            <a:r>
              <a:rPr lang="ro-RO" sz="1800" dirty="0">
                <a:solidFill>
                  <a:srgbClr val="008000"/>
                </a:solidFill>
                <a:latin typeface="Consolas" panose="020B0609020204030204" pitchFamily="49" charset="0"/>
              </a:rPr>
              <a:t>	--Ștergerea funcției</a:t>
            </a:r>
            <a:endParaRPr lang="ro-RO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	DROP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dbo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ExistaCategorie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r>
              <a:rPr lang="ro-RO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1052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latin typeface="+mn-lt"/>
              </a:rPr>
              <a:t>Funcții definite de către utilizator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24497" y="1630532"/>
            <a:ext cx="10507091" cy="4194220"/>
          </a:xfrm>
        </p:spPr>
        <p:txBody>
          <a:bodyPr/>
          <a:lstStyle/>
          <a:p>
            <a:r>
              <a:rPr lang="ro-RO" dirty="0"/>
              <a:t>Funcțiile definite de utilizator de </a:t>
            </a:r>
            <a:r>
              <a:rPr lang="ro-RO" b="1" dirty="0"/>
              <a:t>tip </a:t>
            </a:r>
            <a:r>
              <a:rPr lang="ro-RO" b="1" dirty="0" err="1"/>
              <a:t>inline</a:t>
            </a:r>
            <a:r>
              <a:rPr lang="ro-RO" b="1" dirty="0"/>
              <a:t> table-</a:t>
            </a:r>
            <a:r>
              <a:rPr lang="ro-RO" b="1" dirty="0" err="1"/>
              <a:t>valued</a:t>
            </a:r>
            <a:r>
              <a:rPr lang="ro-RO" b="1" dirty="0"/>
              <a:t> </a:t>
            </a:r>
            <a:r>
              <a:rPr lang="ro-RO" dirty="0"/>
              <a:t>returnează </a:t>
            </a:r>
            <a:r>
              <a:rPr lang="ro-RO" b="1" dirty="0"/>
              <a:t>un tabel </a:t>
            </a:r>
            <a:r>
              <a:rPr lang="ro-RO" dirty="0"/>
              <a:t>în locul unei singure valori</a:t>
            </a:r>
          </a:p>
          <a:p>
            <a:r>
              <a:rPr lang="ro-RO" dirty="0"/>
              <a:t>Po</a:t>
            </a:r>
            <a:r>
              <a:rPr lang="en-US" dirty="0"/>
              <a:t>t</a:t>
            </a:r>
            <a:r>
              <a:rPr lang="ro-RO" dirty="0"/>
              <a:t> fi folosit</a:t>
            </a:r>
            <a:r>
              <a:rPr lang="en-US" dirty="0"/>
              <a:t>e</a:t>
            </a:r>
            <a:r>
              <a:rPr lang="ro-RO" dirty="0"/>
              <a:t> oriunde poate fi folosit un tabel, de obicei în clauza </a:t>
            </a:r>
            <a:r>
              <a:rPr lang="ro-RO" b="1" i="1" dirty="0"/>
              <a:t>FROM</a:t>
            </a:r>
            <a:r>
              <a:rPr lang="ro-RO" dirty="0"/>
              <a:t> a unei interogări</a:t>
            </a:r>
          </a:p>
          <a:p>
            <a:r>
              <a:rPr lang="ro-RO" dirty="0"/>
              <a:t>O funcție definită de utilizator de tip </a:t>
            </a:r>
            <a:r>
              <a:rPr lang="ro-RO" b="1" dirty="0" err="1"/>
              <a:t>inline</a:t>
            </a:r>
            <a:r>
              <a:rPr lang="ro-RO" b="1" dirty="0"/>
              <a:t> table-</a:t>
            </a:r>
            <a:r>
              <a:rPr lang="ro-RO" b="1" dirty="0" err="1"/>
              <a:t>valued</a:t>
            </a:r>
            <a:r>
              <a:rPr lang="ro-RO" dirty="0"/>
              <a:t> conține o singură instrucțiune SQL  </a:t>
            </a:r>
          </a:p>
          <a:p>
            <a:r>
              <a:rPr lang="ro-RO" dirty="0"/>
              <a:t>O funcție definită de utilizator de tipul </a:t>
            </a:r>
            <a:r>
              <a:rPr lang="ro-RO" b="1" dirty="0" err="1"/>
              <a:t>multi-statement</a:t>
            </a:r>
            <a:r>
              <a:rPr lang="ro-RO" b="1" dirty="0"/>
              <a:t> table-</a:t>
            </a:r>
            <a:r>
              <a:rPr lang="ro-RO" b="1" dirty="0" err="1"/>
              <a:t>valued</a:t>
            </a:r>
            <a:r>
              <a:rPr lang="ro-RO" b="1" dirty="0"/>
              <a:t> </a:t>
            </a:r>
            <a:r>
              <a:rPr lang="ro-RO" dirty="0"/>
              <a:t>returnează un tabel și conține mai multe instrucțiuni SQL, spre deosebire de o funcție </a:t>
            </a:r>
            <a:r>
              <a:rPr lang="ro-RO" b="1" dirty="0" err="1"/>
              <a:t>inline</a:t>
            </a:r>
            <a:r>
              <a:rPr lang="ro-RO" b="1" dirty="0"/>
              <a:t> table-</a:t>
            </a:r>
            <a:r>
              <a:rPr lang="ro-RO" b="1" dirty="0" err="1"/>
              <a:t>valued</a:t>
            </a:r>
            <a:r>
              <a:rPr lang="ro-RO" dirty="0"/>
              <a:t> care conține o singură instrucțiune SQL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3088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latin typeface="+mn-lt"/>
              </a:rPr>
              <a:t>Funcții definite de către utilizator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41120" y="1648287"/>
            <a:ext cx="10528325" cy="4814657"/>
          </a:xfrm>
        </p:spPr>
        <p:txBody>
          <a:bodyPr>
            <a:normAutofit/>
          </a:bodyPr>
          <a:lstStyle/>
          <a:p>
            <a:r>
              <a:rPr lang="ro-RO" dirty="0"/>
              <a:t>Următoarea funcție de tipul </a:t>
            </a:r>
            <a:r>
              <a:rPr lang="ro-RO" b="1" dirty="0"/>
              <a:t>inline table-valued </a:t>
            </a:r>
            <a:r>
              <a:rPr lang="ro-RO" dirty="0"/>
              <a:t>returnează numele atracțiilor, nota primită și adresa de email a vizitatorului, pentru toate atracțiile care au vârsta minimă recomandată egală cu cea dată ca parametru:</a:t>
            </a:r>
          </a:p>
          <a:p>
            <a:pPr marL="45720" indent="0">
              <a:buNone/>
            </a:pPr>
            <a:r>
              <a:rPr lang="ro-RO" dirty="0"/>
              <a:t>	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CREATE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ReturneazaNoteAtractii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@varsta_min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RETURNS</a:t>
            </a:r>
            <a:r>
              <a:rPr lang="ro-RO" sz="18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ro-RO" sz="180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TABLE</a:t>
            </a:r>
            <a:r>
              <a:rPr lang="ro-RO" sz="18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ro-RO" sz="180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AS</a:t>
            </a:r>
            <a:endParaRPr lang="ro-RO" sz="1800" dirty="0">
              <a:solidFill>
                <a:srgbClr val="000000"/>
              </a:solidFill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	RETURN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A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nume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N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nota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V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email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Atractii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A </a:t>
            </a:r>
          </a:p>
          <a:p>
            <a:pPr marL="45720" indent="0">
              <a:buNone/>
            </a:pP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	INNER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JOIN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Note N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ON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A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cod_a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N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cod_a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pPr marL="45720" indent="0">
              <a:buNone/>
            </a:pPr>
            <a:r>
              <a:rPr lang="fi-FI" sz="1800" dirty="0">
                <a:solidFill>
                  <a:srgbClr val="808080"/>
                </a:solidFill>
                <a:latin typeface="Consolas" panose="020B0609020204030204" pitchFamily="49" charset="0"/>
              </a:rPr>
              <a:t>	INNER</a:t>
            </a:r>
            <a:r>
              <a:rPr lang="fi-FI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i-FI" sz="1800" dirty="0">
                <a:solidFill>
                  <a:srgbClr val="808080"/>
                </a:solidFill>
                <a:latin typeface="Consolas" panose="020B0609020204030204" pitchFamily="49" charset="0"/>
              </a:rPr>
              <a:t>JOIN</a:t>
            </a:r>
            <a:r>
              <a:rPr lang="fi-FI" sz="1800" dirty="0">
                <a:solidFill>
                  <a:srgbClr val="000000"/>
                </a:solidFill>
                <a:latin typeface="Consolas" panose="020B0609020204030204" pitchFamily="49" charset="0"/>
              </a:rPr>
              <a:t> Vizitatori V </a:t>
            </a:r>
            <a:r>
              <a:rPr lang="fi-FI" sz="1800" dirty="0">
                <a:solidFill>
                  <a:srgbClr val="0000FF"/>
                </a:solidFill>
                <a:latin typeface="Consolas" panose="020B0609020204030204" pitchFamily="49" charset="0"/>
              </a:rPr>
              <a:t>ON</a:t>
            </a:r>
            <a:r>
              <a:rPr lang="fi-FI" sz="1800" dirty="0">
                <a:solidFill>
                  <a:srgbClr val="000000"/>
                </a:solidFill>
                <a:latin typeface="Consolas" panose="020B0609020204030204" pitchFamily="49" charset="0"/>
              </a:rPr>
              <a:t> N</a:t>
            </a:r>
            <a:r>
              <a:rPr lang="fi-FI" sz="18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fi-FI" sz="1800" dirty="0">
                <a:solidFill>
                  <a:srgbClr val="000000"/>
                </a:solidFill>
                <a:latin typeface="Consolas" panose="020B0609020204030204" pitchFamily="49" charset="0"/>
              </a:rPr>
              <a:t>cod_v</a:t>
            </a:r>
            <a:r>
              <a:rPr lang="fi-FI" sz="18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fi-FI" sz="1800" dirty="0">
                <a:solidFill>
                  <a:srgbClr val="000000"/>
                </a:solidFill>
                <a:latin typeface="Consolas" panose="020B0609020204030204" pitchFamily="49" charset="0"/>
              </a:rPr>
              <a:t>V</a:t>
            </a:r>
            <a:r>
              <a:rPr lang="fi-FI" sz="18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fi-FI" sz="1800" dirty="0">
                <a:solidFill>
                  <a:srgbClr val="000000"/>
                </a:solidFill>
                <a:latin typeface="Consolas" panose="020B0609020204030204" pitchFamily="49" charset="0"/>
              </a:rPr>
              <a:t>cod_v</a:t>
            </a:r>
          </a:p>
          <a:p>
            <a:pPr marL="4572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	WHERE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A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varsta_min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@varsta_min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</a:p>
          <a:p>
            <a:pPr marL="45720" indent="0">
              <a:buNone/>
            </a:pP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008000"/>
                </a:solidFill>
                <a:latin typeface="Consolas" panose="020B0609020204030204" pitchFamily="49" charset="0"/>
              </a:rPr>
              <a:t>--Apelul funcției </a:t>
            </a:r>
            <a:endParaRPr lang="ro-RO" sz="1800" dirty="0">
              <a:solidFill>
                <a:srgbClr val="80808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	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*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dbo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ReturneazaNoteAtractii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12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);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7203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latin typeface="+mn-lt"/>
              </a:rPr>
              <a:t>Funcții definite de către utilizator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41120" y="1625768"/>
            <a:ext cx="10714756" cy="5232232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CREATE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NoteAtractii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@email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VARCHAR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100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))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en-US" sz="180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RETURNS</a:t>
            </a:r>
            <a:r>
              <a:rPr lang="en-US" sz="18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@NoteAtractii </a:t>
            </a:r>
            <a:r>
              <a:rPr lang="en-US" sz="180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TABLE </a:t>
            </a:r>
            <a:r>
              <a:rPr lang="en-US" sz="1800" dirty="0">
                <a:solidFill>
                  <a:srgbClr val="80808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atractie</a:t>
            </a:r>
            <a:r>
              <a:rPr lang="en-US" sz="18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VARCHAR</a:t>
            </a:r>
            <a:r>
              <a:rPr lang="en-US" sz="1800" dirty="0">
                <a:solidFill>
                  <a:srgbClr val="80808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100</a:t>
            </a:r>
            <a:r>
              <a:rPr lang="en-US" sz="1800" dirty="0">
                <a:solidFill>
                  <a:srgbClr val="80808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),</a:t>
            </a:r>
            <a:r>
              <a:rPr lang="ro-RO" sz="1800" dirty="0">
                <a:solidFill>
                  <a:srgbClr val="80808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email </a:t>
            </a:r>
            <a:r>
              <a:rPr lang="en-US" sz="180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VARCHAR</a:t>
            </a:r>
            <a:r>
              <a:rPr lang="en-US" sz="1800" dirty="0">
                <a:solidFill>
                  <a:srgbClr val="80808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100</a:t>
            </a:r>
            <a:r>
              <a:rPr lang="en-US" sz="1800" dirty="0">
                <a:solidFill>
                  <a:srgbClr val="80808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),</a:t>
            </a:r>
            <a:endParaRPr lang="en-US" sz="1800" dirty="0">
              <a:solidFill>
                <a:srgbClr val="000000"/>
              </a:solidFill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ro-RO" sz="18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nota </a:t>
            </a:r>
            <a:r>
              <a:rPr lang="ro-RO" sz="180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REAL</a:t>
            </a:r>
            <a:r>
              <a:rPr lang="ro-RO" sz="1800" dirty="0">
                <a:solidFill>
                  <a:srgbClr val="80808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,</a:t>
            </a:r>
            <a:r>
              <a:rPr lang="ro-RO" sz="18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tip_evaluare </a:t>
            </a:r>
            <a:r>
              <a:rPr lang="ro-RO" sz="180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VARCHAR</a:t>
            </a:r>
            <a:r>
              <a:rPr lang="ro-RO" sz="1800" dirty="0">
                <a:solidFill>
                  <a:srgbClr val="80808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ro-RO" sz="18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10</a:t>
            </a:r>
            <a:r>
              <a:rPr lang="ro-RO" sz="1800" dirty="0">
                <a:solidFill>
                  <a:srgbClr val="80808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))</a:t>
            </a:r>
            <a:r>
              <a:rPr lang="en-US" sz="1800" dirty="0">
                <a:solidFill>
                  <a:srgbClr val="80808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ro-RO" sz="180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AS</a:t>
            </a:r>
            <a:endParaRPr lang="ro-RO" sz="1800" dirty="0">
              <a:solidFill>
                <a:srgbClr val="000000"/>
              </a:solidFill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BEGIN</a:t>
            </a:r>
            <a:endParaRPr lang="ro-RO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INSERT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INTO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@NoteAtractii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atractie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nota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email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en-US" sz="1800" dirty="0">
              <a:solidFill>
                <a:srgbClr val="80808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A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nume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N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nota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V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email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Atractii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A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INNER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JOIN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Note N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ON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A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cod_a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N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cod_a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pPr marL="45720" indent="0">
              <a:buNone/>
            </a:pPr>
            <a:r>
              <a:rPr lang="fi-FI" sz="1800" dirty="0">
                <a:solidFill>
                  <a:srgbClr val="808080"/>
                </a:solidFill>
                <a:latin typeface="Consolas" panose="020B0609020204030204" pitchFamily="49" charset="0"/>
              </a:rPr>
              <a:t>INNER</a:t>
            </a:r>
            <a:r>
              <a:rPr lang="fi-FI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i-FI" sz="1800" dirty="0">
                <a:solidFill>
                  <a:srgbClr val="808080"/>
                </a:solidFill>
                <a:latin typeface="Consolas" panose="020B0609020204030204" pitchFamily="49" charset="0"/>
              </a:rPr>
              <a:t>JOIN</a:t>
            </a:r>
            <a:r>
              <a:rPr lang="fi-FI" sz="1800" dirty="0">
                <a:solidFill>
                  <a:srgbClr val="000000"/>
                </a:solidFill>
                <a:latin typeface="Consolas" panose="020B0609020204030204" pitchFamily="49" charset="0"/>
              </a:rPr>
              <a:t> Vizitatori V </a:t>
            </a:r>
            <a:r>
              <a:rPr lang="fi-FI" sz="1800" dirty="0">
                <a:solidFill>
                  <a:srgbClr val="0000FF"/>
                </a:solidFill>
                <a:latin typeface="Consolas" panose="020B0609020204030204" pitchFamily="49" charset="0"/>
              </a:rPr>
              <a:t>ON</a:t>
            </a:r>
            <a:r>
              <a:rPr lang="fi-FI" sz="1800" dirty="0">
                <a:solidFill>
                  <a:srgbClr val="000000"/>
                </a:solidFill>
                <a:latin typeface="Consolas" panose="020B0609020204030204" pitchFamily="49" charset="0"/>
              </a:rPr>
              <a:t> N</a:t>
            </a:r>
            <a:r>
              <a:rPr lang="fi-FI" sz="18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fi-FI" sz="1800" dirty="0">
                <a:solidFill>
                  <a:srgbClr val="000000"/>
                </a:solidFill>
                <a:latin typeface="Consolas" panose="020B0609020204030204" pitchFamily="49" charset="0"/>
              </a:rPr>
              <a:t>cod_v</a:t>
            </a:r>
            <a:r>
              <a:rPr lang="fi-FI" sz="18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fi-FI" sz="1800" dirty="0">
                <a:solidFill>
                  <a:srgbClr val="000000"/>
                </a:solidFill>
                <a:latin typeface="Consolas" panose="020B0609020204030204" pitchFamily="49" charset="0"/>
              </a:rPr>
              <a:t>V</a:t>
            </a:r>
            <a:r>
              <a:rPr lang="fi-FI" sz="18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fi-FI" sz="1800" dirty="0">
                <a:solidFill>
                  <a:srgbClr val="000000"/>
                </a:solidFill>
                <a:latin typeface="Consolas" panose="020B0609020204030204" pitchFamily="49" charset="0"/>
              </a:rPr>
              <a:t>cod_v 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WHERE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V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email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@email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ro-RO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ro-RO" sz="1800" dirty="0">
                <a:solidFill>
                  <a:srgbClr val="FF00FF"/>
                </a:solidFill>
                <a:latin typeface="Consolas" panose="020B0609020204030204" pitchFamily="49" charset="0"/>
              </a:rPr>
              <a:t>UPDATE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@NoteAtractii 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tip_evaluare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ro-RO" sz="1800" dirty="0">
                <a:solidFill>
                  <a:srgbClr val="FF0000"/>
                </a:solidFill>
                <a:latin typeface="Consolas" panose="020B0609020204030204" pitchFamily="49" charset="0"/>
              </a:rPr>
              <a:t>'pozitiva'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WHERE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nota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&gt;=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5.0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ro-RO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en-US" sz="1800" dirty="0">
                <a:solidFill>
                  <a:srgbClr val="FF00FF"/>
                </a:solidFill>
                <a:latin typeface="Consolas" panose="020B0609020204030204" pitchFamily="49" charset="0"/>
              </a:rPr>
              <a:t>UPDATE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@NoteAtractii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tip_evaluare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'</a:t>
            </a:r>
            <a:r>
              <a:rPr lang="en-US" sz="1800" dirty="0" err="1">
                <a:solidFill>
                  <a:srgbClr val="FF0000"/>
                </a:solidFill>
                <a:latin typeface="Consolas" panose="020B0609020204030204" pitchFamily="49" charset="0"/>
              </a:rPr>
              <a:t>negativa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'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WHERE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nota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5.0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ro-RO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END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2064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latin typeface="+mn-lt"/>
              </a:rPr>
              <a:t>Funcții definite de către utilizator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41120" y="1559510"/>
            <a:ext cx="10448426" cy="5033313"/>
          </a:xfrm>
        </p:spPr>
        <p:txBody>
          <a:bodyPr/>
          <a:lstStyle/>
          <a:p>
            <a:r>
              <a:rPr lang="ro-RO" dirty="0"/>
              <a:t>Funcția </a:t>
            </a:r>
            <a:r>
              <a:rPr lang="ro-RO" b="1" dirty="0"/>
              <a:t>multi-statement table-valued </a:t>
            </a:r>
            <a:r>
              <a:rPr lang="ro-RO" dirty="0"/>
              <a:t>definită anterior primește ca parametru o valoare ce reprezintă </a:t>
            </a:r>
            <a:r>
              <a:rPr lang="en-US" dirty="0" err="1"/>
              <a:t>adresa</a:t>
            </a:r>
            <a:r>
              <a:rPr lang="en-US" dirty="0"/>
              <a:t> de email a </a:t>
            </a:r>
            <a:r>
              <a:rPr lang="en-US" dirty="0" err="1"/>
              <a:t>unui</a:t>
            </a:r>
            <a:r>
              <a:rPr lang="en-US" dirty="0"/>
              <a:t> </a:t>
            </a:r>
            <a:r>
              <a:rPr lang="en-US" dirty="0" err="1"/>
              <a:t>vizitator</a:t>
            </a:r>
            <a:r>
              <a:rPr lang="ro-RO" dirty="0"/>
              <a:t> și returnează </a:t>
            </a:r>
            <a:r>
              <a:rPr lang="ro-RO" b="1" dirty="0"/>
              <a:t>un tabel </a:t>
            </a:r>
            <a:r>
              <a:rPr lang="ro-RO" dirty="0"/>
              <a:t>care conține atracțiile evaluate de către vizitatorul respectiv</a:t>
            </a:r>
          </a:p>
          <a:p>
            <a:r>
              <a:rPr lang="ro-RO" dirty="0"/>
              <a:t>Tabelul returnat conține numele atracției, nota primită, adresa de email a vizitatorului și </a:t>
            </a:r>
            <a:r>
              <a:rPr lang="ro-RO" b="1" dirty="0"/>
              <a:t>tipul evaluării</a:t>
            </a:r>
            <a:r>
              <a:rPr lang="ro-RO" dirty="0"/>
              <a:t>:</a:t>
            </a:r>
          </a:p>
          <a:p>
            <a:pPr lvl="1"/>
            <a:r>
              <a:rPr lang="ro-RO" sz="2000" dirty="0"/>
              <a:t>dacă </a:t>
            </a:r>
            <a:r>
              <a:rPr lang="ro-RO" sz="2000" b="1" dirty="0"/>
              <a:t>nota este mai mică decât 5</a:t>
            </a:r>
            <a:r>
              <a:rPr lang="ro-RO" sz="2000" dirty="0"/>
              <a:t>, atunc</a:t>
            </a:r>
            <a:r>
              <a:rPr lang="en-US" sz="2000" dirty="0" err="1"/>
              <a:t>i</a:t>
            </a:r>
            <a:r>
              <a:rPr lang="en-US" sz="2000" dirty="0"/>
              <a:t> </a:t>
            </a:r>
            <a:r>
              <a:rPr lang="en-US" sz="2000" dirty="0" err="1"/>
              <a:t>evaluarea</a:t>
            </a:r>
            <a:r>
              <a:rPr lang="en-US" sz="2000" dirty="0"/>
              <a:t> </a:t>
            </a:r>
            <a:r>
              <a:rPr lang="en-US" sz="2000" dirty="0" err="1"/>
              <a:t>va</a:t>
            </a:r>
            <a:r>
              <a:rPr lang="en-US" sz="2000" dirty="0"/>
              <a:t> fi </a:t>
            </a:r>
            <a:r>
              <a:rPr lang="en-US" sz="2000" b="1" dirty="0" err="1"/>
              <a:t>negativ</a:t>
            </a:r>
            <a:r>
              <a:rPr lang="ro-RO" sz="2000" b="1" dirty="0"/>
              <a:t>ă</a:t>
            </a:r>
          </a:p>
          <a:p>
            <a:pPr lvl="1"/>
            <a:r>
              <a:rPr lang="en-US" sz="2000" dirty="0" err="1"/>
              <a:t>dac</a:t>
            </a:r>
            <a:r>
              <a:rPr lang="ro-RO" sz="2000" dirty="0"/>
              <a:t>ă </a:t>
            </a:r>
            <a:r>
              <a:rPr lang="ro-RO" sz="2000" b="1" dirty="0"/>
              <a:t>nota este mai mare sau egală cu 5</a:t>
            </a:r>
            <a:r>
              <a:rPr lang="ro-RO" sz="2000" dirty="0"/>
              <a:t>, atunci evaluarea va fi </a:t>
            </a:r>
            <a:r>
              <a:rPr lang="ro-RO" sz="2000" b="1" dirty="0"/>
              <a:t>pozitivă</a:t>
            </a:r>
            <a:r>
              <a:rPr lang="ro-RO" sz="2000" dirty="0"/>
              <a:t>) </a:t>
            </a:r>
            <a:endParaRPr lang="en-US" sz="2000" dirty="0"/>
          </a:p>
          <a:p>
            <a:r>
              <a:rPr lang="ro-RO" dirty="0"/>
              <a:t>Funcția va fi apelată în modul următor:</a:t>
            </a:r>
          </a:p>
          <a:p>
            <a:pPr marL="0" indent="0">
              <a:buNone/>
            </a:pPr>
            <a:r>
              <a:rPr lang="ro-RO" dirty="0"/>
              <a:t>	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 SELECT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*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dbo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NoteAtractii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'andrei@gmail.com'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);</a:t>
            </a:r>
            <a:endParaRPr 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9537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24352-0E20-43CB-3654-8AADA430F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Exerci</a:t>
            </a:r>
            <a:r>
              <a:rPr lang="ro-RO" dirty="0"/>
              <a:t>ții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F09BC1-746C-3701-484E-F535F3A820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1119" y="1572768"/>
            <a:ext cx="10527607" cy="4680250"/>
          </a:xfrm>
        </p:spPr>
        <p:txBody>
          <a:bodyPr/>
          <a:lstStyle/>
          <a:p>
            <a:r>
              <a:rPr lang="ro-RO" sz="2400" dirty="0"/>
              <a:t>1) Să se creeze o funcție scalară care primește ca parametru numele unei categorii și returnează codul acesteia. </a:t>
            </a:r>
          </a:p>
          <a:p>
            <a:r>
              <a:rPr lang="ro-RO" sz="2400" dirty="0"/>
              <a:t>2) Creați o funcție de tip inline table valued care returnează toate înregistrările din tabelul </a:t>
            </a:r>
            <a:r>
              <a:rPr lang="ro-RO" sz="2400" i="1" dirty="0"/>
              <a:t>Sectiuni</a:t>
            </a:r>
            <a:r>
              <a:rPr lang="ro-RO" sz="2400" dirty="0"/>
              <a:t> al căror nume se termină cu o literă dată ca parametru de intrare și au cel puțin două caractere.</a:t>
            </a:r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92406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err="1">
                <a:latin typeface="+mn-lt"/>
              </a:rPr>
              <a:t>View</a:t>
            </a:r>
            <a:endParaRPr lang="en-US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41120" y="1470733"/>
            <a:ext cx="10528325" cy="4717003"/>
          </a:xfrm>
        </p:spPr>
        <p:txBody>
          <a:bodyPr>
            <a:normAutofit/>
          </a:bodyPr>
          <a:lstStyle/>
          <a:p>
            <a:r>
              <a:rPr lang="en-US" dirty="0"/>
              <a:t>Un </a:t>
            </a:r>
            <a:r>
              <a:rPr lang="en-US" b="1" dirty="0"/>
              <a:t>view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un </a:t>
            </a:r>
            <a:r>
              <a:rPr lang="en-US" dirty="0" err="1"/>
              <a:t>tabel</a:t>
            </a:r>
            <a:r>
              <a:rPr lang="en-US" dirty="0"/>
              <a:t> virtual </a:t>
            </a:r>
            <a:r>
              <a:rPr lang="en-US" dirty="0" err="1"/>
              <a:t>bazat</a:t>
            </a:r>
            <a:r>
              <a:rPr lang="en-US" dirty="0"/>
              <a:t> </a:t>
            </a:r>
            <a:r>
              <a:rPr lang="en-US" dirty="0" err="1"/>
              <a:t>pe</a:t>
            </a:r>
            <a:r>
              <a:rPr lang="en-US" dirty="0"/>
              <a:t> result set-</a:t>
            </a:r>
            <a:r>
              <a:rPr lang="en-US" dirty="0" err="1"/>
              <a:t>ul</a:t>
            </a:r>
            <a:r>
              <a:rPr lang="en-US" dirty="0"/>
              <a:t> </a:t>
            </a:r>
            <a:r>
              <a:rPr lang="en-US" dirty="0" err="1"/>
              <a:t>unei</a:t>
            </a:r>
            <a:r>
              <a:rPr lang="en-US" dirty="0"/>
              <a:t> inter</a:t>
            </a:r>
            <a:r>
              <a:rPr lang="ro-RO" dirty="0" err="1"/>
              <a:t>ogări</a:t>
            </a:r>
            <a:endParaRPr lang="ro-RO" dirty="0"/>
          </a:p>
          <a:p>
            <a:r>
              <a:rPr lang="ro-RO" dirty="0"/>
              <a:t>Conține înregistrări și coloane ca un tabel real</a:t>
            </a:r>
          </a:p>
          <a:p>
            <a:r>
              <a:rPr lang="ro-RO" dirty="0"/>
              <a:t>Un </a:t>
            </a:r>
            <a:r>
              <a:rPr lang="ro-RO" b="1" dirty="0" err="1"/>
              <a:t>view</a:t>
            </a:r>
            <a:r>
              <a:rPr lang="ro-RO" dirty="0"/>
              <a:t> nu stochează date, stochează definiția unei interogări </a:t>
            </a:r>
          </a:p>
          <a:p>
            <a:r>
              <a:rPr lang="ro-RO" dirty="0"/>
              <a:t>Cu ajutorul unui </a:t>
            </a:r>
            <a:r>
              <a:rPr lang="ro-RO" b="1" dirty="0" err="1"/>
              <a:t>view</a:t>
            </a:r>
            <a:r>
              <a:rPr lang="ro-RO" dirty="0"/>
              <a:t> putem prezenta date din mai multe tabele ca și cum ar veni din același tabel</a:t>
            </a:r>
          </a:p>
          <a:p>
            <a:r>
              <a:rPr lang="ro-RO" dirty="0"/>
              <a:t>De fiecare dată când un </a:t>
            </a:r>
            <a:r>
              <a:rPr lang="ro-RO" b="1" dirty="0" err="1"/>
              <a:t>view</a:t>
            </a:r>
            <a:r>
              <a:rPr lang="ro-RO" dirty="0"/>
              <a:t> este interogat, motorul bazei de date va recrea datele folosind </a:t>
            </a:r>
            <a:r>
              <a:rPr lang="ro-RO" b="1" dirty="0"/>
              <a:t>instrucțiunea SELECT</a:t>
            </a:r>
            <a:r>
              <a:rPr lang="en-US" dirty="0"/>
              <a:t> </a:t>
            </a:r>
            <a:r>
              <a:rPr lang="en-US" dirty="0" err="1"/>
              <a:t>specificat</a:t>
            </a:r>
            <a:r>
              <a:rPr lang="ro-RO" dirty="0"/>
              <a:t>ă la crearea </a:t>
            </a:r>
            <a:r>
              <a:rPr lang="ro-RO" b="1" dirty="0"/>
              <a:t>view-ului</a:t>
            </a:r>
            <a:r>
              <a:rPr lang="ro-RO" dirty="0"/>
              <a:t>, astfel că un </a:t>
            </a:r>
            <a:r>
              <a:rPr lang="ro-RO" b="1" dirty="0"/>
              <a:t>view </a:t>
            </a:r>
            <a:r>
              <a:rPr lang="ro-RO" dirty="0"/>
              <a:t>va prezenta întotdeauna </a:t>
            </a:r>
            <a:r>
              <a:rPr lang="ro-RO" b="1" dirty="0"/>
              <a:t>date actualizate</a:t>
            </a:r>
          </a:p>
          <a:p>
            <a:r>
              <a:rPr lang="ro-RO" b="1" dirty="0"/>
              <a:t>Numele coloanelor </a:t>
            </a:r>
            <a:r>
              <a:rPr lang="ro-RO" dirty="0"/>
              <a:t>dintr-un </a:t>
            </a:r>
            <a:r>
              <a:rPr lang="ro-RO" b="1" dirty="0" err="1"/>
              <a:t>view</a:t>
            </a:r>
            <a:r>
              <a:rPr lang="ro-RO" dirty="0"/>
              <a:t> trebuie să fie </a:t>
            </a:r>
            <a:r>
              <a:rPr lang="ro-RO" b="1" dirty="0"/>
              <a:t>unice</a:t>
            </a:r>
            <a:r>
              <a:rPr lang="ro-RO" dirty="0"/>
              <a:t> (în cazul în care avem două coloane cu același nume provenind din tabele diferite, putem folosi un </a:t>
            </a:r>
            <a:r>
              <a:rPr lang="ro-RO" b="1" dirty="0"/>
              <a:t>alias</a:t>
            </a:r>
            <a:r>
              <a:rPr lang="ro-RO" dirty="0"/>
              <a:t> pentru una dintre ele)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5694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latin typeface="+mn-lt"/>
              </a:rPr>
              <a:t>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73575" y="1568389"/>
            <a:ext cx="10551481" cy="4921188"/>
          </a:xfrm>
        </p:spPr>
        <p:txBody>
          <a:bodyPr/>
          <a:lstStyle/>
          <a:p>
            <a:r>
              <a:rPr lang="ro-RO" dirty="0"/>
              <a:t>Sintaxa pentru crearea unui </a:t>
            </a:r>
            <a:r>
              <a:rPr lang="ro-RO" dirty="0" err="1"/>
              <a:t>view</a:t>
            </a:r>
            <a:r>
              <a:rPr lang="ro-RO" dirty="0"/>
              <a:t>:</a:t>
            </a:r>
            <a:endParaRPr lang="en-US" dirty="0"/>
          </a:p>
          <a:p>
            <a:pPr marL="0" indent="0">
              <a:buNone/>
            </a:pPr>
            <a:r>
              <a:rPr lang="ro-RO" dirty="0"/>
              <a:t>    	</a:t>
            </a:r>
            <a:r>
              <a:rPr lang="ro-RO" dirty="0">
                <a:latin typeface="Consolas" panose="020B0609020204030204" pitchFamily="49" charset="0"/>
              </a:rPr>
              <a:t>CREATE VIEW view_name AS </a:t>
            </a:r>
            <a:r>
              <a:rPr lang="en-US" dirty="0">
                <a:latin typeface="Consolas" panose="020B0609020204030204" pitchFamily="49" charset="0"/>
              </a:rPr>
              <a:t>&lt;</a:t>
            </a:r>
            <a:r>
              <a:rPr lang="en-US" dirty="0" err="1">
                <a:latin typeface="Consolas" panose="020B0609020204030204" pitchFamily="49" charset="0"/>
              </a:rPr>
              <a:t>select_statement</a:t>
            </a:r>
            <a:r>
              <a:rPr lang="en-US" dirty="0">
                <a:latin typeface="Consolas" panose="020B0609020204030204" pitchFamily="49" charset="0"/>
              </a:rPr>
              <a:t>&gt;;</a:t>
            </a:r>
            <a:endParaRPr lang="ro-RO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r>
              <a:rPr lang="en-US" dirty="0" err="1"/>
              <a:t>Sintaxa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modificarea</a:t>
            </a:r>
            <a:r>
              <a:rPr lang="en-US" dirty="0"/>
              <a:t> </a:t>
            </a:r>
            <a:r>
              <a:rPr lang="en-US" dirty="0" err="1"/>
              <a:t>unui</a:t>
            </a:r>
            <a:r>
              <a:rPr lang="en-US" dirty="0"/>
              <a:t> view:</a:t>
            </a:r>
          </a:p>
          <a:p>
            <a:pPr marL="0" indent="0">
              <a:buNone/>
            </a:pPr>
            <a:r>
              <a:rPr lang="ro-RO" dirty="0"/>
              <a:t>    	</a:t>
            </a:r>
            <a:r>
              <a:rPr lang="en-US" dirty="0">
                <a:latin typeface="Consolas" panose="020B0609020204030204" pitchFamily="49" charset="0"/>
              </a:rPr>
              <a:t>ALTER VIEW </a:t>
            </a:r>
            <a:r>
              <a:rPr lang="en-US" dirty="0" err="1">
                <a:latin typeface="Consolas" panose="020B0609020204030204" pitchFamily="49" charset="0"/>
              </a:rPr>
              <a:t>view_name</a:t>
            </a:r>
            <a:r>
              <a:rPr lang="en-US" dirty="0">
                <a:latin typeface="Consolas" panose="020B0609020204030204" pitchFamily="49" charset="0"/>
              </a:rPr>
              <a:t> AS</a:t>
            </a:r>
            <a:r>
              <a:rPr lang="ro-RO" dirty="0">
                <a:latin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</a:rPr>
              <a:t>&lt;</a:t>
            </a:r>
            <a:r>
              <a:rPr lang="en-US" dirty="0" err="1">
                <a:latin typeface="Consolas" panose="020B0609020204030204" pitchFamily="49" charset="0"/>
              </a:rPr>
              <a:t>select_statement</a:t>
            </a:r>
            <a:r>
              <a:rPr lang="en-US" dirty="0">
                <a:latin typeface="Consolas" panose="020B0609020204030204" pitchFamily="49" charset="0"/>
              </a:rPr>
              <a:t>&gt;;</a:t>
            </a:r>
            <a:endParaRPr lang="ro-RO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r>
              <a:rPr lang="en-US" dirty="0" err="1"/>
              <a:t>Sintaxa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ro-RO" dirty="0"/>
              <a:t>ștergerea unui view:</a:t>
            </a:r>
          </a:p>
          <a:p>
            <a:pPr marL="0" indent="0">
              <a:buNone/>
            </a:pPr>
            <a:r>
              <a:rPr lang="ro-RO" dirty="0"/>
              <a:t>  	</a:t>
            </a:r>
            <a:r>
              <a:rPr lang="ro-RO" dirty="0">
                <a:latin typeface="Consolas" panose="020B0609020204030204" pitchFamily="49" charset="0"/>
              </a:rPr>
              <a:t>DROP VIEW view_name</a:t>
            </a:r>
            <a:r>
              <a:rPr lang="en-US" dirty="0">
                <a:latin typeface="Consolas" panose="020B0609020204030204" pitchFamily="49" charset="0"/>
              </a:rPr>
              <a:t>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9237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latin typeface="+mn-lt"/>
              </a:rPr>
              <a:t>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41120" y="1595020"/>
            <a:ext cx="10111074" cy="4997804"/>
          </a:xfrm>
        </p:spPr>
        <p:txBody>
          <a:bodyPr>
            <a:normAutofit/>
          </a:bodyPr>
          <a:lstStyle/>
          <a:p>
            <a:r>
              <a:rPr lang="ro-RO" dirty="0"/>
              <a:t>Următorul view returnează numele atracțiilor, nota</a:t>
            </a:r>
            <a:r>
              <a:rPr lang="en-US" dirty="0"/>
              <a:t>,</a:t>
            </a:r>
            <a:r>
              <a:rPr lang="ro-RO" dirty="0"/>
              <a:t> numele și adresa de email a vizitatorilor:</a:t>
            </a:r>
            <a:endParaRPr lang="en-US" dirty="0"/>
          </a:p>
          <a:p>
            <a:pPr marL="4572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CREATE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VIEW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vw_NoteAtractii</a:t>
            </a:r>
          </a:p>
          <a:p>
            <a:pPr marL="4572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endParaRPr lang="ro-RO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A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nume 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atractie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N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nota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V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nume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V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email 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Atractii A</a:t>
            </a:r>
          </a:p>
          <a:p>
            <a:pPr marL="45720" indent="0">
              <a:buNone/>
            </a:pP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	INNER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JOIN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Note N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ON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A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cod_a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N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cod_a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pPr marL="45720" indent="0">
              <a:buNone/>
            </a:pPr>
            <a:r>
              <a:rPr lang="fi-FI" sz="1800" dirty="0">
                <a:solidFill>
                  <a:srgbClr val="808080"/>
                </a:solidFill>
                <a:latin typeface="Consolas" panose="020B0609020204030204" pitchFamily="49" charset="0"/>
              </a:rPr>
              <a:t>	INNER</a:t>
            </a:r>
            <a:r>
              <a:rPr lang="fi-FI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i-FI" sz="1800" dirty="0">
                <a:solidFill>
                  <a:srgbClr val="808080"/>
                </a:solidFill>
                <a:latin typeface="Consolas" panose="020B0609020204030204" pitchFamily="49" charset="0"/>
              </a:rPr>
              <a:t>JOIN</a:t>
            </a:r>
            <a:r>
              <a:rPr lang="fi-FI" sz="1800" dirty="0">
                <a:solidFill>
                  <a:srgbClr val="000000"/>
                </a:solidFill>
                <a:latin typeface="Consolas" panose="020B0609020204030204" pitchFamily="49" charset="0"/>
              </a:rPr>
              <a:t> Vizitatori V </a:t>
            </a:r>
            <a:r>
              <a:rPr lang="fi-FI" sz="1800" dirty="0">
                <a:solidFill>
                  <a:srgbClr val="0000FF"/>
                </a:solidFill>
                <a:latin typeface="Consolas" panose="020B0609020204030204" pitchFamily="49" charset="0"/>
              </a:rPr>
              <a:t>ON</a:t>
            </a:r>
            <a:r>
              <a:rPr lang="fi-FI" sz="1800" dirty="0">
                <a:solidFill>
                  <a:srgbClr val="000000"/>
                </a:solidFill>
                <a:latin typeface="Consolas" panose="020B0609020204030204" pitchFamily="49" charset="0"/>
              </a:rPr>
              <a:t> N</a:t>
            </a:r>
            <a:r>
              <a:rPr lang="fi-FI" sz="18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fi-FI" sz="1800" dirty="0">
                <a:solidFill>
                  <a:srgbClr val="000000"/>
                </a:solidFill>
                <a:latin typeface="Consolas" panose="020B0609020204030204" pitchFamily="49" charset="0"/>
              </a:rPr>
              <a:t>cod_v</a:t>
            </a:r>
            <a:r>
              <a:rPr lang="fi-FI" sz="18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fi-FI" sz="1800" dirty="0">
                <a:solidFill>
                  <a:srgbClr val="000000"/>
                </a:solidFill>
                <a:latin typeface="Consolas" panose="020B0609020204030204" pitchFamily="49" charset="0"/>
              </a:rPr>
              <a:t>V</a:t>
            </a:r>
            <a:r>
              <a:rPr lang="fi-FI" sz="18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fi-FI" sz="1800" dirty="0">
                <a:solidFill>
                  <a:srgbClr val="000000"/>
                </a:solidFill>
                <a:latin typeface="Consolas" panose="020B0609020204030204" pitchFamily="49" charset="0"/>
              </a:rPr>
              <a:t>cod_v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fi-FI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fi-FI" sz="18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GO</a:t>
            </a:r>
            <a:endParaRPr lang="ro-RO" dirty="0"/>
          </a:p>
          <a:p>
            <a:pPr marL="45720" indent="0">
              <a:buNone/>
            </a:pPr>
            <a:r>
              <a:rPr lang="ro-RO" dirty="0"/>
              <a:t>	</a:t>
            </a:r>
            <a:r>
              <a:rPr lang="ro-RO" sz="1800" dirty="0">
                <a:solidFill>
                  <a:srgbClr val="008000"/>
                </a:solidFill>
                <a:latin typeface="Consolas" panose="020B0609020204030204" pitchFamily="49" charset="0"/>
              </a:rPr>
              <a:t>--Interogarea view-ului</a:t>
            </a:r>
            <a:endParaRPr lang="ro-RO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*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vw_NoteAtractii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8167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latin typeface="+mn-lt"/>
              </a:rPr>
              <a:t>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41120" y="1523999"/>
            <a:ext cx="10492814" cy="5068825"/>
          </a:xfrm>
        </p:spPr>
        <p:txBody>
          <a:bodyPr>
            <a:normAutofit/>
          </a:bodyPr>
          <a:lstStyle/>
          <a:p>
            <a:r>
              <a:rPr lang="en-US" dirty="0" err="1"/>
              <a:t>Vom</a:t>
            </a:r>
            <a:r>
              <a:rPr lang="en-US" dirty="0"/>
              <a:t> </a:t>
            </a:r>
            <a:r>
              <a:rPr lang="en-US" dirty="0" err="1"/>
              <a:t>modifica</a:t>
            </a:r>
            <a:r>
              <a:rPr lang="en-US" dirty="0"/>
              <a:t> </a:t>
            </a:r>
            <a:r>
              <a:rPr lang="en-US" dirty="0" err="1"/>
              <a:t>defin</a:t>
            </a:r>
            <a:r>
              <a:rPr lang="ro-RO" dirty="0"/>
              <a:t>iția view-ului, astfel încât acesta să returneze doar înregistrările a căror note se găsesc în intervalul închis </a:t>
            </a:r>
            <a:r>
              <a:rPr lang="en-US" dirty="0"/>
              <a:t>[5, 7]</a:t>
            </a:r>
            <a:r>
              <a:rPr lang="ro-RO" dirty="0"/>
              <a:t>: </a:t>
            </a:r>
            <a:endParaRPr lang="en-US" dirty="0"/>
          </a:p>
          <a:p>
            <a:pPr marL="45720" indent="0">
              <a:buNone/>
            </a:pPr>
            <a:r>
              <a:rPr lang="en-US" dirty="0"/>
              <a:t>   </a:t>
            </a:r>
            <a:r>
              <a:rPr lang="ro-RO" dirty="0"/>
              <a:t>	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ALTER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VIEW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vw_NoteAtractii</a:t>
            </a:r>
          </a:p>
          <a:p>
            <a:pPr marL="4572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endParaRPr lang="ro-RO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A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nume 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atractie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N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nota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V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nume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V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email 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Atractii A</a:t>
            </a:r>
          </a:p>
          <a:p>
            <a:pPr marL="45720" indent="0">
              <a:buNone/>
            </a:pP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	INNER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JOIN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Note N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ON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A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cod_a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N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cod_a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pPr marL="45720" indent="0">
              <a:buNone/>
            </a:pPr>
            <a:r>
              <a:rPr lang="fi-FI" sz="1800" dirty="0">
                <a:solidFill>
                  <a:srgbClr val="808080"/>
                </a:solidFill>
                <a:latin typeface="Consolas" panose="020B0609020204030204" pitchFamily="49" charset="0"/>
              </a:rPr>
              <a:t>	INNER</a:t>
            </a:r>
            <a:r>
              <a:rPr lang="fi-FI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i-FI" sz="1800" dirty="0">
                <a:solidFill>
                  <a:srgbClr val="808080"/>
                </a:solidFill>
                <a:latin typeface="Consolas" panose="020B0609020204030204" pitchFamily="49" charset="0"/>
              </a:rPr>
              <a:t>JOIN</a:t>
            </a:r>
            <a:r>
              <a:rPr lang="fi-FI" sz="1800" dirty="0">
                <a:solidFill>
                  <a:srgbClr val="000000"/>
                </a:solidFill>
                <a:latin typeface="Consolas" panose="020B0609020204030204" pitchFamily="49" charset="0"/>
              </a:rPr>
              <a:t> Vizitatori V </a:t>
            </a:r>
            <a:r>
              <a:rPr lang="fi-FI" sz="1800" dirty="0">
                <a:solidFill>
                  <a:srgbClr val="0000FF"/>
                </a:solidFill>
                <a:latin typeface="Consolas" panose="020B0609020204030204" pitchFamily="49" charset="0"/>
              </a:rPr>
              <a:t>ON</a:t>
            </a:r>
            <a:r>
              <a:rPr lang="fi-FI" sz="1800" dirty="0">
                <a:solidFill>
                  <a:srgbClr val="000000"/>
                </a:solidFill>
                <a:latin typeface="Consolas" panose="020B0609020204030204" pitchFamily="49" charset="0"/>
              </a:rPr>
              <a:t> N</a:t>
            </a:r>
            <a:r>
              <a:rPr lang="fi-FI" sz="18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fi-FI" sz="1800" dirty="0">
                <a:solidFill>
                  <a:srgbClr val="000000"/>
                </a:solidFill>
                <a:latin typeface="Consolas" panose="020B0609020204030204" pitchFamily="49" charset="0"/>
              </a:rPr>
              <a:t>cod_v</a:t>
            </a:r>
            <a:r>
              <a:rPr lang="fi-FI" sz="18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fi-FI" sz="1800" dirty="0">
                <a:solidFill>
                  <a:srgbClr val="000000"/>
                </a:solidFill>
                <a:latin typeface="Consolas" panose="020B0609020204030204" pitchFamily="49" charset="0"/>
              </a:rPr>
              <a:t>V</a:t>
            </a:r>
            <a:r>
              <a:rPr lang="fi-FI" sz="18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fi-FI" sz="1800" dirty="0">
                <a:solidFill>
                  <a:srgbClr val="000000"/>
                </a:solidFill>
                <a:latin typeface="Consolas" panose="020B0609020204030204" pitchFamily="49" charset="0"/>
              </a:rPr>
              <a:t>cod_v</a:t>
            </a:r>
          </a:p>
          <a:p>
            <a:pPr marL="45720" indent="0">
              <a:buNone/>
            </a:pPr>
            <a:r>
              <a:rPr lang="fi-FI" sz="18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WHERE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N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nota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BETWEEN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5.0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AND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7.0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fi-FI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fi-FI" sz="18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GO</a:t>
            </a:r>
            <a:endParaRPr lang="ro-RO" sz="1800" dirty="0"/>
          </a:p>
          <a:p>
            <a:pPr marL="45720" indent="0">
              <a:buNone/>
            </a:pPr>
            <a:r>
              <a:rPr lang="ro-RO" sz="1800" dirty="0"/>
              <a:t>	</a:t>
            </a:r>
            <a:r>
              <a:rPr lang="ro-RO" sz="1800" dirty="0">
                <a:solidFill>
                  <a:srgbClr val="008000"/>
                </a:solidFill>
                <a:latin typeface="Consolas" panose="020B0609020204030204" pitchFamily="49" charset="0"/>
              </a:rPr>
              <a:t>--Interogarea view-ului</a:t>
            </a:r>
            <a:endParaRPr lang="ro-RO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*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vw_NoteAtractii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050980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latin typeface="+mn-lt"/>
              </a:rPr>
              <a:t>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68884" y="1470734"/>
            <a:ext cx="10196374" cy="4419600"/>
          </a:xfrm>
        </p:spPr>
        <p:txBody>
          <a:bodyPr>
            <a:normAutofit/>
          </a:bodyPr>
          <a:lstStyle/>
          <a:p>
            <a:r>
              <a:rPr lang="en-US" dirty="0"/>
              <a:t>C</a:t>
            </a:r>
            <a:r>
              <a:rPr lang="ro-RO" dirty="0"/>
              <a:t>ând interogăm view-ul putem specifica explicit coloanele pe care dorim să le returnăm în result-set:</a:t>
            </a:r>
            <a:endParaRPr lang="en-US" dirty="0"/>
          </a:p>
          <a:p>
            <a:pPr marL="0" indent="0">
              <a:buNone/>
            </a:pPr>
            <a:r>
              <a:rPr lang="ro-RO" dirty="0"/>
              <a:t>    	</a:t>
            </a:r>
            <a:r>
              <a:rPr lang="ro-RO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ro-RO" dirty="0">
                <a:solidFill>
                  <a:srgbClr val="000000"/>
                </a:solidFill>
                <a:latin typeface="Consolas" panose="020B0609020204030204" pitchFamily="49" charset="0"/>
              </a:rPr>
              <a:t> atractie</a:t>
            </a:r>
            <a:r>
              <a:rPr lang="ro-RO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ro-RO" dirty="0">
                <a:solidFill>
                  <a:srgbClr val="000000"/>
                </a:solidFill>
                <a:latin typeface="Consolas" panose="020B0609020204030204" pitchFamily="49" charset="0"/>
              </a:rPr>
              <a:t> nota</a:t>
            </a:r>
            <a:r>
              <a:rPr lang="ro-RO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ro-RO" dirty="0">
                <a:solidFill>
                  <a:srgbClr val="000000"/>
                </a:solidFill>
                <a:latin typeface="Consolas" panose="020B0609020204030204" pitchFamily="49" charset="0"/>
              </a:rPr>
              <a:t> nume</a:t>
            </a:r>
            <a:r>
              <a:rPr lang="ro-RO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ro-RO" dirty="0">
                <a:solidFill>
                  <a:srgbClr val="000000"/>
                </a:solidFill>
                <a:latin typeface="Consolas" panose="020B0609020204030204" pitchFamily="49" charset="0"/>
              </a:rPr>
              <a:t> email </a:t>
            </a:r>
            <a:r>
              <a:rPr lang="ro-RO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ro-RO" dirty="0">
                <a:solidFill>
                  <a:srgbClr val="000000"/>
                </a:solidFill>
                <a:latin typeface="Consolas" panose="020B0609020204030204" pitchFamily="49" charset="0"/>
              </a:rPr>
              <a:t> vw_NoteAtractii</a:t>
            </a:r>
            <a:r>
              <a:rPr lang="ro-RO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</a:p>
          <a:p>
            <a:pPr marL="342900" indent="-342900"/>
            <a:r>
              <a:rPr lang="ro-RO" dirty="0"/>
              <a:t>Sau putem folosi</a:t>
            </a:r>
            <a:r>
              <a:rPr lang="en-US" dirty="0"/>
              <a:t> </a:t>
            </a:r>
            <a:r>
              <a:rPr lang="ro-RO" b="1" dirty="0"/>
              <a:t>*</a:t>
            </a:r>
            <a:r>
              <a:rPr lang="ro-RO" dirty="0"/>
              <a:t> dacă returnăm toate coloanele în result-set:</a:t>
            </a:r>
          </a:p>
          <a:p>
            <a:pPr marL="0" indent="0">
              <a:buNone/>
            </a:pPr>
            <a:r>
              <a:rPr lang="ro-RO" dirty="0">
                <a:latin typeface="Consolas" panose="020B0609020204030204" pitchFamily="49" charset="0"/>
              </a:rPr>
              <a:t>	</a:t>
            </a:r>
            <a:r>
              <a:rPr lang="ro-RO" sz="20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ro-RO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o-RO" sz="2000" dirty="0">
                <a:solidFill>
                  <a:srgbClr val="808080"/>
                </a:solidFill>
                <a:latin typeface="Consolas" panose="020B0609020204030204" pitchFamily="49" charset="0"/>
              </a:rPr>
              <a:t>*</a:t>
            </a:r>
            <a:r>
              <a:rPr lang="ro-RO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o-RO" sz="20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ro-RO" sz="2000" dirty="0">
                <a:solidFill>
                  <a:srgbClr val="000000"/>
                </a:solidFill>
                <a:latin typeface="Consolas" panose="020B0609020204030204" pitchFamily="49" charset="0"/>
              </a:rPr>
              <a:t> vw_NoteAtractii</a:t>
            </a:r>
            <a:r>
              <a:rPr lang="ro-RO" sz="20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en-US" dirty="0"/>
          </a:p>
          <a:p>
            <a:r>
              <a:rPr lang="en-US" dirty="0" err="1"/>
              <a:t>Dac</a:t>
            </a:r>
            <a:r>
              <a:rPr lang="ro-RO" dirty="0"/>
              <a:t>ă view-ul nu mai este necesar, poate fi șters folosind instrucțiunea </a:t>
            </a:r>
            <a:r>
              <a:rPr lang="ro-RO" b="1" dirty="0"/>
              <a:t>DROP VIEW</a:t>
            </a:r>
            <a:r>
              <a:rPr lang="ro-RO" dirty="0"/>
              <a:t>:</a:t>
            </a:r>
          </a:p>
          <a:p>
            <a:pPr marL="0" indent="0">
              <a:buNone/>
            </a:pPr>
            <a:r>
              <a:rPr lang="ro-RO" dirty="0"/>
              <a:t>   	</a:t>
            </a:r>
            <a:r>
              <a:rPr lang="ro-RO" dirty="0">
                <a:solidFill>
                  <a:srgbClr val="0000FF"/>
                </a:solidFill>
                <a:latin typeface="Consolas" panose="020B0609020204030204" pitchFamily="49" charset="0"/>
              </a:rPr>
              <a:t>DROP</a:t>
            </a:r>
            <a:r>
              <a:rPr lang="ro-RO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o-RO" dirty="0">
                <a:solidFill>
                  <a:srgbClr val="0000FF"/>
                </a:solidFill>
                <a:latin typeface="Consolas" panose="020B0609020204030204" pitchFamily="49" charset="0"/>
              </a:rPr>
              <a:t>VIEW</a:t>
            </a:r>
            <a:r>
              <a:rPr lang="ro-RO" dirty="0">
                <a:solidFill>
                  <a:srgbClr val="000000"/>
                </a:solidFill>
                <a:latin typeface="Consolas" panose="020B0609020204030204" pitchFamily="49" charset="0"/>
              </a:rPr>
              <a:t> vw_NoteAtractii</a:t>
            </a:r>
            <a:r>
              <a:rPr lang="ro-RO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8091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latin typeface="+mn-lt"/>
              </a:rPr>
              <a:t>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41120" y="1470733"/>
            <a:ext cx="10537202" cy="4796901"/>
          </a:xfrm>
        </p:spPr>
        <p:txBody>
          <a:bodyPr/>
          <a:lstStyle/>
          <a:p>
            <a:r>
              <a:rPr lang="ro-RO" b="1" dirty="0"/>
              <a:t>Nu</a:t>
            </a:r>
            <a:r>
              <a:rPr lang="ro-RO" dirty="0"/>
              <a:t> se poate folosi clauza </a:t>
            </a:r>
            <a:r>
              <a:rPr lang="ro-RO" b="1" dirty="0"/>
              <a:t>ORDER BY </a:t>
            </a:r>
            <a:r>
              <a:rPr lang="ro-RO" dirty="0"/>
              <a:t>în definiția unui </a:t>
            </a:r>
            <a:r>
              <a:rPr lang="ro-RO" dirty="0" err="1"/>
              <a:t>view</a:t>
            </a:r>
            <a:r>
              <a:rPr lang="ro-RO" dirty="0"/>
              <a:t> (decât dacă se specifică în definiția </a:t>
            </a:r>
            <a:r>
              <a:rPr lang="ro-RO" dirty="0" err="1"/>
              <a:t>view</a:t>
            </a:r>
            <a:r>
              <a:rPr lang="ro-RO" dirty="0"/>
              <a:t>-ului clauza </a:t>
            </a:r>
            <a:r>
              <a:rPr lang="ro-RO" b="1" dirty="0"/>
              <a:t>TOP</a:t>
            </a:r>
            <a:r>
              <a:rPr lang="ro-RO" dirty="0"/>
              <a:t>, </a:t>
            </a:r>
            <a:r>
              <a:rPr lang="ro-RO" b="1" dirty="0"/>
              <a:t>OFFSET</a:t>
            </a:r>
            <a:r>
              <a:rPr lang="ro-RO" dirty="0"/>
              <a:t> sau </a:t>
            </a:r>
            <a:r>
              <a:rPr lang="ro-RO" b="1" dirty="0"/>
              <a:t>FOR XML</a:t>
            </a:r>
            <a:r>
              <a:rPr lang="ro-RO" dirty="0"/>
              <a:t>)</a:t>
            </a:r>
          </a:p>
          <a:p>
            <a:r>
              <a:rPr lang="ro-RO" dirty="0"/>
              <a:t>Dacă dorim să ordonăm înregistrările din result-set, putem folosi clauza </a:t>
            </a:r>
            <a:r>
              <a:rPr lang="ro-RO" b="1" dirty="0"/>
              <a:t>ORDER BY </a:t>
            </a:r>
            <a:r>
              <a:rPr lang="ro-RO" dirty="0"/>
              <a:t>atunci când interogăm view-ul</a:t>
            </a:r>
          </a:p>
          <a:p>
            <a:r>
              <a:rPr lang="en-US" dirty="0" err="1"/>
              <a:t>Pentru</a:t>
            </a:r>
            <a:r>
              <a:rPr lang="en-US" dirty="0"/>
              <a:t> a </a:t>
            </a:r>
            <a:r>
              <a:rPr lang="en-US" dirty="0" err="1"/>
              <a:t>afi</a:t>
            </a:r>
            <a:r>
              <a:rPr lang="ro-RO" dirty="0"/>
              <a:t>șa definiția unui </a:t>
            </a:r>
            <a:r>
              <a:rPr lang="ro-RO" dirty="0" err="1"/>
              <a:t>view</a:t>
            </a:r>
            <a:r>
              <a:rPr lang="ro-RO" dirty="0"/>
              <a:t>, putem folosi funcția </a:t>
            </a:r>
            <a:r>
              <a:rPr lang="ro-RO" b="1" dirty="0"/>
              <a:t>OBJECT_DEFINITION</a:t>
            </a:r>
            <a:r>
              <a:rPr lang="en-US" b="1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procedura</a:t>
            </a:r>
            <a:r>
              <a:rPr lang="en-US" dirty="0"/>
              <a:t> </a:t>
            </a:r>
            <a:r>
              <a:rPr lang="en-US" dirty="0" err="1"/>
              <a:t>stocat</a:t>
            </a:r>
            <a:r>
              <a:rPr lang="ro-RO" dirty="0"/>
              <a:t>ă </a:t>
            </a:r>
            <a:r>
              <a:rPr lang="ro-RO" b="1" dirty="0"/>
              <a:t>sp_helptext</a:t>
            </a:r>
            <a:r>
              <a:rPr lang="ro-RO" dirty="0"/>
              <a:t>:</a:t>
            </a:r>
          </a:p>
          <a:p>
            <a:endParaRPr lang="ro-RO" dirty="0"/>
          </a:p>
          <a:p>
            <a:pPr marL="45720" indent="0">
              <a:buNone/>
            </a:pPr>
            <a:r>
              <a:rPr lang="ro-RO" dirty="0">
                <a:solidFill>
                  <a:srgbClr val="0000FF"/>
                </a:solidFill>
                <a:latin typeface="Consolas" panose="020B0609020204030204" pitchFamily="49" charset="0"/>
              </a:rPr>
              <a:t>	PRINT</a:t>
            </a:r>
            <a:r>
              <a:rPr lang="ro-RO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o-RO" dirty="0">
                <a:solidFill>
                  <a:srgbClr val="FF00FF"/>
                </a:solidFill>
                <a:latin typeface="Consolas" panose="020B0609020204030204" pitchFamily="49" charset="0"/>
              </a:rPr>
              <a:t>OBJECT_DEFINITION</a:t>
            </a:r>
            <a:r>
              <a:rPr lang="ro-RO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ro-RO" dirty="0">
                <a:solidFill>
                  <a:srgbClr val="FF00FF"/>
                </a:solidFill>
                <a:latin typeface="Consolas" panose="020B0609020204030204" pitchFamily="49" charset="0"/>
              </a:rPr>
              <a:t>OBJECT_ID</a:t>
            </a:r>
            <a:r>
              <a:rPr lang="ro-RO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ro-RO" dirty="0">
                <a:solidFill>
                  <a:srgbClr val="FF0000"/>
                </a:solidFill>
                <a:latin typeface="Consolas" panose="020B0609020204030204" pitchFamily="49" charset="0"/>
              </a:rPr>
              <a:t>'schema_name.view_name'</a:t>
            </a:r>
            <a:r>
              <a:rPr lang="ro-RO" dirty="0">
                <a:solidFill>
                  <a:srgbClr val="808080"/>
                </a:solidFill>
                <a:latin typeface="Consolas" panose="020B0609020204030204" pitchFamily="49" charset="0"/>
              </a:rPr>
              <a:t>));</a:t>
            </a:r>
            <a:endParaRPr lang="ro-RO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ro-RO" dirty="0">
                <a:solidFill>
                  <a:srgbClr val="0000FF"/>
                </a:solidFill>
                <a:latin typeface="Consolas" panose="020B0609020204030204" pitchFamily="49" charset="0"/>
              </a:rPr>
              <a:t>	EXEC</a:t>
            </a:r>
            <a:r>
              <a:rPr lang="ro-RO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o-RO" dirty="0">
                <a:solidFill>
                  <a:srgbClr val="800000"/>
                </a:solidFill>
                <a:latin typeface="Consolas" panose="020B0609020204030204" pitchFamily="49" charset="0"/>
              </a:rPr>
              <a:t>sp_helptext</a:t>
            </a:r>
            <a:r>
              <a:rPr lang="ro-RO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ro-RO" dirty="0">
                <a:solidFill>
                  <a:srgbClr val="FF0000"/>
                </a:solidFill>
                <a:latin typeface="Consolas" panose="020B0609020204030204" pitchFamily="49" charset="0"/>
              </a:rPr>
              <a:t>'schema_name.view_name'</a:t>
            </a:r>
            <a:r>
              <a:rPr lang="ro-RO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3279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latin typeface="+mn-lt"/>
              </a:rPr>
              <a:t>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41119" y="1572768"/>
            <a:ext cx="10350771" cy="4142232"/>
          </a:xfrm>
        </p:spPr>
        <p:txBody>
          <a:bodyPr/>
          <a:lstStyle/>
          <a:p>
            <a:r>
              <a:rPr lang="ro-RO" dirty="0"/>
              <a:t>Se pot insera date într-un </a:t>
            </a:r>
            <a:r>
              <a:rPr lang="ro-RO" dirty="0" err="1"/>
              <a:t>view</a:t>
            </a:r>
            <a:r>
              <a:rPr lang="ro-RO" dirty="0"/>
              <a:t> doar dacă inserarea afectează un singur </a:t>
            </a:r>
            <a:r>
              <a:rPr lang="ro-RO" i="1" dirty="0" err="1"/>
              <a:t>base</a:t>
            </a:r>
            <a:r>
              <a:rPr lang="ro-RO" i="1" dirty="0"/>
              <a:t> table</a:t>
            </a:r>
            <a:r>
              <a:rPr lang="ro-RO" dirty="0"/>
              <a:t> (în cazul în care </a:t>
            </a:r>
            <a:r>
              <a:rPr lang="ro-RO" dirty="0" err="1"/>
              <a:t>view-ul</a:t>
            </a:r>
            <a:r>
              <a:rPr lang="ro-RO" dirty="0"/>
              <a:t> conține date din mai multe tabele)</a:t>
            </a:r>
          </a:p>
          <a:p>
            <a:r>
              <a:rPr lang="ro-RO" dirty="0"/>
              <a:t>Se pot actualiza date într-un </a:t>
            </a:r>
            <a:r>
              <a:rPr lang="ro-RO" dirty="0" err="1"/>
              <a:t>view</a:t>
            </a:r>
            <a:r>
              <a:rPr lang="ro-RO" dirty="0"/>
              <a:t> doar dacă actualizarea afectează un singur </a:t>
            </a:r>
            <a:r>
              <a:rPr lang="ro-RO" i="1" dirty="0" err="1"/>
              <a:t>base</a:t>
            </a:r>
            <a:r>
              <a:rPr lang="ro-RO" i="1" dirty="0"/>
              <a:t> table </a:t>
            </a:r>
            <a:r>
              <a:rPr lang="ro-RO" dirty="0"/>
              <a:t>(în cazul în care </a:t>
            </a:r>
            <a:r>
              <a:rPr lang="ro-RO" dirty="0" err="1"/>
              <a:t>view-ul</a:t>
            </a:r>
            <a:r>
              <a:rPr lang="ro-RO" dirty="0"/>
              <a:t> conține date din mai multe tabele)</a:t>
            </a:r>
          </a:p>
          <a:p>
            <a:r>
              <a:rPr lang="ro-RO" dirty="0"/>
              <a:t>Se pot șterge date dintr-un </a:t>
            </a:r>
            <a:r>
              <a:rPr lang="ro-RO" dirty="0" err="1"/>
              <a:t>view</a:t>
            </a:r>
            <a:r>
              <a:rPr lang="ro-RO" dirty="0"/>
              <a:t> doar dacă </a:t>
            </a:r>
            <a:r>
              <a:rPr lang="ro-RO" dirty="0" err="1"/>
              <a:t>view-ul</a:t>
            </a:r>
            <a:r>
              <a:rPr lang="ro-RO" dirty="0"/>
              <a:t> conține date dintr-un singur tabel</a:t>
            </a:r>
            <a:endParaRPr lang="en-US" dirty="0"/>
          </a:p>
          <a:p>
            <a:r>
              <a:rPr lang="ro-RO" dirty="0"/>
              <a:t>Operațiunile de inserare într-un </a:t>
            </a:r>
            <a:r>
              <a:rPr lang="ro-RO" dirty="0" err="1"/>
              <a:t>view</a:t>
            </a:r>
            <a:r>
              <a:rPr lang="ro-RO" dirty="0"/>
              <a:t> sunt posibile doar dacă </a:t>
            </a:r>
            <a:r>
              <a:rPr lang="ro-RO" dirty="0" err="1"/>
              <a:t>view-ul</a:t>
            </a:r>
            <a:r>
              <a:rPr lang="ro-RO" dirty="0"/>
              <a:t> expune toate coloanele care nu permit valori NULL</a:t>
            </a:r>
          </a:p>
          <a:p>
            <a:r>
              <a:rPr lang="en-US" dirty="0"/>
              <a:t>N</a:t>
            </a:r>
            <a:r>
              <a:rPr lang="ro-RO" dirty="0"/>
              <a:t>umăr</a:t>
            </a:r>
            <a:r>
              <a:rPr lang="en-US" dirty="0" err="1"/>
              <a:t>ul</a:t>
            </a:r>
            <a:r>
              <a:rPr lang="ro-RO" dirty="0"/>
              <a:t> maxim de</a:t>
            </a:r>
            <a:r>
              <a:rPr lang="en-US" dirty="0"/>
              <a:t> </a:t>
            </a:r>
            <a:r>
              <a:rPr lang="en-US" dirty="0" err="1"/>
              <a:t>coloane</a:t>
            </a:r>
            <a:r>
              <a:rPr lang="en-US" dirty="0"/>
              <a:t> </a:t>
            </a:r>
            <a:r>
              <a:rPr lang="en-US" dirty="0" err="1"/>
              <a:t>pe</a:t>
            </a:r>
            <a:r>
              <a:rPr lang="en-US" dirty="0"/>
              <a:t> care le </a:t>
            </a:r>
            <a:r>
              <a:rPr lang="en-US" dirty="0" err="1"/>
              <a:t>poate</a:t>
            </a:r>
            <a:r>
              <a:rPr lang="en-US" dirty="0"/>
              <a:t> </a:t>
            </a:r>
            <a:r>
              <a:rPr lang="en-US" dirty="0" err="1"/>
              <a:t>avea</a:t>
            </a:r>
            <a:r>
              <a:rPr lang="en-US" dirty="0"/>
              <a:t> un view </a:t>
            </a:r>
            <a:r>
              <a:rPr lang="en-US" dirty="0" err="1"/>
              <a:t>este</a:t>
            </a:r>
            <a:r>
              <a:rPr lang="en-US" dirty="0"/>
              <a:t> 1024</a:t>
            </a:r>
            <a:endParaRPr lang="ro-RO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5792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8977F-C033-EA86-273E-3C49AE303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Exerciții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F7B2E7-565A-DC25-CD2B-77C02B1E74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1119" y="1572767"/>
            <a:ext cx="10509135" cy="4901923"/>
          </a:xfrm>
        </p:spPr>
        <p:txBody>
          <a:bodyPr/>
          <a:lstStyle/>
          <a:p>
            <a:r>
              <a:rPr lang="ro-RO" sz="2400" dirty="0"/>
              <a:t>1) Creați un view care afișează toate înregistrările din tabelul </a:t>
            </a:r>
            <a:r>
              <a:rPr lang="ro-RO" sz="2400" i="1" dirty="0"/>
              <a:t>Categorii</a:t>
            </a:r>
            <a:r>
              <a:rPr lang="ro-RO" sz="2400" dirty="0"/>
              <a:t> al căror nume este egal cu </a:t>
            </a:r>
            <a:r>
              <a:rPr lang="en-US" sz="2400" dirty="0"/>
              <a:t>‘</a:t>
            </a:r>
            <a:r>
              <a:rPr lang="en-US" sz="2400" dirty="0" err="1"/>
              <a:t>pensionari</a:t>
            </a:r>
            <a:r>
              <a:rPr lang="en-US" sz="2400" dirty="0"/>
              <a:t>’ </a:t>
            </a:r>
            <a:r>
              <a:rPr lang="en-US" sz="2400" dirty="0" err="1"/>
              <a:t>sau</a:t>
            </a:r>
            <a:r>
              <a:rPr lang="en-US" sz="2400" dirty="0"/>
              <a:t> ‘</a:t>
            </a:r>
            <a:r>
              <a:rPr lang="en-US" sz="2400" dirty="0" err="1"/>
              <a:t>copii</a:t>
            </a:r>
            <a:r>
              <a:rPr lang="en-US" sz="2400" dirty="0"/>
              <a:t>’</a:t>
            </a:r>
            <a:r>
              <a:rPr lang="ro-RO" sz="2400" dirty="0"/>
              <a:t>.</a:t>
            </a:r>
          </a:p>
          <a:p>
            <a:r>
              <a:rPr lang="ro-RO" sz="2400" dirty="0"/>
              <a:t>2) Creați un view care afișează toate înregistrările din tabelul </a:t>
            </a:r>
            <a:r>
              <a:rPr lang="ro-RO" sz="2400" i="1" dirty="0"/>
              <a:t>Sectiuni</a:t>
            </a:r>
            <a:r>
              <a:rPr lang="ro-RO" sz="2400" dirty="0"/>
              <a:t> al căror nume începe cu litera C.</a:t>
            </a:r>
          </a:p>
          <a:p>
            <a:r>
              <a:rPr lang="ro-RO" sz="2400" dirty="0"/>
              <a:t>3) Creați un view care care afișează numele vizitatorilor, nota și numele atracției.</a:t>
            </a:r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051905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latin typeface="+mn-lt"/>
              </a:rPr>
              <a:t>Tabele sistem</a:t>
            </a:r>
            <a:endParaRPr lang="en-US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60007" y="1568388"/>
            <a:ext cx="10258517" cy="4323008"/>
          </a:xfrm>
        </p:spPr>
        <p:txBody>
          <a:bodyPr>
            <a:normAutofit/>
          </a:bodyPr>
          <a:lstStyle/>
          <a:p>
            <a:r>
              <a:rPr lang="en-US" sz="2400" dirty="0" err="1"/>
              <a:t>Tabelele</a:t>
            </a:r>
            <a:r>
              <a:rPr lang="en-US" sz="2400" dirty="0"/>
              <a:t> </a:t>
            </a:r>
            <a:r>
              <a:rPr lang="en-US" sz="2400" dirty="0" err="1"/>
              <a:t>sistem</a:t>
            </a:r>
            <a:r>
              <a:rPr lang="en-US" sz="2400" dirty="0"/>
              <a:t> </a:t>
            </a:r>
            <a:r>
              <a:rPr lang="en-US" sz="2400" dirty="0" err="1"/>
              <a:t>sunt</a:t>
            </a:r>
            <a:r>
              <a:rPr lang="en-US" sz="2400" dirty="0"/>
              <a:t> </a:t>
            </a:r>
            <a:r>
              <a:rPr lang="en-US" sz="2400" dirty="0" err="1"/>
              <a:t>ni</a:t>
            </a:r>
            <a:r>
              <a:rPr lang="ro-RO" sz="2400" dirty="0" err="1"/>
              <a:t>ște</a:t>
            </a:r>
            <a:r>
              <a:rPr lang="ro-RO" sz="2400" dirty="0"/>
              <a:t> tabele speciale care conțin informații despre toate obiectele create într-o bază de date</a:t>
            </a:r>
            <a:r>
              <a:rPr lang="en-US" sz="2400" dirty="0"/>
              <a:t>,</a:t>
            </a:r>
            <a:r>
              <a:rPr lang="ro-RO" sz="2400" dirty="0"/>
              <a:t> cum ar fi: </a:t>
            </a:r>
          </a:p>
          <a:p>
            <a:pPr lvl="1"/>
            <a:r>
              <a:rPr lang="ro-RO" sz="2000" dirty="0"/>
              <a:t>Tabele</a:t>
            </a:r>
          </a:p>
          <a:p>
            <a:pPr lvl="1"/>
            <a:r>
              <a:rPr lang="ro-RO" sz="2000" dirty="0"/>
              <a:t>Coloane</a:t>
            </a:r>
          </a:p>
          <a:p>
            <a:pPr lvl="1"/>
            <a:r>
              <a:rPr lang="ro-RO" sz="2000" dirty="0"/>
              <a:t>Proceduri stocate</a:t>
            </a:r>
          </a:p>
          <a:p>
            <a:pPr lvl="1"/>
            <a:r>
              <a:rPr lang="ro-RO" sz="2000" dirty="0"/>
              <a:t>Trigger</a:t>
            </a:r>
            <a:r>
              <a:rPr lang="en-US" sz="2000" dirty="0"/>
              <a:t>-</a:t>
            </a:r>
            <a:r>
              <a:rPr lang="ro-RO" sz="2000" dirty="0"/>
              <a:t>e</a:t>
            </a:r>
          </a:p>
          <a:p>
            <a:pPr lvl="1"/>
            <a:r>
              <a:rPr lang="ro-RO" sz="2000" dirty="0" err="1"/>
              <a:t>View</a:t>
            </a:r>
            <a:r>
              <a:rPr lang="ro-RO" sz="2000" dirty="0"/>
              <a:t>-uri</a:t>
            </a:r>
          </a:p>
          <a:p>
            <a:pPr lvl="1"/>
            <a:r>
              <a:rPr lang="ro-RO" sz="2000" dirty="0"/>
              <a:t>Funcții definite de utilizator</a:t>
            </a:r>
          </a:p>
          <a:p>
            <a:pPr lvl="1"/>
            <a:r>
              <a:rPr lang="ro-RO" sz="2000" dirty="0"/>
              <a:t>Indecși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229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latin typeface="+mn-lt"/>
              </a:rPr>
              <a:t>Tabele sistem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15618" y="1523999"/>
            <a:ext cx="9690347" cy="4419601"/>
          </a:xfrm>
        </p:spPr>
        <p:txBody>
          <a:bodyPr/>
          <a:lstStyle/>
          <a:p>
            <a:r>
              <a:rPr lang="ro-RO" dirty="0"/>
              <a:t>Tabelele sistem sunt gestionate de către </a:t>
            </a:r>
            <a:r>
              <a:rPr lang="ro-RO" b="1" dirty="0"/>
              <a:t>server</a:t>
            </a:r>
            <a:r>
              <a:rPr lang="ro-RO" dirty="0"/>
              <a:t> (nu se recomandă modificarea lor direct de către utilizator)</a:t>
            </a:r>
          </a:p>
          <a:p>
            <a:r>
              <a:rPr lang="ro-RO" dirty="0"/>
              <a:t>Exemple:</a:t>
            </a:r>
          </a:p>
          <a:p>
            <a:pPr marL="0" indent="0">
              <a:buNone/>
            </a:pPr>
            <a:r>
              <a:rPr lang="ro-RO" dirty="0"/>
              <a:t>	</a:t>
            </a:r>
            <a:r>
              <a:rPr lang="ro-RO" b="1" dirty="0"/>
              <a:t>sys.objects </a:t>
            </a:r>
            <a:r>
              <a:rPr lang="ro-RO" dirty="0"/>
              <a:t>– conține câte o înregistrare pentru fiecare obiect creat în </a:t>
            </a:r>
            <a:r>
              <a:rPr lang="en-US" dirty="0"/>
              <a:t>	</a:t>
            </a:r>
            <a:r>
              <a:rPr lang="ro-RO" dirty="0"/>
              <a:t>baza de date, cum ar fi: procedură stocată, trigger, tabel, constrângere</a:t>
            </a:r>
          </a:p>
          <a:p>
            <a:pPr marL="0" indent="0">
              <a:buNone/>
            </a:pPr>
            <a:r>
              <a:rPr lang="ro-RO" dirty="0"/>
              <a:t>	</a:t>
            </a:r>
            <a:r>
              <a:rPr lang="ro-RO" b="1" dirty="0" err="1"/>
              <a:t>sys.columns</a:t>
            </a:r>
            <a:r>
              <a:rPr lang="ro-RO" b="1" dirty="0"/>
              <a:t> </a:t>
            </a:r>
            <a:r>
              <a:rPr lang="ro-RO" dirty="0"/>
              <a:t>– conține câte o înregistrare pentru fiecare coloană a unui 	obiect care are coloane, cum ar fi</a:t>
            </a:r>
            <a:r>
              <a:rPr lang="en-US" dirty="0"/>
              <a:t>:</a:t>
            </a:r>
            <a:r>
              <a:rPr lang="ro-RO" dirty="0"/>
              <a:t> tabel, </a:t>
            </a:r>
            <a:r>
              <a:rPr lang="en-US" dirty="0" err="1"/>
              <a:t>func</a:t>
            </a:r>
            <a:r>
              <a:rPr lang="ro-RO" dirty="0"/>
              <a:t>ți</a:t>
            </a:r>
            <a:r>
              <a:rPr lang="en-US" dirty="0"/>
              <a:t>e</a:t>
            </a:r>
            <a:r>
              <a:rPr lang="ro-RO" dirty="0"/>
              <a:t> definită de utilizator care</a:t>
            </a:r>
            <a:r>
              <a:rPr lang="en-US" dirty="0"/>
              <a:t> 	</a:t>
            </a:r>
            <a:r>
              <a:rPr lang="ro-RO" dirty="0"/>
              <a:t>returnează un tab</a:t>
            </a:r>
            <a:r>
              <a:rPr lang="en-US" dirty="0"/>
              <a:t>el, view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b="1" dirty="0" err="1"/>
              <a:t>sys.databases</a:t>
            </a:r>
            <a:r>
              <a:rPr lang="en-US" b="1" dirty="0"/>
              <a:t> </a:t>
            </a:r>
            <a:r>
              <a:rPr lang="en-US" dirty="0"/>
              <a:t>– con</a:t>
            </a:r>
            <a:r>
              <a:rPr lang="ro-RO" dirty="0"/>
              <a:t>ține câte o înregistare pentru fiecare bază de date 	existentă pe server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8554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latin typeface="+mn-lt"/>
              </a:rPr>
              <a:t>Trigger</a:t>
            </a:r>
            <a:endParaRPr lang="en-US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41120" y="1450811"/>
            <a:ext cx="10483936" cy="5074276"/>
          </a:xfrm>
        </p:spPr>
        <p:txBody>
          <a:bodyPr>
            <a:normAutofit/>
          </a:bodyPr>
          <a:lstStyle/>
          <a:p>
            <a:r>
              <a:rPr lang="en-US" dirty="0"/>
              <a:t>Trigger-ul </a:t>
            </a:r>
            <a:r>
              <a:rPr lang="en-US" dirty="0" err="1"/>
              <a:t>este</a:t>
            </a:r>
            <a:r>
              <a:rPr lang="en-US" dirty="0"/>
              <a:t> un </a:t>
            </a:r>
            <a:r>
              <a:rPr lang="en-US" b="1" dirty="0"/>
              <a:t>tip special de </a:t>
            </a:r>
            <a:r>
              <a:rPr lang="en-US" b="1" dirty="0" err="1"/>
              <a:t>procedur</a:t>
            </a:r>
            <a:r>
              <a:rPr lang="ro-RO" b="1" dirty="0"/>
              <a:t>ă stocată </a:t>
            </a:r>
            <a:r>
              <a:rPr lang="ro-RO" dirty="0"/>
              <a:t>care se execută automat atunci când </a:t>
            </a:r>
            <a:r>
              <a:rPr lang="en-US" dirty="0"/>
              <a:t>un </a:t>
            </a:r>
            <a:r>
              <a:rPr lang="en-US" dirty="0" err="1"/>
              <a:t>anumit</a:t>
            </a:r>
            <a:r>
              <a:rPr lang="en-US" dirty="0"/>
              <a:t> </a:t>
            </a:r>
            <a:r>
              <a:rPr lang="en-US" b="1" dirty="0" err="1"/>
              <a:t>eveniment</a:t>
            </a:r>
            <a:r>
              <a:rPr lang="en-US" b="1" dirty="0"/>
              <a:t> DML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b="1" dirty="0"/>
              <a:t>DDL</a:t>
            </a:r>
            <a:r>
              <a:rPr lang="en-US" dirty="0"/>
              <a:t> are loc </a:t>
            </a:r>
            <a:r>
              <a:rPr lang="ro-RO" dirty="0"/>
              <a:t>în baza de date</a:t>
            </a:r>
          </a:p>
          <a:p>
            <a:r>
              <a:rPr lang="ro-RO" b="1" dirty="0"/>
              <a:t>Nu</a:t>
            </a:r>
            <a:r>
              <a:rPr lang="ro-RO" dirty="0"/>
              <a:t> se poate executa în mod direct</a:t>
            </a:r>
          </a:p>
          <a:p>
            <a:r>
              <a:rPr lang="ro-RO" dirty="0"/>
              <a:t>Evenimente DML: </a:t>
            </a:r>
            <a:endParaRPr lang="en-US" dirty="0"/>
          </a:p>
          <a:p>
            <a:pPr lvl="1"/>
            <a:r>
              <a:rPr lang="ro-RO" dirty="0"/>
              <a:t>INSERT </a:t>
            </a:r>
          </a:p>
          <a:p>
            <a:pPr lvl="1"/>
            <a:r>
              <a:rPr lang="ro-RO" dirty="0"/>
              <a:t>UPDATE </a:t>
            </a:r>
          </a:p>
          <a:p>
            <a:pPr lvl="1"/>
            <a:r>
              <a:rPr lang="ro-RO" dirty="0"/>
              <a:t>DELETE </a:t>
            </a:r>
          </a:p>
          <a:p>
            <a:r>
              <a:rPr lang="ro-RO" dirty="0"/>
              <a:t>Evenimente DDL: </a:t>
            </a:r>
            <a:endParaRPr lang="en-US" dirty="0"/>
          </a:p>
          <a:p>
            <a:pPr lvl="1"/>
            <a:r>
              <a:rPr lang="ro-RO" dirty="0"/>
              <a:t>CREATE </a:t>
            </a:r>
            <a:endParaRPr lang="en-US" dirty="0"/>
          </a:p>
          <a:p>
            <a:pPr lvl="1"/>
            <a:r>
              <a:rPr lang="en-US" dirty="0"/>
              <a:t>ALTER</a:t>
            </a:r>
          </a:p>
          <a:p>
            <a:pPr lvl="1"/>
            <a:r>
              <a:rPr lang="en-US" dirty="0"/>
              <a:t>DROP</a:t>
            </a:r>
          </a:p>
          <a:p>
            <a:r>
              <a:rPr lang="ro-RO" dirty="0"/>
              <a:t>Fiecare trigger (DML) aparține unui singur tabel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3484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latin typeface="+mn-lt"/>
              </a:rPr>
              <a:t>Trigger</a:t>
            </a:r>
            <a:r>
              <a:rPr lang="en-US" dirty="0">
                <a:latin typeface="+mn-lt"/>
              </a:rPr>
              <a:t> DML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06741" y="1470733"/>
            <a:ext cx="9175442" cy="4903434"/>
          </a:xfrm>
        </p:spPr>
        <p:txBody>
          <a:bodyPr>
            <a:normAutofit/>
          </a:bodyPr>
          <a:lstStyle/>
          <a:p>
            <a:r>
              <a:rPr lang="ro-RO" dirty="0"/>
              <a:t>Sintaxa: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latin typeface="Consolas" panose="020B0609020204030204" pitchFamily="49" charset="0"/>
              </a:rPr>
              <a:t>CREATE TRIGGER </a:t>
            </a:r>
            <a:r>
              <a:rPr lang="en-US" dirty="0" err="1">
                <a:latin typeface="Consolas" panose="020B0609020204030204" pitchFamily="49" charset="0"/>
              </a:rPr>
              <a:t>trigger_name</a:t>
            </a:r>
            <a:r>
              <a:rPr lang="en-US" dirty="0">
                <a:latin typeface="Consolas" panose="020B0609020204030204" pitchFamily="49" charset="0"/>
              </a:rPr>
              <a:t> 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ON { table | view } 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[ WITH &lt;</a:t>
            </a:r>
            <a:r>
              <a:rPr lang="en-US" dirty="0" err="1">
                <a:latin typeface="Consolas" panose="020B0609020204030204" pitchFamily="49" charset="0"/>
              </a:rPr>
              <a:t>dml_trigger_option</a:t>
            </a:r>
            <a:r>
              <a:rPr lang="en-US" dirty="0">
                <a:latin typeface="Consolas" panose="020B0609020204030204" pitchFamily="49" charset="0"/>
              </a:rPr>
              <a:t>&gt; [ ,...n ] ]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{ FOR | AFTER | INSTEAD OF } 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{ [ INSERT ] [ , ] [ UPDATE ] [ , ] [ DELETE ] } 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[ WITH APPEND ]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[ NOT FOR REPLICATION ] 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AS { </a:t>
            </a:r>
            <a:r>
              <a:rPr lang="en-US" dirty="0" err="1">
                <a:latin typeface="Consolas" panose="020B0609020204030204" pitchFamily="49" charset="0"/>
              </a:rPr>
              <a:t>sql_statement</a:t>
            </a:r>
            <a:r>
              <a:rPr lang="en-US" dirty="0">
                <a:latin typeface="Consolas" panose="020B0609020204030204" pitchFamily="49" charset="0"/>
              </a:rPr>
              <a:t>  [ ; ] [ ,...n ] | EXTERNAL NAME </a:t>
            </a:r>
            <a:r>
              <a:rPr lang="ro-RO" dirty="0">
                <a:latin typeface="Consolas" panose="020B0609020204030204" pitchFamily="49" charset="0"/>
              </a:rPr>
              <a:t>	</a:t>
            </a:r>
            <a:r>
              <a:rPr lang="en-US" dirty="0">
                <a:latin typeface="Consolas" panose="020B0609020204030204" pitchFamily="49" charset="0"/>
              </a:rPr>
              <a:t>&lt;method specifier [ ; ] &gt; 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9049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latin typeface="+mn-lt"/>
              </a:rPr>
              <a:t>Trigger</a:t>
            </a:r>
            <a:endParaRPr lang="en-US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41120" y="1524000"/>
            <a:ext cx="10625979" cy="4938944"/>
          </a:xfrm>
        </p:spPr>
        <p:txBody>
          <a:bodyPr/>
          <a:lstStyle/>
          <a:p>
            <a:r>
              <a:rPr lang="ro-RO" b="1" dirty="0"/>
              <a:t>Momentul</a:t>
            </a:r>
            <a:r>
              <a:rPr lang="ro-RO" dirty="0"/>
              <a:t> execuției unui trigger</a:t>
            </a:r>
          </a:p>
          <a:p>
            <a:pPr lvl="1"/>
            <a:r>
              <a:rPr lang="ro-RO" b="1" dirty="0"/>
              <a:t>FOR</a:t>
            </a:r>
            <a:r>
              <a:rPr lang="en-US" dirty="0"/>
              <a:t>, </a:t>
            </a:r>
            <a:r>
              <a:rPr lang="ro-RO" b="1" dirty="0"/>
              <a:t>AFTER</a:t>
            </a:r>
            <a:r>
              <a:rPr lang="ro-RO" dirty="0"/>
              <a:t> (se pot defini mai multe trigger-e de acest tip)</a:t>
            </a:r>
            <a:r>
              <a:rPr lang="en-US" dirty="0"/>
              <a:t> – trigger</a:t>
            </a:r>
            <a:r>
              <a:rPr lang="ro-RO" dirty="0"/>
              <a:t>-</a:t>
            </a:r>
            <a:r>
              <a:rPr lang="en-US" dirty="0"/>
              <a:t>u</a:t>
            </a:r>
            <a:r>
              <a:rPr lang="ro-RO" dirty="0"/>
              <a:t>l</a:t>
            </a:r>
            <a:r>
              <a:rPr lang="en-US" dirty="0"/>
              <a:t> se </a:t>
            </a:r>
            <a:r>
              <a:rPr lang="en-US" dirty="0" err="1"/>
              <a:t>execut</a:t>
            </a:r>
            <a:r>
              <a:rPr lang="ro-RO" dirty="0"/>
              <a:t>ă după ce s-a executat </a:t>
            </a:r>
            <a:r>
              <a:rPr lang="en-US" dirty="0" err="1"/>
              <a:t>evenimentul</a:t>
            </a:r>
            <a:r>
              <a:rPr lang="en-US" dirty="0"/>
              <a:t> </a:t>
            </a:r>
            <a:r>
              <a:rPr lang="en-US" dirty="0" err="1"/>
              <a:t>decl</a:t>
            </a:r>
            <a:r>
              <a:rPr lang="ro-RO" dirty="0"/>
              <a:t>anșator </a:t>
            </a:r>
          </a:p>
          <a:p>
            <a:pPr lvl="1"/>
            <a:r>
              <a:rPr lang="ro-RO" b="1" dirty="0"/>
              <a:t>INSTEAD OF </a:t>
            </a:r>
            <a:r>
              <a:rPr lang="ro-RO" dirty="0"/>
              <a:t>– trigger-ul se execută în locul evenimentului declanșator</a:t>
            </a:r>
          </a:p>
          <a:p>
            <a:r>
              <a:rPr lang="ro-RO" dirty="0"/>
              <a:t>Dacă se definesc mai multe trigger-e pentru aceeași acțiune (eveniment), ele se execută în </a:t>
            </a:r>
            <a:r>
              <a:rPr lang="ro-RO" b="1" dirty="0"/>
              <a:t>ordine aleatorie</a:t>
            </a:r>
          </a:p>
          <a:p>
            <a:r>
              <a:rPr lang="ro-RO" dirty="0"/>
              <a:t>Când se execută un trigger, sunt disponibile două </a:t>
            </a:r>
            <a:r>
              <a:rPr lang="ro-RO" b="1" dirty="0"/>
              <a:t>tabele speciale</a:t>
            </a:r>
            <a:r>
              <a:rPr lang="en-US" b="1" dirty="0"/>
              <a:t>:</a:t>
            </a:r>
          </a:p>
          <a:p>
            <a:pPr lvl="1"/>
            <a:r>
              <a:rPr lang="ro-RO" b="1" dirty="0"/>
              <a:t>inserted</a:t>
            </a:r>
            <a:r>
              <a:rPr lang="ro-RO" dirty="0"/>
              <a:t> </a:t>
            </a:r>
            <a:endParaRPr lang="en-US" dirty="0"/>
          </a:p>
          <a:p>
            <a:pPr lvl="1"/>
            <a:r>
              <a:rPr lang="ro-RO" b="1" dirty="0"/>
              <a:t>deleted</a:t>
            </a:r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469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latin typeface="+mn-lt"/>
              </a:rPr>
              <a:t>Trigger </a:t>
            </a:r>
            <a:r>
              <a:rPr lang="en-US" dirty="0" err="1">
                <a:latin typeface="+mn-lt"/>
              </a:rPr>
              <a:t>pentru</a:t>
            </a:r>
            <a:r>
              <a:rPr lang="en-US" dirty="0">
                <a:latin typeface="+mn-lt"/>
              </a:rPr>
              <a:t> INSERT </a:t>
            </a:r>
            <a:r>
              <a:rPr lang="ro-RO" dirty="0">
                <a:latin typeface="+mn-lt"/>
              </a:rPr>
              <a:t>- Exemplu</a:t>
            </a:r>
            <a:endParaRPr lang="en-US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41120" y="1480571"/>
            <a:ext cx="10457303" cy="5112253"/>
          </a:xfrm>
        </p:spPr>
        <p:txBody>
          <a:bodyPr>
            <a:normAutofit/>
          </a:bodyPr>
          <a:lstStyle/>
          <a:p>
            <a:r>
              <a:rPr lang="en-US" dirty="0" err="1"/>
              <a:t>Urm</a:t>
            </a:r>
            <a:r>
              <a:rPr lang="ro-RO" dirty="0"/>
              <a:t>ătorul trigger are scopul de</a:t>
            </a:r>
            <a:r>
              <a:rPr lang="en-US" dirty="0"/>
              <a:t> a </a:t>
            </a:r>
            <a:r>
              <a:rPr lang="en-US" dirty="0" err="1"/>
              <a:t>impiedica</a:t>
            </a:r>
            <a:r>
              <a:rPr lang="en-US" dirty="0"/>
              <a:t> a</a:t>
            </a:r>
            <a:r>
              <a:rPr lang="ro-RO" dirty="0"/>
              <a:t>dăugarea unor înregistrări noi în tabelul </a:t>
            </a:r>
            <a:r>
              <a:rPr lang="ro-RO" i="1" dirty="0"/>
              <a:t>Categorii</a:t>
            </a:r>
            <a:r>
              <a:rPr lang="ro-RO" dirty="0"/>
              <a:t>:</a:t>
            </a:r>
            <a:endParaRPr lang="en-US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CREATE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TRIGGER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IntroducereCategorie</a:t>
            </a:r>
          </a:p>
          <a:p>
            <a:pPr marL="4572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ON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Categorii</a:t>
            </a:r>
          </a:p>
          <a:p>
            <a:pPr marL="4572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INSTEAD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OF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INSERT</a:t>
            </a:r>
            <a:endParaRPr lang="ro-RO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endParaRPr lang="ro-RO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BEGIN</a:t>
            </a:r>
            <a:endParaRPr lang="ro-RO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pt-BR" sz="1800" dirty="0">
                <a:solidFill>
                  <a:srgbClr val="0000FF"/>
                </a:solidFill>
                <a:latin typeface="Consolas" panose="020B0609020204030204" pitchFamily="49" charset="0"/>
              </a:rPr>
              <a:t>		RAISERROR</a:t>
            </a:r>
            <a:r>
              <a:rPr lang="pt-BR" sz="1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pt-BR" sz="1800" dirty="0">
                <a:solidFill>
                  <a:srgbClr val="FF0000"/>
                </a:solidFill>
                <a:latin typeface="Consolas" panose="020B0609020204030204" pitchFamily="49" charset="0"/>
              </a:rPr>
              <a:t>'Momentan nu se pot insera date in acest tabel'</a:t>
            </a:r>
            <a:r>
              <a:rPr lang="pt-BR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16</a:t>
            </a:r>
            <a:r>
              <a:rPr lang="pt-BR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1</a:t>
            </a:r>
            <a:r>
              <a:rPr lang="pt-BR" sz="1800" dirty="0">
                <a:solidFill>
                  <a:srgbClr val="808080"/>
                </a:solidFill>
                <a:latin typeface="Consolas" panose="020B0609020204030204" pitchFamily="49" charset="0"/>
              </a:rPr>
              <a:t>);</a:t>
            </a:r>
            <a:endParaRPr lang="pt-BR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ro-RO" sz="1800">
                <a:solidFill>
                  <a:srgbClr val="0000FF"/>
                </a:solidFill>
                <a:latin typeface="Consolas" panose="020B0609020204030204" pitchFamily="49" charset="0"/>
              </a:rPr>
              <a:t>END</a:t>
            </a:r>
            <a:r>
              <a:rPr lang="ro-RO" sz="180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en-US" sz="18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6034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latin typeface="+mn-lt"/>
              </a:rPr>
              <a:t>Trigger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pentru</a:t>
            </a:r>
            <a:r>
              <a:rPr lang="en-US" dirty="0">
                <a:latin typeface="+mn-lt"/>
              </a:rPr>
              <a:t> DELETE</a:t>
            </a:r>
            <a:r>
              <a:rPr lang="ro-RO" dirty="0">
                <a:latin typeface="+mn-lt"/>
              </a:rPr>
              <a:t> - Exemplu</a:t>
            </a:r>
            <a:endParaRPr lang="en-US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41120" y="1532878"/>
            <a:ext cx="9809233" cy="4419600"/>
          </a:xfrm>
        </p:spPr>
        <p:txBody>
          <a:bodyPr>
            <a:normAutofit lnSpcReduction="10000"/>
          </a:bodyPr>
          <a:lstStyle/>
          <a:p>
            <a:pPr marL="342900" indent="-342900"/>
            <a:r>
              <a:rPr lang="ro-RO" dirty="0"/>
              <a:t>Următorul trigger </a:t>
            </a:r>
            <a:r>
              <a:rPr lang="en-US" dirty="0" err="1"/>
              <a:t>insereaz</a:t>
            </a:r>
            <a:r>
              <a:rPr lang="ro-RO" dirty="0"/>
              <a:t>ă fiecare înregistrare ștearsă din tabelul </a:t>
            </a:r>
            <a:r>
              <a:rPr lang="ro-RO" i="1" dirty="0"/>
              <a:t>Categorii </a:t>
            </a:r>
            <a:r>
              <a:rPr lang="ro-RO" dirty="0"/>
              <a:t>într-un tabel numit </a:t>
            </a:r>
            <a:r>
              <a:rPr lang="ro-RO" i="1" dirty="0"/>
              <a:t>CategoriiEliminate</a:t>
            </a:r>
            <a:r>
              <a:rPr lang="ro-RO" dirty="0"/>
              <a:t>:</a:t>
            </a:r>
          </a:p>
          <a:p>
            <a:pPr marL="4572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CREATE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TRIGGER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EliminareCategorie</a:t>
            </a:r>
          </a:p>
          <a:p>
            <a:pPr marL="4572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ON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Categorii</a:t>
            </a:r>
          </a:p>
          <a:p>
            <a:pPr marL="4572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AFTER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DELETE</a:t>
            </a:r>
            <a:endParaRPr lang="ro-RO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endParaRPr lang="ro-RO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BEGIN</a:t>
            </a:r>
            <a:endParaRPr lang="ro-RO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it-IT" sz="18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it-IT" sz="1800" dirty="0">
                <a:solidFill>
                  <a:srgbClr val="0000FF"/>
                </a:solidFill>
                <a:latin typeface="Consolas" panose="020B0609020204030204" pitchFamily="49" charset="0"/>
              </a:rPr>
              <a:t>INSERT</a:t>
            </a:r>
            <a:r>
              <a:rPr lang="it-IT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it-IT" sz="1800" dirty="0">
                <a:solidFill>
                  <a:srgbClr val="0000FF"/>
                </a:solidFill>
                <a:latin typeface="Consolas" panose="020B0609020204030204" pitchFamily="49" charset="0"/>
              </a:rPr>
              <a:t>INTO</a:t>
            </a:r>
            <a:r>
              <a:rPr lang="it-IT" sz="1800" dirty="0">
                <a:solidFill>
                  <a:srgbClr val="000000"/>
                </a:solidFill>
                <a:latin typeface="Consolas" panose="020B0609020204030204" pitchFamily="49" charset="0"/>
              </a:rPr>
              <a:t> CategoriiEliminate</a:t>
            </a:r>
            <a:r>
              <a:rPr lang="it-IT" sz="18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it-IT" sz="1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it-IT" sz="1800" dirty="0">
                <a:solidFill>
                  <a:srgbClr val="000000"/>
                </a:solidFill>
                <a:latin typeface="Consolas" panose="020B0609020204030204" pitchFamily="49" charset="0"/>
              </a:rPr>
              <a:t>cod_c</a:t>
            </a:r>
            <a:r>
              <a:rPr lang="it-IT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it-IT" sz="1800" dirty="0">
                <a:solidFill>
                  <a:srgbClr val="000000"/>
                </a:solidFill>
                <a:latin typeface="Consolas" panose="020B0609020204030204" pitchFamily="49" charset="0"/>
              </a:rPr>
              <a:t> nume</a:t>
            </a:r>
            <a:r>
              <a:rPr lang="it-IT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it-IT" sz="1800" dirty="0">
                <a:solidFill>
                  <a:srgbClr val="000000"/>
                </a:solidFill>
                <a:latin typeface="Consolas" panose="020B0609020204030204" pitchFamily="49" charset="0"/>
              </a:rPr>
              <a:t> data_si_ora_eliminarii</a:t>
            </a:r>
            <a:r>
              <a:rPr lang="it-IT" sz="18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it-IT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pPr marL="4572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cod_c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nume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FF00FF"/>
                </a:solidFill>
                <a:latin typeface="Consolas" panose="020B0609020204030204" pitchFamily="49" charset="0"/>
              </a:rPr>
              <a:t>GETDATE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()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deleted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END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9627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B8673-098F-ECFF-85A8-0BDD558DF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Trigger </a:t>
            </a:r>
            <a:r>
              <a:rPr lang="en-US" dirty="0" err="1"/>
              <a:t>pentru</a:t>
            </a:r>
            <a:r>
              <a:rPr lang="en-US" dirty="0"/>
              <a:t> DELETE - </a:t>
            </a:r>
            <a:r>
              <a:rPr lang="en-US" dirty="0" err="1"/>
              <a:t>Exemplu</a:t>
            </a:r>
            <a:endParaRPr lang="ro-R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8BC825-A36A-12D2-2893-F0E47CEEC1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Instruc</a:t>
            </a:r>
            <a:r>
              <a:rPr lang="ro-RO" dirty="0"/>
              <a:t>țiunea folosită la crearea tabelului </a:t>
            </a:r>
            <a:r>
              <a:rPr lang="ro-RO" i="1" dirty="0"/>
              <a:t>CategoriiEliminate</a:t>
            </a:r>
            <a:r>
              <a:rPr lang="ro-RO" dirty="0"/>
              <a:t> este următoarea:</a:t>
            </a:r>
          </a:p>
          <a:p>
            <a:pPr marL="45720" indent="0">
              <a:buNone/>
            </a:pP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</a:p>
          <a:p>
            <a:pPr marL="45720" indent="0">
              <a:buNone/>
            </a:pP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ro-RO" dirty="0">
                <a:solidFill>
                  <a:srgbClr val="0000FF"/>
                </a:solidFill>
                <a:latin typeface="Consolas" panose="020B0609020204030204" pitchFamily="49" charset="0"/>
              </a:rPr>
              <a:t>CREATE</a:t>
            </a:r>
            <a:r>
              <a:rPr lang="ro-RO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o-RO" dirty="0">
                <a:solidFill>
                  <a:srgbClr val="0000FF"/>
                </a:solidFill>
                <a:latin typeface="Consolas" panose="020B0609020204030204" pitchFamily="49" charset="0"/>
              </a:rPr>
              <a:t>TABLE</a:t>
            </a:r>
            <a:r>
              <a:rPr lang="ro-RO" dirty="0">
                <a:solidFill>
                  <a:srgbClr val="000000"/>
                </a:solidFill>
                <a:latin typeface="Consolas" panose="020B0609020204030204" pitchFamily="49" charset="0"/>
              </a:rPr>
              <a:t> CategoriiEliminate</a:t>
            </a:r>
          </a:p>
          <a:p>
            <a:pPr marL="45720" indent="0">
              <a:buNone/>
            </a:pPr>
            <a:r>
              <a:rPr lang="ro-RO" dirty="0">
                <a:solidFill>
                  <a:srgbClr val="808080"/>
                </a:solidFill>
                <a:latin typeface="Consolas" panose="020B0609020204030204" pitchFamily="49" charset="0"/>
              </a:rPr>
              <a:t>	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cod_e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PRIMARY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KEY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IDENTITY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ro-RO" dirty="0">
                <a:solidFill>
                  <a:srgbClr val="000000"/>
                </a:solidFill>
                <a:latin typeface="Consolas" panose="020B0609020204030204" pitchFamily="49" charset="0"/>
              </a:rPr>
              <a:t>	 cod_c </a:t>
            </a:r>
            <a:r>
              <a:rPr lang="ro-RO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ro-RO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endParaRPr lang="ro-RO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ro-RO" dirty="0">
                <a:solidFill>
                  <a:srgbClr val="000000"/>
                </a:solidFill>
                <a:latin typeface="Consolas" panose="020B0609020204030204" pitchFamily="49" charset="0"/>
              </a:rPr>
              <a:t>	 nume </a:t>
            </a:r>
            <a:r>
              <a:rPr lang="ro-RO" dirty="0">
                <a:solidFill>
                  <a:srgbClr val="0000FF"/>
                </a:solidFill>
                <a:latin typeface="Consolas" panose="020B0609020204030204" pitchFamily="49" charset="0"/>
              </a:rPr>
              <a:t>VARCHAR</a:t>
            </a:r>
            <a:r>
              <a:rPr lang="ro-RO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ro-RO" dirty="0">
                <a:solidFill>
                  <a:srgbClr val="000000"/>
                </a:solidFill>
                <a:latin typeface="Consolas" panose="020B0609020204030204" pitchFamily="49" charset="0"/>
              </a:rPr>
              <a:t>70</a:t>
            </a:r>
            <a:r>
              <a:rPr lang="ro-RO" dirty="0">
                <a:solidFill>
                  <a:srgbClr val="808080"/>
                </a:solidFill>
                <a:latin typeface="Consolas" panose="020B0609020204030204" pitchFamily="49" charset="0"/>
              </a:rPr>
              <a:t>),</a:t>
            </a:r>
            <a:endParaRPr lang="ro-RO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ro-RO" dirty="0">
                <a:solidFill>
                  <a:srgbClr val="000000"/>
                </a:solidFill>
                <a:latin typeface="Consolas" panose="020B0609020204030204" pitchFamily="49" charset="0"/>
              </a:rPr>
              <a:t>	 </a:t>
            </a:r>
            <a:r>
              <a:rPr lang="it-IT" dirty="0">
                <a:solidFill>
                  <a:srgbClr val="000000"/>
                </a:solidFill>
                <a:latin typeface="Consolas" panose="020B0609020204030204" pitchFamily="49" charset="0"/>
              </a:rPr>
              <a:t>data_si_ora_eliminarii </a:t>
            </a:r>
            <a:r>
              <a:rPr lang="it-IT" dirty="0">
                <a:solidFill>
                  <a:srgbClr val="0000FF"/>
                </a:solidFill>
                <a:latin typeface="Consolas" panose="020B0609020204030204" pitchFamily="49" charset="0"/>
              </a:rPr>
              <a:t>DATETIME</a:t>
            </a:r>
            <a:endParaRPr lang="it-IT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ro-RO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ro-RO" dirty="0">
                <a:solidFill>
                  <a:srgbClr val="808080"/>
                </a:solidFill>
                <a:latin typeface="Consolas" panose="020B0609020204030204" pitchFamily="49" charset="0"/>
              </a:rPr>
              <a:t>);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23407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latin typeface="+mn-lt"/>
              </a:rPr>
              <a:t>Trigger pentru UPDATE - Exemplu</a:t>
            </a:r>
            <a:endParaRPr lang="en-US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2344" y="1559510"/>
            <a:ext cx="10821287" cy="5033314"/>
          </a:xfrm>
        </p:spPr>
        <p:txBody>
          <a:bodyPr>
            <a:normAutofit lnSpcReduction="10000"/>
          </a:bodyPr>
          <a:lstStyle/>
          <a:p>
            <a:pPr marL="342900" indent="-342900"/>
            <a:r>
              <a:rPr lang="ro-RO" dirty="0"/>
              <a:t>Următorul trigger înregistrează într-un tabel numit </a:t>
            </a:r>
            <a:r>
              <a:rPr lang="ro-RO" i="1" dirty="0"/>
              <a:t>ModificariNote</a:t>
            </a:r>
            <a:r>
              <a:rPr lang="ro-RO" dirty="0"/>
              <a:t> toate modificările de note care au loc în tabelul </a:t>
            </a:r>
            <a:r>
              <a:rPr lang="ro-RO" i="1" dirty="0"/>
              <a:t>Note</a:t>
            </a:r>
            <a:r>
              <a:rPr lang="ro-RO" dirty="0"/>
              <a:t>: </a:t>
            </a:r>
          </a:p>
          <a:p>
            <a:pPr marL="4572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CREATE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TRIGGER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ActualizareNota</a:t>
            </a:r>
          </a:p>
          <a:p>
            <a:pPr marL="4572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ON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Note</a:t>
            </a:r>
          </a:p>
          <a:p>
            <a:pPr marL="4572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o-RO" sz="1800" dirty="0">
                <a:solidFill>
                  <a:srgbClr val="FF00FF"/>
                </a:solidFill>
                <a:latin typeface="Consolas" panose="020B0609020204030204" pitchFamily="49" charset="0"/>
              </a:rPr>
              <a:t>UPDATE</a:t>
            </a:r>
            <a:endParaRPr lang="ro-RO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endParaRPr lang="ro-RO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BEGIN</a:t>
            </a:r>
            <a:endParaRPr lang="ro-RO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INSERT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INTO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ModificariNote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cod_a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cod_v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nota_initiala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nota_actualizata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pPr marL="4572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data_si_ora_actualizarii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i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cod_a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i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cod_v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 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d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nota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i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nota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o-RO" sz="1800" dirty="0">
                <a:solidFill>
                  <a:srgbClr val="FF00FF"/>
                </a:solidFill>
                <a:latin typeface="Consolas" panose="020B0609020204030204" pitchFamily="49" charset="0"/>
              </a:rPr>
              <a:t>GETDATE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()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  	</a:t>
            </a:r>
          </a:p>
          <a:p>
            <a:pPr marL="45720" indent="0">
              <a:buNone/>
            </a:pP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FROM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inserted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INNER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JOIN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deleted d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ON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cod_a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d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cod_a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AND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cod_v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d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cod_v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pPr marL="4572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END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4130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AC4C7-497A-31B6-1298-CEE4B5ACE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latin typeface="+mn-lt"/>
              </a:rPr>
              <a:t>Trigger pentru UPDATE - Exemplu</a:t>
            </a:r>
            <a:endParaRPr lang="ro-R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19DC2D-959F-048D-14AF-4DA07295B4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1120" y="1572767"/>
            <a:ext cx="9509760" cy="4845787"/>
          </a:xfrm>
        </p:spPr>
        <p:txBody>
          <a:bodyPr>
            <a:normAutofit/>
          </a:bodyPr>
          <a:lstStyle/>
          <a:p>
            <a:r>
              <a:rPr lang="en-US" dirty="0" err="1"/>
              <a:t>Instruc</a:t>
            </a:r>
            <a:r>
              <a:rPr lang="ro-RO" dirty="0"/>
              <a:t>țiunea folosită la crearea tabelului </a:t>
            </a:r>
            <a:r>
              <a:rPr lang="en-US" i="1" dirty="0" err="1"/>
              <a:t>ModificariNote</a:t>
            </a:r>
            <a:r>
              <a:rPr lang="ro-RO" dirty="0"/>
              <a:t> este următoarea:</a:t>
            </a:r>
          </a:p>
          <a:p>
            <a:pPr marL="4572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</a:p>
          <a:p>
            <a:pPr marL="4572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CREATE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TABLE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ModificariNote</a:t>
            </a:r>
          </a:p>
          <a:p>
            <a:pPr marL="4572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cod_m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PRIMARY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KEY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IDENTITY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cod_a 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endParaRPr lang="ro-RO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cod_v 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endParaRPr lang="ro-RO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nota_initiala 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REAL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endParaRPr lang="ro-RO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nota_actualizata 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REAL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endParaRPr lang="ro-RO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it-IT" sz="18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it-IT" sz="1800" dirty="0">
                <a:solidFill>
                  <a:srgbClr val="000000"/>
                </a:solidFill>
                <a:latin typeface="Consolas" panose="020B0609020204030204" pitchFamily="49" charset="0"/>
              </a:rPr>
              <a:t>data_si_ora_actualizarii </a:t>
            </a:r>
            <a:r>
              <a:rPr lang="it-IT" sz="1800" dirty="0">
                <a:solidFill>
                  <a:srgbClr val="0000FF"/>
                </a:solidFill>
                <a:latin typeface="Consolas" panose="020B0609020204030204" pitchFamily="49" charset="0"/>
              </a:rPr>
              <a:t>DATETIME</a:t>
            </a:r>
            <a:endParaRPr lang="it-IT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);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669104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+mn-lt"/>
              </a:rPr>
              <a:t>Clauza</a:t>
            </a:r>
            <a:r>
              <a:rPr lang="en-US" dirty="0">
                <a:latin typeface="+mn-lt"/>
              </a:rPr>
              <a:t>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41120" y="1488488"/>
            <a:ext cx="10634857" cy="4788025"/>
          </a:xfrm>
        </p:spPr>
        <p:txBody>
          <a:bodyPr/>
          <a:lstStyle/>
          <a:p>
            <a:r>
              <a:rPr lang="en-US" dirty="0"/>
              <a:t>Cu </a:t>
            </a:r>
            <a:r>
              <a:rPr lang="en-US" dirty="0" err="1"/>
              <a:t>ajutorul</a:t>
            </a:r>
            <a:r>
              <a:rPr lang="en-US" dirty="0"/>
              <a:t> </a:t>
            </a:r>
            <a:r>
              <a:rPr lang="en-US" dirty="0" err="1"/>
              <a:t>clauzei</a:t>
            </a:r>
            <a:r>
              <a:rPr lang="en-US" dirty="0"/>
              <a:t> </a:t>
            </a:r>
            <a:r>
              <a:rPr lang="en-US" b="1" dirty="0"/>
              <a:t>OUTPUT</a:t>
            </a:r>
            <a:r>
              <a:rPr lang="en-US" dirty="0"/>
              <a:t> </a:t>
            </a:r>
            <a:r>
              <a:rPr lang="en-US" dirty="0" err="1"/>
              <a:t>avem</a:t>
            </a:r>
            <a:r>
              <a:rPr lang="en-US" dirty="0"/>
              <a:t> </a:t>
            </a:r>
            <a:r>
              <a:rPr lang="en-US" dirty="0" err="1"/>
              <a:t>acces</a:t>
            </a:r>
            <a:r>
              <a:rPr lang="en-US" dirty="0"/>
              <a:t> la </a:t>
            </a:r>
            <a:r>
              <a:rPr lang="ro-RO" dirty="0"/>
              <a:t>înregistrările modificate, șterse sau adăugate </a:t>
            </a:r>
            <a:endParaRPr lang="en-US" dirty="0"/>
          </a:p>
          <a:p>
            <a:r>
              <a:rPr lang="ro-RO" dirty="0"/>
              <a:t>În exemplul de mai jos se actualizează numele</a:t>
            </a:r>
            <a:r>
              <a:rPr lang="en-US" dirty="0"/>
              <a:t> </a:t>
            </a:r>
            <a:r>
              <a:rPr lang="en-US" dirty="0" err="1"/>
              <a:t>categoriei</a:t>
            </a:r>
            <a:r>
              <a:rPr lang="ro-RO" dirty="0"/>
              <a:t> c</a:t>
            </a:r>
            <a:r>
              <a:rPr lang="en-US" dirty="0"/>
              <a:t>u </a:t>
            </a:r>
            <a:r>
              <a:rPr lang="en-US" dirty="0" err="1"/>
              <a:t>valoarea</a:t>
            </a:r>
            <a:r>
              <a:rPr lang="en-US" dirty="0"/>
              <a:t> ‘</a:t>
            </a:r>
            <a:r>
              <a:rPr lang="en-US" dirty="0" err="1"/>
              <a:t>seniori</a:t>
            </a:r>
            <a:r>
              <a:rPr lang="en-US" dirty="0"/>
              <a:t>’</a:t>
            </a:r>
            <a:r>
              <a:rPr lang="ro-RO" dirty="0"/>
              <a:t> din tabelul </a:t>
            </a:r>
            <a:r>
              <a:rPr lang="en-US" i="1" dirty="0" err="1"/>
              <a:t>Categorii</a:t>
            </a:r>
            <a:r>
              <a:rPr lang="ro-RO" dirty="0"/>
              <a:t> și se </a:t>
            </a:r>
            <a:r>
              <a:rPr lang="en-US" dirty="0" err="1"/>
              <a:t>afi</a:t>
            </a:r>
            <a:r>
              <a:rPr lang="ro-RO" dirty="0"/>
              <a:t>șează într-un result-set valoarea din coloana </a:t>
            </a:r>
            <a:r>
              <a:rPr lang="ro-RO" i="1" dirty="0"/>
              <a:t>cod_c</a:t>
            </a:r>
            <a:r>
              <a:rPr lang="ro-RO" dirty="0"/>
              <a:t>, valoarea veche a numelui (</a:t>
            </a:r>
            <a:r>
              <a:rPr lang="ro-RO" i="1" dirty="0"/>
              <a:t>deleted.nume</a:t>
            </a:r>
            <a:r>
              <a:rPr lang="ro-RO" dirty="0"/>
              <a:t>), valoarea nouă a numelui (</a:t>
            </a:r>
            <a:r>
              <a:rPr lang="ro-RO" i="1" dirty="0"/>
              <a:t>inserted.nume</a:t>
            </a:r>
            <a:r>
              <a:rPr lang="ro-RO" dirty="0"/>
              <a:t>), data curentă (GETDATE()) și numele login-ului care a realizat modificarea (SUSER_SNAME())</a:t>
            </a:r>
            <a:r>
              <a:rPr lang="en-US" dirty="0"/>
              <a:t>:</a:t>
            </a:r>
            <a:endParaRPr lang="ro-RO" dirty="0"/>
          </a:p>
          <a:p>
            <a:pPr marL="45720" indent="0">
              <a:buNone/>
            </a:pPr>
            <a:r>
              <a:rPr lang="en-US" sz="1800" dirty="0">
                <a:solidFill>
                  <a:srgbClr val="FF00FF"/>
                </a:solidFill>
                <a:latin typeface="Consolas" panose="020B0609020204030204" pitchFamily="49" charset="0"/>
              </a:rPr>
              <a:t>	</a:t>
            </a:r>
          </a:p>
          <a:p>
            <a:pPr marL="45720" indent="0">
              <a:buNone/>
            </a:pPr>
            <a:r>
              <a:rPr lang="en-US" sz="1800" dirty="0">
                <a:solidFill>
                  <a:srgbClr val="FF00FF"/>
                </a:solidFill>
                <a:latin typeface="Consolas" panose="020B0609020204030204" pitchFamily="49" charset="0"/>
              </a:rPr>
              <a:t>	</a:t>
            </a:r>
            <a:r>
              <a:rPr lang="it-IT" sz="1800" dirty="0">
                <a:solidFill>
                  <a:srgbClr val="FF00FF"/>
                </a:solidFill>
                <a:latin typeface="Consolas" panose="020B0609020204030204" pitchFamily="49" charset="0"/>
              </a:rPr>
              <a:t>UPDATE</a:t>
            </a:r>
            <a:r>
              <a:rPr lang="it-IT" sz="1800" dirty="0">
                <a:solidFill>
                  <a:srgbClr val="000000"/>
                </a:solidFill>
                <a:latin typeface="Consolas" panose="020B0609020204030204" pitchFamily="49" charset="0"/>
              </a:rPr>
              <a:t> Categorii </a:t>
            </a:r>
            <a:r>
              <a:rPr lang="it-IT" sz="18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it-IT" sz="1800" dirty="0">
                <a:solidFill>
                  <a:srgbClr val="000000"/>
                </a:solidFill>
                <a:latin typeface="Consolas" panose="020B0609020204030204" pitchFamily="49" charset="0"/>
              </a:rPr>
              <a:t> nume</a:t>
            </a:r>
            <a:r>
              <a:rPr lang="it-IT" sz="18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it-IT" sz="1800" dirty="0">
                <a:solidFill>
                  <a:srgbClr val="FF0000"/>
                </a:solidFill>
                <a:latin typeface="Consolas" panose="020B0609020204030204" pitchFamily="49" charset="0"/>
              </a:rPr>
              <a:t>'pensionari'</a:t>
            </a:r>
            <a:r>
              <a:rPr lang="it-IT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pPr marL="4572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OUTPUT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inserted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cod_c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deleted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nume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nume_initial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inserted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nume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nume_actual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pPr marL="45720" indent="0">
              <a:buNone/>
            </a:pP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pt-BR" sz="1800" dirty="0">
                <a:solidFill>
                  <a:srgbClr val="FF00FF"/>
                </a:solidFill>
                <a:latin typeface="Consolas" panose="020B0609020204030204" pitchFamily="49" charset="0"/>
              </a:rPr>
              <a:t>GETDATE</a:t>
            </a:r>
            <a:r>
              <a:rPr lang="pt-BR" sz="1800" dirty="0">
                <a:solidFill>
                  <a:srgbClr val="808080"/>
                </a:solidFill>
                <a:latin typeface="Consolas" panose="020B0609020204030204" pitchFamily="49" charset="0"/>
              </a:rPr>
              <a:t>()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8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data_si_ora</a:t>
            </a:r>
            <a:r>
              <a:rPr lang="pt-BR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800" dirty="0">
                <a:solidFill>
                  <a:srgbClr val="FF00FF"/>
                </a:solidFill>
                <a:latin typeface="Consolas" panose="020B0609020204030204" pitchFamily="49" charset="0"/>
              </a:rPr>
              <a:t>SUSER_SNAME</a:t>
            </a:r>
            <a:r>
              <a:rPr lang="pt-BR" sz="1800" dirty="0">
                <a:solidFill>
                  <a:srgbClr val="808080"/>
                </a:solidFill>
                <a:latin typeface="Consolas" panose="020B0609020204030204" pitchFamily="49" charset="0"/>
              </a:rPr>
              <a:t>()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8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server_user</a:t>
            </a:r>
          </a:p>
          <a:p>
            <a:pPr marL="4572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WHERE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nume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ro-RO" sz="1800" dirty="0">
                <a:solidFill>
                  <a:srgbClr val="FF0000"/>
                </a:solidFill>
                <a:latin typeface="Consolas" panose="020B0609020204030204" pitchFamily="49" charset="0"/>
              </a:rPr>
              <a:t>'seniori'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3188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latin typeface="+mn-lt"/>
              </a:rPr>
              <a:t>Cursoare</a:t>
            </a:r>
            <a:endParaRPr lang="en-US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06741" y="1515122"/>
            <a:ext cx="10436071" cy="4725880"/>
          </a:xfrm>
        </p:spPr>
        <p:txBody>
          <a:bodyPr/>
          <a:lstStyle/>
          <a:p>
            <a:r>
              <a:rPr lang="ro-RO" sz="2400" dirty="0"/>
              <a:t>Sunt anumite situații în care este </a:t>
            </a:r>
            <a:r>
              <a:rPr lang="en-US" sz="2400" dirty="0" err="1"/>
              <a:t>neces</a:t>
            </a:r>
            <a:r>
              <a:rPr lang="ro-RO" sz="2400" dirty="0"/>
              <a:t>ară procesarea pe rând a fiecărei înregistrări dintr-un result</a:t>
            </a:r>
            <a:r>
              <a:rPr lang="en-US" sz="2400" dirty="0"/>
              <a:t>-</a:t>
            </a:r>
            <a:r>
              <a:rPr lang="ro-RO" sz="2400" dirty="0"/>
              <a:t>set </a:t>
            </a:r>
          </a:p>
          <a:p>
            <a:r>
              <a:rPr lang="ro-RO" sz="2400" dirty="0"/>
              <a:t>Deschiderea unui cursor pe un result-set permite procesarea result-set-ului înregistrare cu înregistrare (se procesează o singură înregistrare la un moment dat)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9270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latin typeface="+mn-lt"/>
              </a:rPr>
              <a:t>Cursoare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41119" y="1572767"/>
            <a:ext cx="10412915" cy="4543947"/>
          </a:xfrm>
        </p:spPr>
        <p:txBody>
          <a:bodyPr>
            <a:normAutofit/>
          </a:bodyPr>
          <a:lstStyle/>
          <a:p>
            <a:r>
              <a:rPr lang="ro-RO" dirty="0"/>
              <a:t>Cursoarele </a:t>
            </a:r>
            <a:r>
              <a:rPr lang="ro-RO" b="1" dirty="0"/>
              <a:t>extind</a:t>
            </a:r>
            <a:r>
              <a:rPr lang="ro-RO" dirty="0"/>
              <a:t> procesarea rezultatelor prin faptul că: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ro-RO" dirty="0"/>
              <a:t>- permit poziționarea la înregistrări specifice dintr-un result</a:t>
            </a:r>
            <a:r>
              <a:rPr lang="en-US" dirty="0"/>
              <a:t>-</a:t>
            </a:r>
            <a:r>
              <a:rPr lang="ro-RO" dirty="0"/>
              <a:t>set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ro-RO" dirty="0"/>
              <a:t>- returnează o înregistrare sau un grup de înregistrări aflate la poziția curentă din 	result</a:t>
            </a:r>
            <a:r>
              <a:rPr lang="en-US" dirty="0"/>
              <a:t>-</a:t>
            </a:r>
            <a:r>
              <a:rPr lang="ro-RO" dirty="0"/>
              <a:t>set</a:t>
            </a:r>
          </a:p>
          <a:p>
            <a:pPr marL="0" indent="0">
              <a:buNone/>
            </a:pPr>
            <a:r>
              <a:rPr lang="ro-RO" dirty="0"/>
              <a:t>	- suportă modificarea înregistrărilor aflate în poziția curentă în result</a:t>
            </a:r>
            <a:r>
              <a:rPr lang="en-US" dirty="0"/>
              <a:t>-</a:t>
            </a:r>
            <a:r>
              <a:rPr lang="ro-RO" dirty="0"/>
              <a:t>set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ro-RO" dirty="0"/>
              <a:t>- suportă diferite niveluri de vizibilitate a modificărilor făcute de către alți </a:t>
            </a:r>
            <a:r>
              <a:rPr lang="en-US" dirty="0"/>
              <a:t>	</a:t>
            </a:r>
            <a:r>
              <a:rPr lang="ro-RO" dirty="0"/>
              <a:t>utilizatori asupra datelor din baza de date care fac parte din result</a:t>
            </a:r>
            <a:r>
              <a:rPr lang="en-US" dirty="0"/>
              <a:t>-</a:t>
            </a:r>
            <a:r>
              <a:rPr lang="ro-RO" dirty="0"/>
              <a:t>set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ro-RO" dirty="0"/>
              <a:t>- permit instrucțiunilor T</a:t>
            </a:r>
            <a:r>
              <a:rPr lang="en-US" dirty="0" err="1"/>
              <a:t>ransact</a:t>
            </a:r>
            <a:r>
              <a:rPr lang="ro-RO" dirty="0"/>
              <a:t>-SQL din script-uri, proceduri stocate și </a:t>
            </a:r>
            <a:r>
              <a:rPr lang="en-US" dirty="0"/>
              <a:t>	</a:t>
            </a:r>
            <a:r>
              <a:rPr lang="ro-RO" dirty="0"/>
              <a:t>trigger-e 	accesul la datele dintr-un result</a:t>
            </a:r>
            <a:r>
              <a:rPr lang="en-US" dirty="0"/>
              <a:t>-</a:t>
            </a:r>
            <a:r>
              <a:rPr lang="ro-RO" dirty="0"/>
              <a:t>set 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308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latin typeface="+mn-lt"/>
              </a:rPr>
              <a:t>Cursoare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55916" y="1515122"/>
            <a:ext cx="10433630" cy="4129825"/>
          </a:xfrm>
        </p:spPr>
        <p:txBody>
          <a:bodyPr/>
          <a:lstStyle/>
          <a:p>
            <a:r>
              <a:rPr lang="ro-RO" dirty="0"/>
              <a:t>Cursoarele </a:t>
            </a:r>
            <a:r>
              <a:rPr lang="ro-RO" dirty="0" err="1"/>
              <a:t>Transact</a:t>
            </a:r>
            <a:r>
              <a:rPr lang="ro-RO" dirty="0"/>
              <a:t>-SQL </a:t>
            </a:r>
            <a:r>
              <a:rPr lang="ro-RO" b="1" dirty="0"/>
              <a:t>necesită</a:t>
            </a:r>
            <a:r>
              <a:rPr lang="ro-RO" dirty="0"/>
              <a:t> anumite </a:t>
            </a:r>
            <a:r>
              <a:rPr lang="ro-RO" b="1" dirty="0"/>
              <a:t>instrucțiuni</a:t>
            </a:r>
            <a:r>
              <a:rPr lang="ro-RO" dirty="0"/>
              <a:t> pentru </a:t>
            </a:r>
            <a:r>
              <a:rPr lang="ro-RO" b="1" dirty="0"/>
              <a:t>declarare</a:t>
            </a:r>
            <a:r>
              <a:rPr lang="ro-RO" dirty="0"/>
              <a:t>, </a:t>
            </a:r>
            <a:r>
              <a:rPr lang="ro-RO" b="1" dirty="0"/>
              <a:t>populare</a:t>
            </a:r>
            <a:r>
              <a:rPr lang="ro-RO" dirty="0"/>
              <a:t> și </a:t>
            </a:r>
            <a:r>
              <a:rPr lang="ro-RO" b="1" dirty="0"/>
              <a:t>extragere</a:t>
            </a:r>
            <a:r>
              <a:rPr lang="ro-RO" dirty="0"/>
              <a:t> de date: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ro-RO" dirty="0"/>
              <a:t>- se folosește o instrucțiune </a:t>
            </a:r>
            <a:r>
              <a:rPr lang="ro-RO" b="1" dirty="0"/>
              <a:t>DECLARE CURSOR </a:t>
            </a:r>
            <a:r>
              <a:rPr lang="ro-RO" dirty="0"/>
              <a:t>pentru a declara cursorul și </a:t>
            </a:r>
            <a:r>
              <a:rPr lang="en-US" dirty="0"/>
              <a:t>	</a:t>
            </a:r>
            <a:r>
              <a:rPr lang="ro-RO" dirty="0"/>
              <a:t>se specifică o instrucțiune </a:t>
            </a:r>
            <a:r>
              <a:rPr lang="ro-RO" b="1" dirty="0"/>
              <a:t>SELECT</a:t>
            </a:r>
            <a:r>
              <a:rPr lang="ro-RO" dirty="0"/>
              <a:t> care va produce result</a:t>
            </a:r>
            <a:r>
              <a:rPr lang="en-US" dirty="0"/>
              <a:t>-</a:t>
            </a:r>
            <a:r>
              <a:rPr lang="ro-RO" dirty="0"/>
              <a:t>set-ul cursorului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ro-RO" dirty="0"/>
              <a:t>- se folosește o instrucțiune </a:t>
            </a:r>
            <a:r>
              <a:rPr lang="ro-RO" b="1" dirty="0"/>
              <a:t>OPEN</a:t>
            </a:r>
            <a:r>
              <a:rPr lang="ro-RO" dirty="0"/>
              <a:t> pentru a popula cursorul, care execută </a:t>
            </a:r>
            <a:r>
              <a:rPr lang="en-US" dirty="0"/>
              <a:t>	</a:t>
            </a:r>
            <a:r>
              <a:rPr lang="ro-RO" dirty="0"/>
              <a:t>instrucțiunea </a:t>
            </a:r>
            <a:r>
              <a:rPr lang="ro-RO" b="1" dirty="0"/>
              <a:t>SELECT</a:t>
            </a:r>
            <a:r>
              <a:rPr lang="ro-RO" dirty="0"/>
              <a:t> încorporată în instrucțiunea </a:t>
            </a:r>
            <a:r>
              <a:rPr lang="ro-RO" b="1" dirty="0"/>
              <a:t>DECLARE CURSOR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ro-RO" dirty="0"/>
              <a:t>- se folosește o instrucțiune </a:t>
            </a:r>
            <a:r>
              <a:rPr lang="ro-RO" b="1" dirty="0"/>
              <a:t>FETCH</a:t>
            </a:r>
            <a:r>
              <a:rPr lang="ro-RO" dirty="0"/>
              <a:t> pentru a extrage înregistrări individual </a:t>
            </a:r>
            <a:r>
              <a:rPr lang="en-US" dirty="0"/>
              <a:t>	</a:t>
            </a:r>
            <a:r>
              <a:rPr lang="ro-RO" dirty="0"/>
              <a:t>din result</a:t>
            </a:r>
            <a:r>
              <a:rPr lang="en-US" dirty="0"/>
              <a:t>-</a:t>
            </a:r>
            <a:r>
              <a:rPr lang="ro-RO" dirty="0"/>
              <a:t>set (de obicei </a:t>
            </a:r>
            <a:r>
              <a:rPr lang="ro-RO" b="1" dirty="0"/>
              <a:t>FETCH</a:t>
            </a:r>
            <a:r>
              <a:rPr lang="ro-RO" dirty="0"/>
              <a:t> se execută de multe ori, cel puțin o dată </a:t>
            </a:r>
            <a:r>
              <a:rPr lang="en-US" dirty="0"/>
              <a:t>	</a:t>
            </a:r>
            <a:r>
              <a:rPr lang="ro-RO" dirty="0"/>
              <a:t>pentru </a:t>
            </a:r>
            <a:r>
              <a:rPr lang="en-US" dirty="0"/>
              <a:t>	</a:t>
            </a:r>
            <a:r>
              <a:rPr lang="ro-RO" dirty="0"/>
              <a:t>fiecare înregistrare din result</a:t>
            </a:r>
            <a:r>
              <a:rPr lang="en-US" dirty="0"/>
              <a:t>-</a:t>
            </a:r>
            <a:r>
              <a:rPr lang="ro-RO" dirty="0"/>
              <a:t>set)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1052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latin typeface="+mn-lt"/>
              </a:rPr>
              <a:t>Cursoare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3374" y="1452978"/>
            <a:ext cx="10373927" cy="42972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- </a:t>
            </a:r>
            <a:r>
              <a:rPr lang="ro-RO" dirty="0"/>
              <a:t>dacă este cazul, se folosește o instrucțiune </a:t>
            </a:r>
            <a:r>
              <a:rPr lang="ro-RO" b="1" dirty="0"/>
              <a:t>UPDATE</a:t>
            </a:r>
            <a:r>
              <a:rPr lang="ro-RO" dirty="0"/>
              <a:t> sau </a:t>
            </a:r>
            <a:r>
              <a:rPr lang="ro-RO" b="1" dirty="0"/>
              <a:t>DELETE</a:t>
            </a:r>
            <a:r>
              <a:rPr lang="ro-RO" dirty="0"/>
              <a:t> pentru a modifica înregistrarea (acest pas este opțional)</a:t>
            </a:r>
          </a:p>
          <a:p>
            <a:pPr marL="0" indent="0">
              <a:buNone/>
            </a:pPr>
            <a:r>
              <a:rPr lang="ro-RO" dirty="0"/>
              <a:t>- se folosește o instrucțiune </a:t>
            </a:r>
            <a:r>
              <a:rPr lang="ro-RO" b="1" dirty="0"/>
              <a:t>CLOSE </a:t>
            </a:r>
            <a:r>
              <a:rPr lang="ro-RO" dirty="0"/>
              <a:t>pentru a închide cursorul și a elibera unele resurse (cum ar fi result</a:t>
            </a:r>
            <a:r>
              <a:rPr lang="en-US" dirty="0"/>
              <a:t>-</a:t>
            </a:r>
            <a:r>
              <a:rPr lang="ro-RO" dirty="0"/>
              <a:t>set-ul cursorului și </a:t>
            </a:r>
            <a:r>
              <a:rPr lang="ro-RO" i="1" dirty="0"/>
              <a:t>lock</a:t>
            </a:r>
            <a:r>
              <a:rPr lang="ro-RO" dirty="0"/>
              <a:t>-urile de pe înregistrarea curentă)</a:t>
            </a:r>
          </a:p>
          <a:p>
            <a:pPr marL="0" indent="0">
              <a:buNone/>
            </a:pPr>
            <a:r>
              <a:rPr lang="ro-RO" dirty="0"/>
              <a:t>- cursorul este încă declarat, deci poate fi deschis din nou folosind o instrucțiune </a:t>
            </a:r>
            <a:r>
              <a:rPr lang="ro-RO" b="1" dirty="0"/>
              <a:t>OPEN</a:t>
            </a:r>
          </a:p>
          <a:p>
            <a:pPr marL="0" indent="0">
              <a:buNone/>
            </a:pPr>
            <a:r>
              <a:rPr lang="ro-RO" dirty="0"/>
              <a:t>- se folosește o instrucțiune </a:t>
            </a:r>
            <a:r>
              <a:rPr lang="ro-RO" b="1" dirty="0"/>
              <a:t>DEALLOCATE</a:t>
            </a:r>
            <a:r>
              <a:rPr lang="ro-RO" dirty="0"/>
              <a:t> pentru a elimina referința cursorului din sesiunea curentă iar acest proces eliberează toate resursele alocate cursorului, inclusiv numele său (după acest pas, pentru a reconstrui cursorul este nevoie ca acesta să fie declarat din nou)</a:t>
            </a:r>
          </a:p>
          <a:p>
            <a:pPr marL="0" indent="0">
              <a:buNone/>
            </a:pPr>
            <a:r>
              <a:rPr lang="ro-RO" dirty="0"/>
              <a:t>- cursoarele aflate în interiorul procedurilor stocate nu necesită închidere și eliminare, aceste instrucțiuni se execută automat când procedura stocată își încheie execuția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8437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latin typeface="+mn-lt"/>
              </a:rPr>
              <a:t>Cursoare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41120" y="1444101"/>
            <a:ext cx="10572713" cy="4310130"/>
          </a:xfrm>
        </p:spPr>
        <p:txBody>
          <a:bodyPr>
            <a:normAutofit/>
          </a:bodyPr>
          <a:lstStyle/>
          <a:p>
            <a:r>
              <a:rPr lang="ro-RO" dirty="0"/>
              <a:t>Cursoarele </a:t>
            </a:r>
            <a:r>
              <a:rPr lang="ro-RO" dirty="0" err="1"/>
              <a:t>Transact</a:t>
            </a:r>
            <a:r>
              <a:rPr lang="ro-RO" dirty="0"/>
              <a:t>-SQL sunt extrem de eficiente atunci când sunt încorporate în proceduri stocate și trigger-e deoarece totul este compilat într-un singur plan de execuție pe server, deci nu există trafic pe rețea asociat cu returnarea înregistrărilor</a:t>
            </a:r>
          </a:p>
          <a:p>
            <a:r>
              <a:rPr lang="ro-RO" dirty="0"/>
              <a:t>Operațiunea de a returna o înregistrare dintr-un cursor se numește </a:t>
            </a:r>
            <a:r>
              <a:rPr lang="en-US" b="1" dirty="0"/>
              <a:t>fetch</a:t>
            </a:r>
            <a:r>
              <a:rPr lang="ro-RO" dirty="0"/>
              <a:t>, iar în cazul cursoarelor Transact-SQL se folosește instrucțiunea </a:t>
            </a:r>
            <a:r>
              <a:rPr lang="ro-RO" b="1" dirty="0"/>
              <a:t>FETCH</a:t>
            </a:r>
            <a:r>
              <a:rPr lang="ro-RO" dirty="0"/>
              <a:t> pentru a returna înregistrări din result-set-ul unui cursor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1390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latin typeface="+mn-lt"/>
              </a:rPr>
              <a:t>Cursoare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41120" y="1479610"/>
            <a:ext cx="10617101" cy="4823536"/>
          </a:xfrm>
        </p:spPr>
        <p:txBody>
          <a:bodyPr>
            <a:normAutofit/>
          </a:bodyPr>
          <a:lstStyle/>
          <a:p>
            <a:r>
              <a:rPr lang="ro-RO" dirty="0"/>
              <a:t>Instrucțiunea </a:t>
            </a:r>
            <a:r>
              <a:rPr lang="ro-RO" b="1" dirty="0"/>
              <a:t>FETCH </a:t>
            </a:r>
            <a:r>
              <a:rPr lang="ro-RO" dirty="0"/>
              <a:t>suportă un număr de opțiuni care permit returnarea unor înregistrări specifice: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ro-RO" dirty="0"/>
              <a:t>- </a:t>
            </a:r>
            <a:r>
              <a:rPr lang="ro-RO" b="1" dirty="0"/>
              <a:t>FETCH FIRST </a:t>
            </a:r>
            <a:r>
              <a:rPr lang="ro-RO" dirty="0"/>
              <a:t>– returnează prima înregistrare din cursor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ro-RO" dirty="0"/>
              <a:t>- </a:t>
            </a:r>
            <a:r>
              <a:rPr lang="ro-RO" b="1" dirty="0"/>
              <a:t>FETCH NEXT </a:t>
            </a:r>
            <a:r>
              <a:rPr lang="ro-RO" dirty="0"/>
              <a:t>– returnează înregistrarea care urmează după ultima 	înregistrare returnată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ro-RO" dirty="0"/>
              <a:t>- </a:t>
            </a:r>
            <a:r>
              <a:rPr lang="ro-RO" b="1" dirty="0"/>
              <a:t>FETCH PRIOR </a:t>
            </a:r>
            <a:r>
              <a:rPr lang="ro-RO" dirty="0"/>
              <a:t>– returnează înregistrarea care se află înaintea ultimei 	înregistrări returnate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ro-RO" dirty="0"/>
              <a:t>- </a:t>
            </a:r>
            <a:r>
              <a:rPr lang="ro-RO" b="1" dirty="0"/>
              <a:t>FETCH LAST </a:t>
            </a:r>
            <a:r>
              <a:rPr lang="ro-RO" dirty="0"/>
              <a:t>– returnează ultima înregistrare din cursor</a:t>
            </a:r>
          </a:p>
          <a:p>
            <a:pPr marL="0" indent="0">
              <a:buNone/>
            </a:pPr>
            <a:r>
              <a:rPr lang="en-US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905068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latin typeface="+mn-lt"/>
              </a:rPr>
              <a:t>Cursoare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2251" y="1441174"/>
            <a:ext cx="10240763" cy="51516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o-RO" dirty="0"/>
              <a:t>	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ro-RO" dirty="0"/>
              <a:t>- </a:t>
            </a:r>
            <a:r>
              <a:rPr lang="ro-RO" b="1" dirty="0"/>
              <a:t>FETCH ABSOLUTE n </a:t>
            </a:r>
            <a:r>
              <a:rPr lang="ro-RO" dirty="0"/>
              <a:t>– returnează a n-a înregistrare de la începutul 	cursorului dacă n este un număr pozitiv, iar dacă n este un număr negativ </a:t>
            </a:r>
            <a:r>
              <a:rPr lang="en-US" dirty="0"/>
              <a:t>	</a:t>
            </a:r>
            <a:r>
              <a:rPr lang="ro-RO" dirty="0"/>
              <a:t>returnează înregistrarea care se află cu n înregistrări înaintea sfârșitului </a:t>
            </a:r>
            <a:r>
              <a:rPr lang="en-US" dirty="0"/>
              <a:t>	</a:t>
            </a:r>
            <a:r>
              <a:rPr lang="ro-RO" dirty="0"/>
              <a:t>cursorului (dacă n este 0, nicio înregistrare nu este returnată)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ro-RO" dirty="0"/>
              <a:t>- </a:t>
            </a:r>
            <a:r>
              <a:rPr lang="ro-RO" b="1" dirty="0"/>
              <a:t>FETCH RELATIVE n </a:t>
            </a:r>
            <a:r>
              <a:rPr lang="ro-RO" dirty="0"/>
              <a:t>– returnează a n-a înregistrare după ultima 	înregistrare returnată dacă n este pozitiv, iar dacă n este negativ returnează </a:t>
            </a:r>
            <a:r>
              <a:rPr lang="en-US" dirty="0"/>
              <a:t>	</a:t>
            </a:r>
            <a:r>
              <a:rPr lang="ro-RO" dirty="0"/>
              <a:t>înregistrarea care se află înainte cu n înregistrări față de ultima înregistrare </a:t>
            </a:r>
            <a:r>
              <a:rPr lang="en-US" dirty="0"/>
              <a:t>	</a:t>
            </a:r>
            <a:r>
              <a:rPr lang="ro-RO" dirty="0"/>
              <a:t>returnată (dacă n este 0, ultima înregistrare </a:t>
            </a:r>
            <a:r>
              <a:rPr lang="en-US" dirty="0" err="1"/>
              <a:t>returnat</a:t>
            </a:r>
            <a:r>
              <a:rPr lang="ro-RO" dirty="0"/>
              <a:t>ă va fi returnată din nou)</a:t>
            </a:r>
            <a:endParaRPr lang="en-US" dirty="0"/>
          </a:p>
          <a:p>
            <a:pPr marL="0" indent="0">
              <a:buNone/>
            </a:pPr>
            <a:endParaRPr lang="ro-RO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3811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393DD-C5BB-FD0E-9DDC-BBCBE154D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latin typeface="+mn-lt"/>
              </a:rPr>
              <a:t>Cursoare</a:t>
            </a:r>
            <a:endParaRPr lang="ro-R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746E69-DC5C-CD05-BB98-9A01316558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1119" y="1572768"/>
            <a:ext cx="10102197" cy="4142232"/>
          </a:xfrm>
        </p:spPr>
        <p:txBody>
          <a:bodyPr/>
          <a:lstStyle/>
          <a:p>
            <a:pPr marL="0" indent="0">
              <a:buNone/>
            </a:pPr>
            <a:r>
              <a:rPr lang="ro-RO" dirty="0"/>
              <a:t>Comportamentul unui cursor poate fi specificat în două moduri:</a:t>
            </a:r>
          </a:p>
          <a:p>
            <a:r>
              <a:rPr lang="ro-RO" dirty="0"/>
              <a:t>prin specificarea comportamentului cursoarelor folosind cuvintele cheie </a:t>
            </a:r>
            <a:r>
              <a:rPr lang="ro-RO" b="1" dirty="0"/>
              <a:t>SCROLL</a:t>
            </a:r>
            <a:r>
              <a:rPr lang="ro-RO" dirty="0"/>
              <a:t> și </a:t>
            </a:r>
            <a:r>
              <a:rPr lang="ro-RO" b="1" dirty="0"/>
              <a:t>INSENSITIVE</a:t>
            </a:r>
            <a:r>
              <a:rPr lang="ro-RO" dirty="0"/>
              <a:t> în instrucțiunea </a:t>
            </a:r>
            <a:r>
              <a:rPr lang="ro-RO" b="1" dirty="0"/>
              <a:t>DECLARE CURSOR </a:t>
            </a:r>
            <a:r>
              <a:rPr lang="ro-RO" dirty="0"/>
              <a:t>(SQL-92 standard)</a:t>
            </a:r>
            <a:endParaRPr lang="en-US" dirty="0"/>
          </a:p>
          <a:p>
            <a:r>
              <a:rPr lang="ro-RO" dirty="0"/>
              <a:t>prin specificarea comportamentului unui cursor cu ajutorul tipurilor de cursoare</a:t>
            </a:r>
            <a:endParaRPr lang="en-US" dirty="0"/>
          </a:p>
          <a:p>
            <a:pPr lvl="1"/>
            <a:r>
              <a:rPr lang="ro-RO" sz="2000" dirty="0"/>
              <a:t>de obicei API-uri</a:t>
            </a:r>
            <a:r>
              <a:rPr lang="en-US" sz="2000" dirty="0"/>
              <a:t>le</a:t>
            </a:r>
            <a:r>
              <a:rPr lang="ro-RO" sz="2000" dirty="0"/>
              <a:t> pentru baze de date definesc comportamentul cursoarelor împărțindu-le în </a:t>
            </a:r>
            <a:r>
              <a:rPr lang="en-US" sz="2000" dirty="0" err="1"/>
              <a:t>patru</a:t>
            </a:r>
            <a:r>
              <a:rPr lang="ro-RO" sz="2000" dirty="0"/>
              <a:t> tipuri de cursoare: </a:t>
            </a:r>
            <a:r>
              <a:rPr lang="ro-RO" sz="2000" b="1" dirty="0"/>
              <a:t>forward-only</a:t>
            </a:r>
            <a:r>
              <a:rPr lang="ro-RO" sz="2000" dirty="0"/>
              <a:t>, </a:t>
            </a:r>
            <a:r>
              <a:rPr lang="ro-RO" sz="2000" b="1" dirty="0"/>
              <a:t>static</a:t>
            </a:r>
            <a:r>
              <a:rPr lang="ro-RO" sz="2000" dirty="0"/>
              <a:t> (uneori denumit snapshot sau insensitive), </a:t>
            </a:r>
            <a:r>
              <a:rPr lang="ro-RO" sz="2000" b="1" dirty="0"/>
              <a:t>keyset-driven</a:t>
            </a:r>
            <a:r>
              <a:rPr lang="ro-RO" sz="2000" dirty="0"/>
              <a:t> și </a:t>
            </a:r>
            <a:r>
              <a:rPr lang="ro-RO" sz="2000" b="1" dirty="0"/>
              <a:t>dynamic</a:t>
            </a:r>
            <a:endParaRPr lang="en-US" sz="2000" b="1" dirty="0"/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0273636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latin typeface="+mn-lt"/>
              </a:rPr>
              <a:t>Cursoare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06741" y="1479612"/>
            <a:ext cx="10231884" cy="428437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	</a:t>
            </a:r>
            <a:endParaRPr lang="ro-RO" dirty="0"/>
          </a:p>
          <a:p>
            <a:r>
              <a:rPr lang="ro-RO" dirty="0"/>
              <a:t>Declararea unui cursor – sintaxa ISO</a:t>
            </a:r>
            <a:r>
              <a:rPr lang="en-US" dirty="0"/>
              <a:t>:</a:t>
            </a:r>
            <a:endParaRPr lang="ro-RO" dirty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latin typeface="Consolas" panose="020B0609020204030204" pitchFamily="49" charset="0"/>
              </a:rPr>
              <a:t>DECLARE </a:t>
            </a:r>
            <a:r>
              <a:rPr lang="en-US" dirty="0" err="1">
                <a:latin typeface="Consolas" panose="020B0609020204030204" pitchFamily="49" charset="0"/>
              </a:rPr>
              <a:t>cursor_name</a:t>
            </a:r>
            <a:r>
              <a:rPr lang="en-US" dirty="0">
                <a:latin typeface="Consolas" panose="020B0609020204030204" pitchFamily="49" charset="0"/>
              </a:rPr>
              <a:t> [ INSENSITIVE ] [ SCROLL ] CURSOR 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FOR </a:t>
            </a:r>
            <a:r>
              <a:rPr lang="en-US" dirty="0" err="1">
                <a:latin typeface="Consolas" panose="020B0609020204030204" pitchFamily="49" charset="0"/>
              </a:rPr>
              <a:t>select_statement</a:t>
            </a:r>
            <a:r>
              <a:rPr lang="en-US" dirty="0">
                <a:latin typeface="Consolas" panose="020B0609020204030204" pitchFamily="49" charset="0"/>
              </a:rPr>
              <a:t> 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[ FOR { READ ONLY | UPDATE [ OF </a:t>
            </a:r>
            <a:r>
              <a:rPr lang="en-US" dirty="0" err="1">
                <a:latin typeface="Consolas" panose="020B0609020204030204" pitchFamily="49" charset="0"/>
              </a:rPr>
              <a:t>column_name</a:t>
            </a:r>
            <a:r>
              <a:rPr lang="en-US" dirty="0">
                <a:latin typeface="Consolas" panose="020B0609020204030204" pitchFamily="49" charset="0"/>
              </a:rPr>
              <a:t> [ ,...n ] ] } ]</a:t>
            </a:r>
            <a:endParaRPr lang="ro-RO" dirty="0">
              <a:latin typeface="Consolas" panose="020B0609020204030204" pitchFamily="49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5534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latin typeface="+mn-lt"/>
              </a:rPr>
              <a:t>Cursoare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04395" y="1497366"/>
            <a:ext cx="8770571" cy="4219977"/>
          </a:xfrm>
        </p:spPr>
        <p:txBody>
          <a:bodyPr/>
          <a:lstStyle/>
          <a:p>
            <a:r>
              <a:rPr lang="ro-RO" dirty="0"/>
              <a:t>Declararea unui cursor – sintaxa </a:t>
            </a:r>
            <a:r>
              <a:rPr lang="ro-RO" dirty="0" err="1"/>
              <a:t>Transact</a:t>
            </a:r>
            <a:r>
              <a:rPr lang="ro-RO" dirty="0"/>
              <a:t>-SQL: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latin typeface="Consolas" panose="020B0609020204030204" pitchFamily="49" charset="0"/>
              </a:rPr>
              <a:t>DECLARE </a:t>
            </a:r>
            <a:r>
              <a:rPr lang="en-US" dirty="0" err="1">
                <a:latin typeface="Consolas" panose="020B0609020204030204" pitchFamily="49" charset="0"/>
              </a:rPr>
              <a:t>cursor_name</a:t>
            </a:r>
            <a:r>
              <a:rPr lang="en-US" dirty="0">
                <a:latin typeface="Consolas" panose="020B0609020204030204" pitchFamily="49" charset="0"/>
              </a:rPr>
              <a:t> CURSOR [ LOCAL | GLOBAL ] 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[ FORWARD_ONLY | SCROLL ] 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[ STATIC | KEYSET | DYNAMIC | FAST_FORWARD ] 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[ READ_ONLY | SCROLL_LOCKS | OPTIMISTIC ] 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[ TYPE_WARNING ] 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FOR </a:t>
            </a:r>
            <a:r>
              <a:rPr lang="en-US" dirty="0" err="1">
                <a:latin typeface="Consolas" panose="020B0609020204030204" pitchFamily="49" charset="0"/>
              </a:rPr>
              <a:t>select_statement</a:t>
            </a:r>
            <a:r>
              <a:rPr lang="en-US" dirty="0">
                <a:latin typeface="Consolas" panose="020B0609020204030204" pitchFamily="49" charset="0"/>
              </a:rPr>
              <a:t> 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[ FOR UPDATE [ OF </a:t>
            </a:r>
            <a:r>
              <a:rPr lang="en-US" dirty="0" err="1">
                <a:latin typeface="Consolas" panose="020B0609020204030204" pitchFamily="49" charset="0"/>
              </a:rPr>
              <a:t>column_name</a:t>
            </a:r>
            <a:r>
              <a:rPr lang="en-US" dirty="0">
                <a:latin typeface="Consolas" panose="020B0609020204030204" pitchFamily="49" charset="0"/>
              </a:rPr>
              <a:t> [ ,...n ] ] ]</a:t>
            </a:r>
          </a:p>
        </p:txBody>
      </p:sp>
    </p:spTree>
    <p:extLst>
      <p:ext uri="{BB962C8B-B14F-4D97-AF65-F5344CB8AC3E}">
        <p14:creationId xmlns:p14="http://schemas.microsoft.com/office/powerpoint/2010/main" val="1681342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latin typeface="+mn-lt"/>
              </a:rPr>
              <a:t>Cursoare - Exemplu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2251" y="1503202"/>
            <a:ext cx="10533726" cy="5354797"/>
          </a:xfrm>
        </p:spPr>
        <p:txBody>
          <a:bodyPr>
            <a:normAutofit fontScale="92500" lnSpcReduction="20000"/>
          </a:bodyPr>
          <a:lstStyle/>
          <a:p>
            <a:pPr marL="45720" indent="0">
              <a:buNone/>
            </a:pPr>
            <a:r>
              <a:rPr lang="sv-SE" sz="1800" dirty="0">
                <a:solidFill>
                  <a:srgbClr val="0000FF"/>
                </a:solidFill>
                <a:latin typeface="Consolas" panose="020B0609020204030204" pitchFamily="49" charset="0"/>
              </a:rPr>
              <a:t>DECLARE</a:t>
            </a:r>
            <a:r>
              <a:rPr lang="sv-SE" sz="1800" dirty="0">
                <a:solidFill>
                  <a:srgbClr val="000000"/>
                </a:solidFill>
                <a:latin typeface="Consolas" panose="020B0609020204030204" pitchFamily="49" charset="0"/>
              </a:rPr>
              <a:t> @nume </a:t>
            </a:r>
            <a:r>
              <a:rPr lang="sv-SE" sz="1800" dirty="0">
                <a:solidFill>
                  <a:srgbClr val="0000FF"/>
                </a:solidFill>
                <a:latin typeface="Consolas" panose="020B0609020204030204" pitchFamily="49" charset="0"/>
              </a:rPr>
              <a:t>VARCHAR</a:t>
            </a:r>
            <a:r>
              <a:rPr lang="sv-SE" sz="1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sv-SE" sz="1800" dirty="0">
                <a:solidFill>
                  <a:srgbClr val="000000"/>
                </a:solidFill>
                <a:latin typeface="Consolas" panose="020B0609020204030204" pitchFamily="49" charset="0"/>
              </a:rPr>
              <a:t>100</a:t>
            </a:r>
            <a:r>
              <a:rPr lang="sv-SE" sz="1800" dirty="0">
                <a:solidFill>
                  <a:srgbClr val="808080"/>
                </a:solidFill>
                <a:latin typeface="Consolas" panose="020B0609020204030204" pitchFamily="49" charset="0"/>
              </a:rPr>
              <a:t>),</a:t>
            </a:r>
            <a:r>
              <a:rPr lang="sv-SE" sz="1800" dirty="0">
                <a:solidFill>
                  <a:srgbClr val="000000"/>
                </a:solidFill>
                <a:latin typeface="Consolas" panose="020B0609020204030204" pitchFamily="49" charset="0"/>
              </a:rPr>
              <a:t> @email </a:t>
            </a:r>
            <a:r>
              <a:rPr lang="sv-SE" sz="1800" dirty="0">
                <a:solidFill>
                  <a:srgbClr val="0000FF"/>
                </a:solidFill>
                <a:latin typeface="Consolas" panose="020B0609020204030204" pitchFamily="49" charset="0"/>
              </a:rPr>
              <a:t>VARCHAR</a:t>
            </a:r>
            <a:r>
              <a:rPr lang="sv-SE" sz="1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sv-SE" sz="1800" dirty="0">
                <a:solidFill>
                  <a:srgbClr val="000000"/>
                </a:solidFill>
                <a:latin typeface="Consolas" panose="020B0609020204030204" pitchFamily="49" charset="0"/>
              </a:rPr>
              <a:t>100</a:t>
            </a:r>
            <a:r>
              <a:rPr lang="sv-SE" sz="1800" dirty="0">
                <a:solidFill>
                  <a:srgbClr val="808080"/>
                </a:solidFill>
                <a:latin typeface="Consolas" panose="020B0609020204030204" pitchFamily="49" charset="0"/>
              </a:rPr>
              <a:t>),</a:t>
            </a:r>
            <a:r>
              <a:rPr lang="sv-SE" sz="1800" dirty="0">
                <a:solidFill>
                  <a:srgbClr val="000000"/>
                </a:solidFill>
                <a:latin typeface="Consolas" panose="020B0609020204030204" pitchFamily="49" charset="0"/>
              </a:rPr>
              <a:t> @categorie </a:t>
            </a:r>
            <a:r>
              <a:rPr lang="sv-SE" sz="1800" dirty="0">
                <a:solidFill>
                  <a:srgbClr val="0000FF"/>
                </a:solidFill>
                <a:latin typeface="Consolas" panose="020B0609020204030204" pitchFamily="49" charset="0"/>
              </a:rPr>
              <a:t>VARCHAR</a:t>
            </a:r>
            <a:r>
              <a:rPr lang="sv-SE" sz="1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sv-SE" sz="1800" dirty="0">
                <a:solidFill>
                  <a:srgbClr val="000000"/>
                </a:solidFill>
                <a:latin typeface="Consolas" panose="020B0609020204030204" pitchFamily="49" charset="0"/>
              </a:rPr>
              <a:t>70</a:t>
            </a:r>
            <a:r>
              <a:rPr lang="sv-SE" sz="1800" dirty="0">
                <a:solidFill>
                  <a:srgbClr val="808080"/>
                </a:solidFill>
                <a:latin typeface="Consolas" panose="020B0609020204030204" pitchFamily="49" charset="0"/>
              </a:rPr>
              <a:t>);</a:t>
            </a:r>
            <a:endParaRPr lang="sv-SE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DECLARE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cursorvizitatori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CURSOR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FAST_FORWARD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pPr marL="4572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V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nume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V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email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nume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Vizitatori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V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INNER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JOIN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Categorii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C </a:t>
            </a:r>
            <a:r>
              <a:rPr lang="fi-FI" sz="1800" dirty="0">
                <a:solidFill>
                  <a:srgbClr val="0000FF"/>
                </a:solidFill>
                <a:latin typeface="Consolas" panose="020B0609020204030204" pitchFamily="49" charset="0"/>
              </a:rPr>
              <a:t>ON</a:t>
            </a:r>
            <a:r>
              <a:rPr lang="fi-FI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pPr marL="45720" indent="0">
              <a:buNone/>
            </a:pPr>
            <a:r>
              <a:rPr lang="fi-FI" sz="1800" dirty="0">
                <a:solidFill>
                  <a:srgbClr val="000000"/>
                </a:solidFill>
                <a:latin typeface="Consolas" panose="020B0609020204030204" pitchFamily="49" charset="0"/>
              </a:rPr>
              <a:t>V</a:t>
            </a:r>
            <a:r>
              <a:rPr lang="fi-FI" sz="18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fi-FI" sz="1800" dirty="0">
                <a:solidFill>
                  <a:srgbClr val="000000"/>
                </a:solidFill>
                <a:latin typeface="Consolas" panose="020B0609020204030204" pitchFamily="49" charset="0"/>
              </a:rPr>
              <a:t>cod_c</a:t>
            </a:r>
            <a:r>
              <a:rPr lang="fi-FI" sz="18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fi-FI" sz="1800" dirty="0">
                <a:solidFill>
                  <a:srgbClr val="000000"/>
                </a:solidFill>
                <a:latin typeface="Consolas" panose="020B0609020204030204" pitchFamily="49" charset="0"/>
              </a:rPr>
              <a:t>C</a:t>
            </a:r>
            <a:r>
              <a:rPr lang="fi-FI" sz="18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fi-FI" sz="1800" dirty="0">
                <a:solidFill>
                  <a:srgbClr val="000000"/>
                </a:solidFill>
                <a:latin typeface="Consolas" panose="020B0609020204030204" pitchFamily="49" charset="0"/>
              </a:rPr>
              <a:t>cod_c</a:t>
            </a:r>
            <a:r>
              <a:rPr lang="fi-FI" sz="18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fi-FI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OPEN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cursorvizitatori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ro-RO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FETCH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NEXT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cursorvizitatori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INTO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@nume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@email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@categorie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WHILE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o-RO" sz="1800" dirty="0">
                <a:solidFill>
                  <a:srgbClr val="FF00FF"/>
                </a:solidFill>
                <a:latin typeface="Consolas" panose="020B0609020204030204" pitchFamily="49" charset="0"/>
              </a:rPr>
              <a:t>@@FETCH_STATUS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0 </a:t>
            </a:r>
          </a:p>
          <a:p>
            <a:pPr marL="45720" indent="0">
              <a:buNone/>
            </a:pP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BEGIN</a:t>
            </a:r>
            <a:endParaRPr lang="ro-RO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PRINT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o-RO" sz="1800" dirty="0">
                <a:solidFill>
                  <a:srgbClr val="FF0000"/>
                </a:solidFill>
                <a:latin typeface="Consolas" panose="020B0609020204030204" pitchFamily="49" charset="0"/>
              </a:rPr>
              <a:t>'Vizitatorul '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+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@nume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+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o-RO" sz="1800" dirty="0">
                <a:solidFill>
                  <a:srgbClr val="FF0000"/>
                </a:solidFill>
                <a:latin typeface="Consolas" panose="020B0609020204030204" pitchFamily="49" charset="0"/>
              </a:rPr>
              <a:t>', '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+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@email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+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o-RO" sz="1800" dirty="0">
                <a:solidFill>
                  <a:srgbClr val="FF0000"/>
                </a:solidFill>
                <a:latin typeface="Consolas" panose="020B0609020204030204" pitchFamily="49" charset="0"/>
              </a:rPr>
              <a:t>' face parte din categoria '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+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@categorie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ro-RO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FETCH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NEXT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cursorvizitatori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INTO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@nume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@email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@categorie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END</a:t>
            </a:r>
            <a:endParaRPr lang="ro-RO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CLOSE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cursorvizitatori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ro-RO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DEALLOCATE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cursorvizitatori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8894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238B2-9091-DB7E-0F83-5B1E25BA9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Exerciții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5F8F2F-84B6-23E0-609F-8EE3D85230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1119" y="1572767"/>
            <a:ext cx="10379825" cy="4855741"/>
          </a:xfrm>
        </p:spPr>
        <p:txBody>
          <a:bodyPr/>
          <a:lstStyle/>
          <a:p>
            <a:r>
              <a:rPr lang="ro-RO" sz="2400" dirty="0"/>
              <a:t>1) Creați un trigger care împiedică execuția operațiilor de ștergere din tabelul </a:t>
            </a:r>
            <a:r>
              <a:rPr lang="ro-RO" sz="2400" i="1" dirty="0"/>
              <a:t>Categorii</a:t>
            </a:r>
            <a:r>
              <a:rPr lang="ro-RO" sz="2400" dirty="0"/>
              <a:t> și afișează un mesaj corespunzător. </a:t>
            </a:r>
          </a:p>
          <a:p>
            <a:r>
              <a:rPr lang="ro-RO" sz="2400" dirty="0"/>
              <a:t>2) Pentru baza de date creată în primul laborator, găsiți un scenariu de utilizare a unui trigger DML pentru operația de insert, update sau delete. Creați și testați acest trigger.  </a:t>
            </a:r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889293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5EFC8-5587-A537-CE04-ADE61EDFD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latin typeface="+mn-lt"/>
              </a:rPr>
              <a:t>Bibliografie</a:t>
            </a:r>
            <a:endParaRPr lang="ro-R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025BD9-1C39-8DA8-3C42-36FEADFC0B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1120" y="1470734"/>
            <a:ext cx="10590468" cy="4237608"/>
          </a:xfrm>
        </p:spPr>
        <p:txBody>
          <a:bodyPr>
            <a:normAutofit lnSpcReduction="10000"/>
          </a:bodyPr>
          <a:lstStyle/>
          <a:p>
            <a:r>
              <a:rPr lang="ro-RO" dirty="0">
                <a:hlinkClick r:id="rId2"/>
              </a:rPr>
              <a:t>https://learn.microsoft.com/en-us/sql/t-sql/statements/create-function-transact-sql?view=sql-server-ver16</a:t>
            </a:r>
            <a:endParaRPr lang="ro-RO" dirty="0"/>
          </a:p>
          <a:p>
            <a:r>
              <a:rPr lang="ro-RO" dirty="0">
                <a:hlinkClick r:id="rId3"/>
              </a:rPr>
              <a:t>https://learn.microsoft.com/en-us/sql/t-sql/statements/create-view-transact-sql?view=sql-server-ver16</a:t>
            </a:r>
            <a:endParaRPr lang="ro-RO" dirty="0"/>
          </a:p>
          <a:p>
            <a:r>
              <a:rPr lang="ro-RO" dirty="0">
                <a:hlinkClick r:id="rId4"/>
              </a:rPr>
              <a:t>https://learn.microsoft.com/en-us/sql/t-sql/queries/output-clause-transact-sql?view=sql-server-ver16</a:t>
            </a:r>
            <a:endParaRPr lang="ro-RO" dirty="0"/>
          </a:p>
          <a:p>
            <a:r>
              <a:rPr lang="ro-RO" dirty="0">
                <a:hlinkClick r:id="rId5"/>
              </a:rPr>
              <a:t>https://learn.microsoft.com/en-us/sql/t-sql/statements/create-trigger-transact-sql?view=sql-server-ver16</a:t>
            </a:r>
            <a:endParaRPr lang="ro-RO" dirty="0"/>
          </a:p>
          <a:p>
            <a:r>
              <a:rPr lang="ro-RO" dirty="0">
                <a:hlinkClick r:id="rId6"/>
              </a:rPr>
              <a:t>https://learn.microsoft.com/en-us/sql/relational-databases/cursors?view=sql-server-ver16</a:t>
            </a:r>
            <a:endParaRPr lang="ro-RO" dirty="0"/>
          </a:p>
          <a:p>
            <a:r>
              <a:rPr lang="ro-RO" dirty="0">
                <a:hlinkClick r:id="rId7"/>
              </a:rPr>
              <a:t>https://learn.microsoft.com/en-us/sql/relational-databases/system-catalog-views/catalog-views-transact-sql?view=sql-server-ver16</a:t>
            </a:r>
            <a:endParaRPr lang="ro-RO" dirty="0"/>
          </a:p>
          <a:p>
            <a:endParaRPr lang="ro-RO" dirty="0"/>
          </a:p>
          <a:p>
            <a:endParaRPr lang="ro-RO" dirty="0"/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610675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cean 16x9">
  <a:themeElements>
    <a:clrScheme name="Ocean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4557A1"/>
      </a:accent1>
      <a:accent2>
        <a:srgbClr val="3691AA"/>
      </a:accent2>
      <a:accent3>
        <a:srgbClr val="893768"/>
      </a:accent3>
      <a:accent4>
        <a:srgbClr val="4E8542"/>
      </a:accent4>
      <a:accent5>
        <a:srgbClr val="A25A12"/>
      </a:accent5>
      <a:accent6>
        <a:srgbClr val="C19859"/>
      </a:accent6>
      <a:hlink>
        <a:srgbClr val="6B9F25"/>
      </a:hlink>
      <a:folHlink>
        <a:srgbClr val="B26B02"/>
      </a:folHlink>
    </a:clrScheme>
    <a:fontScheme name="Georgia">
      <a:majorFont>
        <a:latin typeface="Georg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16308757_TF02895256" id="{3618AF2C-E955-4D87-AA77-A632EB049885}" vid="{2F1D0CFD-78FA-41B2-9059-A58E1373FFEB}"/>
    </a:ext>
  </a:extLst>
</a:theme>
</file>

<file path=ppt/theme/theme2.xml><?xml version="1.0" encoding="utf-8"?>
<a:theme xmlns:a="http://schemas.openxmlformats.org/drawingml/2006/main" name="Temă Office">
  <a:themeElements>
    <a:clrScheme name="Ocean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4557A1"/>
      </a:accent1>
      <a:accent2>
        <a:srgbClr val="3691AA"/>
      </a:accent2>
      <a:accent3>
        <a:srgbClr val="893768"/>
      </a:accent3>
      <a:accent4>
        <a:srgbClr val="4E8542"/>
      </a:accent4>
      <a:accent5>
        <a:srgbClr val="A25A12"/>
      </a:accent5>
      <a:accent6>
        <a:srgbClr val="C19859"/>
      </a:accent6>
      <a:hlink>
        <a:srgbClr val="6B9F25"/>
      </a:hlink>
      <a:folHlink>
        <a:srgbClr val="B26B02"/>
      </a:folHlink>
    </a:clrScheme>
    <a:fontScheme name="Georgia">
      <a:majorFont>
        <a:latin typeface="Georg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ă Office">
  <a:themeElements>
    <a:clrScheme name="Ocean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4557A1"/>
      </a:accent1>
      <a:accent2>
        <a:srgbClr val="3691AA"/>
      </a:accent2>
      <a:accent3>
        <a:srgbClr val="893768"/>
      </a:accent3>
      <a:accent4>
        <a:srgbClr val="4E8542"/>
      </a:accent4>
      <a:accent5>
        <a:srgbClr val="A25A12"/>
      </a:accent5>
      <a:accent6>
        <a:srgbClr val="C19859"/>
      </a:accent6>
      <a:hlink>
        <a:srgbClr val="6B9F25"/>
      </a:hlink>
      <a:folHlink>
        <a:srgbClr val="B26B02"/>
      </a:folHlink>
    </a:clrScheme>
    <a:fontScheme name="Georgia">
      <a:majorFont>
        <a:latin typeface="Georg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BA0A4D47DC33945966F2D7F935CCF0E" ma:contentTypeVersion="3" ma:contentTypeDescription="Create a new document." ma:contentTypeScope="" ma:versionID="8417dc87c437c56fa398544c3f716203">
  <xsd:schema xmlns:xsd="http://www.w3.org/2001/XMLSchema" xmlns:xs="http://www.w3.org/2001/XMLSchema" xmlns:p="http://schemas.microsoft.com/office/2006/metadata/properties" xmlns:ns2="56f16326-9339-4528-a9d2-6879748393ea" targetNamespace="http://schemas.microsoft.com/office/2006/metadata/properties" ma:root="true" ma:fieldsID="e888f6e663665fde19c21ba709d3f24a" ns2:_="">
    <xsd:import namespace="56f16326-9339-4528-a9d2-6879748393e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6f16326-9339-4528-a9d2-6879748393e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2022352-C611-4E01-A261-8FCC05A7749F}"/>
</file>

<file path=customXml/itemProps2.xml><?xml version="1.0" encoding="utf-8"?>
<ds:datastoreItem xmlns:ds="http://schemas.openxmlformats.org/officeDocument/2006/customXml" ds:itemID="{C6F87020-3C5A-4B31-8547-EA8E4A60E3AE}"/>
</file>

<file path=customXml/itemProps3.xml><?xml version="1.0" encoding="utf-8"?>
<ds:datastoreItem xmlns:ds="http://schemas.openxmlformats.org/officeDocument/2006/customXml" ds:itemID="{61B81BF8-955F-4D1E-9CBC-72554D57DEB4}"/>
</file>

<file path=docProps/app.xml><?xml version="1.0" encoding="utf-8"?>
<Properties xmlns="http://schemas.openxmlformats.org/officeDocument/2006/extended-properties" xmlns:vt="http://schemas.openxmlformats.org/officeDocument/2006/docPropsVTypes">
  <Template>Prezentare cu pictură Ocean (ecran lat)</Template>
  <TotalTime>1890</TotalTime>
  <Words>3574</Words>
  <Application>Microsoft Office PowerPoint</Application>
  <PresentationFormat>Widescreen</PresentationFormat>
  <Paragraphs>325</Paragraphs>
  <Slides>43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7" baseType="lpstr">
      <vt:lpstr>Arial</vt:lpstr>
      <vt:lpstr>Consolas</vt:lpstr>
      <vt:lpstr>Georgia</vt:lpstr>
      <vt:lpstr>Ocean 16x9</vt:lpstr>
      <vt:lpstr>Funcții definite de utilizator. View. Trigger. Cursoare</vt:lpstr>
      <vt:lpstr>Funcții definite de către utilizator</vt:lpstr>
      <vt:lpstr>Funcții definite de către utilizator</vt:lpstr>
      <vt:lpstr>Funcții definite de către utilizator</vt:lpstr>
      <vt:lpstr>Funcții definite de către utilizator</vt:lpstr>
      <vt:lpstr>Funcții definite de către utilizator</vt:lpstr>
      <vt:lpstr>Funcții definite de către utilizator</vt:lpstr>
      <vt:lpstr>Funcții definite de către utilizator</vt:lpstr>
      <vt:lpstr>Funcții definite de către utilizator</vt:lpstr>
      <vt:lpstr>Funcții definite de către utilizator</vt:lpstr>
      <vt:lpstr>Exerciții</vt:lpstr>
      <vt:lpstr>View</vt:lpstr>
      <vt:lpstr>View</vt:lpstr>
      <vt:lpstr>View</vt:lpstr>
      <vt:lpstr>View</vt:lpstr>
      <vt:lpstr>View</vt:lpstr>
      <vt:lpstr>View</vt:lpstr>
      <vt:lpstr>View</vt:lpstr>
      <vt:lpstr>Exerciții</vt:lpstr>
      <vt:lpstr>Tabele sistem</vt:lpstr>
      <vt:lpstr>Tabele sistem</vt:lpstr>
      <vt:lpstr>Trigger</vt:lpstr>
      <vt:lpstr>Trigger DML</vt:lpstr>
      <vt:lpstr>Trigger</vt:lpstr>
      <vt:lpstr>Trigger pentru INSERT - Exemplu</vt:lpstr>
      <vt:lpstr>Trigger pentru DELETE - Exemplu</vt:lpstr>
      <vt:lpstr>Trigger pentru DELETE - Exemplu</vt:lpstr>
      <vt:lpstr>Trigger pentru UPDATE - Exemplu</vt:lpstr>
      <vt:lpstr>Trigger pentru UPDATE - Exemplu</vt:lpstr>
      <vt:lpstr>Clauza OUTPUT</vt:lpstr>
      <vt:lpstr>Cursoare</vt:lpstr>
      <vt:lpstr>Cursoare</vt:lpstr>
      <vt:lpstr>Cursoare</vt:lpstr>
      <vt:lpstr>Cursoare</vt:lpstr>
      <vt:lpstr>Cursoare</vt:lpstr>
      <vt:lpstr>Cursoare</vt:lpstr>
      <vt:lpstr>Cursoare</vt:lpstr>
      <vt:lpstr>Cursoare</vt:lpstr>
      <vt:lpstr>Cursoare</vt:lpstr>
      <vt:lpstr>Cursoare</vt:lpstr>
      <vt:lpstr>Cursoare - Exemplu</vt:lpstr>
      <vt:lpstr>Exerciții</vt:lpstr>
      <vt:lpstr>Bibliografie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Funcții definite de utilizator. View. Trigger. Cursoare</dc:title>
  <dc:creator>Camelia Andor</dc:creator>
  <cp:lastModifiedBy>Camelia - Florina Andor</cp:lastModifiedBy>
  <cp:revision>116</cp:revision>
  <dcterms:created xsi:type="dcterms:W3CDTF">2023-10-15T20:14:32Z</dcterms:created>
  <dcterms:modified xsi:type="dcterms:W3CDTF">2025-11-10T20:53:47Z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0x010100EBA0A4D47DC33945966F2D7F935CCF0E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